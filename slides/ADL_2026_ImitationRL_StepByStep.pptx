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138" y="562928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138" y="6321742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wu-mark-whit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246995" y="4390072"/>
            <a:ext cx="1314450" cy="131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1026" y="2291060"/>
            <a:ext cx="8639473" cy="10102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Learning to Push: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Imitation Learning and RL on PushT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138" y="3990975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Department of Mechanical Engineering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8" y="4345186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2026.10.07 (Wed)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8" y="4699397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Joo Yong Sim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8" y="5715000"/>
            <a:ext cx="9525000" cy="269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Step-by-step edition: from basic physics, learning and RL to the full PushT pipeline</a:t>
            </a:r>
            <a:endParaRPr lang="en-US" sz="1575" dirty="0">
              <a:solidFill>
                <a:srgbClr val="FFFFFF"/>
              </a:solidFill>
              <a:latin typeface="Arial"/>
              <a:ea typeface="Malgun 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485900"/>
            <a:ext cx="1828800" cy="1104900"/>
          </a:xfrm>
          <a:prstGeom prst="roundRect">
            <a:avLst>
              <a:gd name="adj" fmla="val 12068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6550" y="1485900"/>
            <a:ext cx="1828800" cy="1104900"/>
          </a:xfrm>
          <a:prstGeom prst="roundRect">
            <a:avLst>
              <a:gd name="adj" fmla="val 12068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1600" y="1485900"/>
            <a:ext cx="1828800" cy="1104900"/>
          </a:xfrm>
          <a:prstGeom prst="roundRect">
            <a:avLst>
              <a:gd name="adj" fmla="val 12068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6650" y="1485900"/>
            <a:ext cx="1828800" cy="1104900"/>
          </a:xfrm>
          <a:prstGeom prst="roundRect">
            <a:avLst>
              <a:gd name="adj" fmla="val 12068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91700" y="1485900"/>
            <a:ext cx="1828800" cy="1104900"/>
          </a:xfrm>
          <a:prstGeom prst="roundRect">
            <a:avLst>
              <a:gd name="adj" fmla="val 12068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9350" y="20002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4400" y="20002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9450" y="20002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4500" y="20002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238054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3238054"/>
            <a:ext cx="5467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1025" y="3238054"/>
            <a:ext cx="3771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651945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3675" y="3651945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1025" y="3651945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4051548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33675" y="4051548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01025" y="4051548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451152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33675" y="4451152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1025" y="4451152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" y="4850755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33675" y="4850755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01025" y="4850755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676525" y="19145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981575" y="19145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286625" y="19145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591675" y="19145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Five parts — each one uses only what the parts before it built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1626245"/>
            <a:ext cx="15811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Basic 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8402" y="2216795"/>
            <a:ext cx="91499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Steps 1–7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09900" y="1626245"/>
            <a:ext cx="15811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PushT simulator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14836" y="2216795"/>
            <a:ext cx="115207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contact code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14950" y="1626245"/>
            <a:ext cx="15811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Learning from demos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89538" y="2216795"/>
            <a:ext cx="101277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Steps 8–11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57679" y="1759595"/>
            <a:ext cx="10865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Basic RL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830592" y="2083445"/>
            <a:ext cx="1140916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Steps 12–18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7412" y="1759595"/>
            <a:ext cx="9172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Results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932343" y="2083445"/>
            <a:ext cx="1547366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paired evaluation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075" y="2943225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33675" y="2943225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Key question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01025" y="2943225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Tutorial file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3333304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Basic physics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33675" y="3333304"/>
            <a:ext cx="5334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How does a computer move a rigid body and resolve a collision?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01025" y="3333304"/>
            <a:ext cx="36385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pusht_mini_sim.py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9075" y="373767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 simulator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33675" y="3737670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Which line of code is which equation?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01025" y="3737670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pusht_keyboard_sim.py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9075" y="4137273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Learning from demos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733675" y="4137273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How does a network copy a demonstrator?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01025" y="4137273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pusht_imitation.py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075" y="4536877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Basic RL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33675" y="4536877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How does an agent improve from reward alone?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01025" y="4536877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pusht_rl.py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4936480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33675" y="4936480"/>
            <a:ext cx="5334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Which policy works best, and why?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201025" y="4936480"/>
            <a:ext cx="3638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pusht_rl_eval.py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Prerequisites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F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impulse–momentum from the dynamics lecture, vectors and matrices, basic Python.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0" name="Rectangle 5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Roadmap: From Newton's Law to PPO</a:t>
            </a:r>
          </a:p>
        </p:txBody>
      </p:sp>
      <p:pic>
        <p:nvPicPr>
          <p:cNvPr id="62" name="Picture 6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PushT simulator from the dynamics lecture becomes a training ground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5479" y="1719114"/>
            <a:ext cx="9599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 · friction · walls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62660" y="1719114"/>
            <a:ext cx="1932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09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human or scripted expert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3766" y="1719114"/>
            <a:ext cx="105801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Imitation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46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MLP-BC · Diffusion Policy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38556" y="1835795"/>
            <a:ext cx="17158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RL fine-tuning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14284" y="2159645"/>
            <a:ext cx="196438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PPO, started from BC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320040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questions answered with experiments in this lecture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527971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Q1 — Data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how many demonstrations do we need to collect?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967609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Q2 —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which network should learn from them — a regressor or a generative model?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4407247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Q3 — Beyond imitation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can reinforcement learning do better, from scratch or starting from the imitation policy?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Pipeline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demonstrations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{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dataset →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closed-loop success rate on unseen tasks</a:t>
                </a:r>
                <a:endParaRPr lang="en-US" sz="1800" dirty="0">
                  <a:solidFill>
                    <a:srgbClr val="FF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Goals: From Physics to Policy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81175" y="1790254"/>
            <a:ext cx="3771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075" y="2211586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1175" y="2211586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85630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1175" y="2856309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3805238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rando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428750"/>
            <a:ext cx="6000750" cy="2698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seed fixes the initial T pose, the goal pose and the pusher position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075" y="1495425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1175" y="1495425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Distribution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885504"/>
            <a:ext cx="14287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 start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781175" y="1885504"/>
                <a:ext cx="36385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2297311"/>
            <a:ext cx="1428750" cy="4923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781175" y="2297311"/>
                <a:ext cx="3657600" cy="49232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same; redrawn if too easy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219075" y="2942034"/>
            <a:ext cx="14287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781175" y="2942034"/>
                <a:ext cx="36385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uniform in the arena,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≥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1.6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the 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219075" y="3477667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Success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47675" y="3910012"/>
                <a:ext cx="5105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0.15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and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4489698"/>
            <a:ext cx="5353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demos use 100000+ (expert) and 200000+ (human);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evaluation uses 0, 1, 2, …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tasks never seen in training.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92813" y="4184600"/>
            <a:ext cx="4264223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Blue: T start · green dashed: goal · orange: pusher (seeds 0–7)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The PushT Task: Random Start, Random Goal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24919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533352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10525" y="2533352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82125" y="2533352"/>
            <a:ext cx="2590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295468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10525" y="2954685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2125" y="2954685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3361730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525" y="3361730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82125" y="3361730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25" y="3761333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525" y="3761333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82125" y="3761333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policy moves the pusher's target at 10 Hz; the physics runs 20 substeps in between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State (8 numbers — what a human sees)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56321"/>
                <a:ext cx="5715000" cy="70767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pusher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θ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goal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19075" y="2597348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3029694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 pusher target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219075" y="3601194"/>
            <a:ext cx="5734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PD controller pulls the pusher toward the target; contact with the T is the impulse model of the dynamics lecture.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One episode, saved to .npz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257925" y="1756321"/>
                <a:ext cx="5715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257925" y="2238524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Array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0525" y="2238524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Shape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82125" y="2238524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Meaning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7925" y="2628602"/>
            <a:ext cx="1619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10525" y="2628602"/>
            <a:ext cx="1238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8)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382125" y="2628602"/>
                <a:ext cx="24574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257925" y="304041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actions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10525" y="3040410"/>
            <a:ext cx="1238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2)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382125" y="3040410"/>
                <a:ext cx="24574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target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257925" y="344745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episode_ends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10525" y="344745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82125" y="3447455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where each episode 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3847058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10525" y="3847058"/>
            <a:ext cx="1238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82125" y="3847058"/>
            <a:ext cx="2457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re-creates the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successful episodes are saved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imitating a failure teaches failure (filtered behavior cloning). Same format as the Diffusion Policy / LeRobot PushT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Control Loop and Demonstration Data</a:t>
            </a:r>
          </a:p>
        </p:txBody>
      </p:sp>
      <p:pic>
        <p:nvPicPr>
          <p:cNvPr id="41" name="Picture 4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698998"/>
            <a:ext cx="38100" cy="115341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64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 computer cannot integrate continuously — it advances the state in small steps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142875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Continuous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5143500" cy="5389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371427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Discrete: semi-implicit Euler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675" y="2803773"/>
                <a:ext cx="4914900" cy="55334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∑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433316"/>
                <a:ext cx="4914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4004816"/>
            <a:ext cx="51625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Semi-implicit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position uses the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velocity — stable for springs and PD controllers where explicit Euler gains energy.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7875" y="1428750"/>
            <a:ext cx="6115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Generic loop · pusht_keyboard_sim.py : substep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875" y="1687711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 particle under a force, step by step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7875" y="1888480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dt = 0.005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7875" y="2089249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k in range(n_steps):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7875" y="229001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 = force(x, v) / m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Newton: a = F / m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7875" y="249078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 = v + a * dt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velocity first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7875" y="2691557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x = x + v * dt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then position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7875" y="3093095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the same two lines for the PushT pusher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7875" y="3293864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P.vel += acc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7875" y="3494633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P.pos += P.vel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Step size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PushT uses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ms. Smaller is more accurate but slower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accuracy vs. speed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matters again when RL needs millions of steps.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Rectangle 2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 · Newton's Law in Discrete Time</a:t>
            </a:r>
          </a:p>
        </p:txBody>
      </p:sp>
      <p:pic>
        <p:nvPicPr>
          <p:cNvPr id="24" name="Picture 2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413075"/>
            <a:ext cx="38100" cy="54887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4483298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9925" y="4483298"/>
            <a:ext cx="2343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904631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9925" y="4904631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76925" y="1428750"/>
            <a:ext cx="38100" cy="130090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floor removes momentum — model it as a force proportional to velocity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07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Viscous floor friction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1756321"/>
                <a:ext cx="5334000" cy="5389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2371427"/>
                <a:ext cx="5334000" cy="60930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slide distance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∞</m:t>
                          </m:r>
                        </m:sup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nary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3056930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Exact discrete update — stable for any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Δ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t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3517850"/>
                <a:ext cx="51054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Euler: 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4181029"/>
                <a:ext cx="2857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m/s,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3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 </m:t>
                    </m:r>
                    <m:sSup>
                      <m:e>
                        <m:r>
                          <m:rPr>
                            <m:nor/>
                            <m:sty m:val="p"/>
                          </m:rPr>
                          <a:rPr lang="en-US" sz="1560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3209925" y="4181029"/>
            <a:ext cx="220980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Value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4578548"/>
            <a:ext cx="2857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95 % of speed lost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209925" y="4578548"/>
                <a:ext cx="22098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ln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20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1.0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19075" y="4990356"/>
            <a:ext cx="2857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total slide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3209925" y="4990356"/>
                <a:ext cx="220980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0.33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6048375" y="1428750"/>
            <a:ext cx="5924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substep (step 2)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48375" y="1687711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self.linear_damping = 3.0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c_v [1/s]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48375" y="1888480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self.angular_damping = 3.0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c_w [1/s]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48375" y="229001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T.vel   *= math.exp(-self.linear_damping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48375" y="249078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T.omega *= math.exp(-self.angular_damping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Two friction models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floor uses this simple viscous law; the pusher–T contact uses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Coulomb friction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|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≤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(later).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2 · Friction Slows a Sliding Body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6286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6425" y="1428750"/>
            <a:ext cx="38100" cy="350936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Three numbers place the T,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three more describe its motion,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1428750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Equations of motion (plane)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861096"/>
                <a:ext cx="4914900" cy="4191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537371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Where is a body point?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864941"/>
                <a:ext cx="514350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local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θ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θ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sin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θ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cos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θ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3569791"/>
            <a:ext cx="5143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Rotation is integrated like translation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97362"/>
                <a:ext cx="5143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857875" y="1428750"/>
            <a:ext cx="6115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· pusht_imitation.py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57875" y="1687711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@dataclass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57875" y="1888480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class TBody: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7875" y="2089249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pos: np.ndarray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x_G, y_G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7875" y="229001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angle: float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theta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57875" y="249078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vel: np.ndarray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v_G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7875" y="2691557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omega: float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7875" y="2892326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mass: float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7875" y="3093095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inertia: float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I_G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857875" y="3293864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vertices: np.ndarray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p_local, COM at 0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57875" y="3695402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rotation_matrix(theta):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57875" y="3896171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c, s = np.cos(theta), np.sin(theta)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7875" y="4096941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np.array([[c, -s], [s, c]])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57875" y="4498479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T_outline(pos, angle, vertices):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7875" y="469924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pos + vertices @ rotation_matrix(angle).T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 PushT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apart from floor damping, every push reaches the T as an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impulse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change by jumps (Steps 5–6).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Rectangle 2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3 · A Rigid Body: Translation + Rotation</a:t>
            </a:r>
          </a:p>
        </p:txBody>
      </p:sp>
      <p:pic>
        <p:nvPicPr>
          <p:cNvPr id="29" name="Picture 2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Every point shares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plus a rotational part perpendicular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5105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2105025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In 2D,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(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461171"/>
                <a:ext cx="5334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59881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Worked example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87452"/>
                <a:ext cx="5334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m/s,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rad/s,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0.5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627090"/>
                <a:ext cx="5334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4017615"/>
            <a:ext cx="5353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That point is momentarily at rest — the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instantaneous centre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of the dynamics lecture.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48375" y="1428750"/>
            <a:ext cx="5924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48375" y="1687711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omega_cross_r(omega, r):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8375" y="1888480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"""[0, 0, omega] x [rx, ry, 0]"""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8375" y="2089249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np.array([-omega * r[1], omega * r[0]])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48375" y="249078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cross2(a, b):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8375" y="2691557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"""2D cross product a x b -&gt; scalar (z)"""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48375" y="2892326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float(a[0] * b[1] - a[1] * b[0])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48375" y="3293864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used for the contact point: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48375" y="3494633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v_C = body.vel + omega_cross_r(body.omega, r)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it matters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 collision happens at the contact point, so its speed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not the COM speed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decides whether the bodies approach.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4 · Velocity of a Point on a Rigid Body</a:t>
            </a:r>
          </a:p>
        </p:txBody>
      </p:sp>
      <p:pic>
        <p:nvPicPr>
          <p:cNvPr id="24" name="Picture 2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23232"/>
            <a:ext cx="38100" cy="92199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1428750"/>
            <a:ext cx="38100" cy="150167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collision force is huge and brief — integrate it once and change the velocity in a jump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76375"/>
                <a:ext cx="5334000" cy="64308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</m:nary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95661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Linear and angular impulse–momentum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28007"/>
                <a:ext cx="5105400" cy="32191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sSub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675" y="3026122"/>
                <a:ext cx="5105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597622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Worked example (T: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0.434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953768"/>
                <a:ext cx="5353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J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0.5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N·s at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0.5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0.5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m/s,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J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0.25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0.58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rad/s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048375" y="1428750"/>
            <a:ext cx="5924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resolve_impulse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48375" y="1687711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 = j_n * 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48375" y="1888480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body.vel   += J / body.mass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8375" y="2089249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body.omega += cross2(r, J)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8375" y="249078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back to a force for display (advance):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48375" y="2691557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 = self._j_sum / (n * self.physics_dt)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jump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contact lasts milliseconds, positions barely move, and the force history is unknown — only its integral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J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matters.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5 · Impulse: A Large Force for a Short Time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531245"/>
            <a:ext cx="38100" cy="81900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67425" y="1797695"/>
            <a:ext cx="990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8025" y="1797695"/>
            <a:ext cx="4914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7425" y="2211586"/>
            <a:ext cx="990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58025" y="2211586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67425" y="2611189"/>
            <a:ext cx="990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58025" y="2611189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67425" y="3225105"/>
            <a:ext cx="38100" cy="89936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Start with a particle hitting a wall, then let the body rotate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075" y="1428750"/>
            <a:ext cx="5524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Restitution law (normal direction)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1756321"/>
                <a:ext cx="5524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146846"/>
                <a:ext cx="55245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Particle: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m</m:t>
                    </m:r>
                    <m:sSubSup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m</m:t>
                    </m:r>
                    <m:sSubSup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+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j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2502991"/>
                <a:ext cx="5524500" cy="62448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/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3203674"/>
            <a:ext cx="5524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Rigid body: rotation absorbs part of it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47675" y="3636020"/>
                <a:ext cx="5295900" cy="60945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</m:sup>
                          </m:sSubSup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6067425" y="1495425"/>
                <a:ext cx="8572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e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7058025" y="1495425"/>
            <a:ext cx="47815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After impact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67425" y="1892945"/>
            <a:ext cx="857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58025" y="1892945"/>
            <a:ext cx="47815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elastic: full bounce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7425" y="2297311"/>
            <a:ext cx="857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58025" y="2297311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half the approach speed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7425" y="2696914"/>
            <a:ext cx="857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58025" y="2696914"/>
            <a:ext cx="4781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plastic: no bounce (PushT)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38875" y="3225105"/>
            <a:ext cx="5734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resolve_impulse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38875" y="3484066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K_n = 1.0 / body.mass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38875" y="3684836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+ cross2(r, n) ** 2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38875" y="3885605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j_n = -(1.0 + restitution) * v_n / K_n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Same formula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becomes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the "effective inverse mass" seen at the contact — derived in full a few slides later.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Rectangle 2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6 · A Collision: How Big Is the Impulse?</a:t>
            </a:r>
          </a:p>
        </p:txBody>
      </p:sp>
      <p:pic>
        <p:nvPicPr>
          <p:cNvPr id="32" name="Picture 3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65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16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66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917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93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44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94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45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85654"/>
            <a:ext cx="2038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57425" y="3085654"/>
            <a:ext cx="5467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4775" y="3085654"/>
            <a:ext cx="4248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99545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57425" y="3499545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4775" y="3499545"/>
            <a:ext cx="4248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99148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57425" y="3899148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4775" y="3899148"/>
            <a:ext cx="4248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98752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57425" y="4298752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4775" y="4298752"/>
            <a:ext cx="4248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" y="4705796"/>
            <a:ext cx="2038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57425" y="4705796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4775" y="4705796"/>
            <a:ext cx="4248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6765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9815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2866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5916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Every rigid-body simulator repeats the same five stages in each time step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69479" y="1683395"/>
            <a:ext cx="8326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Forces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98624" y="2007245"/>
            <a:ext cx="1174403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PD, damping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54722" y="1683395"/>
            <a:ext cx="107230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Integrate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33452" y="2007245"/>
            <a:ext cx="91499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Steps 1–3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07856" y="1566714"/>
            <a:ext cx="7761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Detect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14950" y="1890564"/>
            <a:ext cx="158115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who touches whom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921228" y="1683395"/>
            <a:ext cx="95949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43552" y="2007245"/>
            <a:ext cx="91499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Steps 4–6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54555" y="1683395"/>
            <a:ext cx="90308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Correct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006012" y="2007245"/>
            <a:ext cx="1400175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remove overlap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075" y="2790825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57425" y="2790825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PushT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24775" y="2790825"/>
            <a:ext cx="41148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Code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3180904"/>
            <a:ext cx="1905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Forces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57425" y="3180904"/>
            <a:ext cx="5334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PD pusher toward the target; floor damping on the 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24775" y="3180904"/>
            <a:ext cx="41148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substep, steps 1–2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9075" y="3585270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Integrate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57425" y="3585270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semi-implicit Euler for pusher and 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24775" y="3585270"/>
            <a:ext cx="4114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substep, step 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19075" y="3984873"/>
            <a:ext cx="1905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Detect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257425" y="3984873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circle vs. T polygon; T corners vs. walls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24775" y="3984873"/>
            <a:ext cx="4114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circle_vs_T, wall_contacts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075" y="4384477"/>
            <a:ext cx="1905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Impulse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/>
              <p:cNvSpPr txBox="1"/>
              <p:nvPr/>
            </p:nvSpPr>
            <p:spPr>
              <a:xfrm>
                <a:off x="2257425" y="4384477"/>
                <a:ext cx="5334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normal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Coulomb friction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5" name="TextBox 54"/>
          <p:cNvSpPr txBox="1"/>
          <p:nvPr/>
        </p:nvSpPr>
        <p:spPr>
          <a:xfrm>
            <a:off x="7724775" y="4384477"/>
            <a:ext cx="41148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resolve_impulse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4791521"/>
            <a:ext cx="1905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Correct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257425" y="4791521"/>
            <a:ext cx="5334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 the T out of any overlap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724775" y="4791521"/>
            <a:ext cx="41148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end of resolve_impulse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following slides open each stage of the PushT code and put the equations beside it.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7 · A Simulation Loop with Contacts</a:t>
            </a:r>
          </a:p>
        </p:txBody>
      </p:sp>
      <p:pic>
        <p:nvPicPr>
          <p:cNvPr id="62" name="Picture 6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65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16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66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917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93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44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94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45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4009281"/>
            <a:ext cx="38100" cy="94252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9675" y="2667000"/>
            <a:ext cx="38100" cy="2505521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765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9815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2866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916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env.step() = 0.1 s = 20 substeps of 5 ms, each with a 3-pass contact solver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7281" y="1666131"/>
            <a:ext cx="75723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Target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11275" y="1989981"/>
                <a:ext cx="114925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sSup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3156049" y="1666131"/>
            <a:ext cx="126980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PD pusher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476179" y="1989981"/>
                <a:ext cx="62954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5623322" y="1666131"/>
            <a:ext cx="94520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Contact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446365" y="1989981"/>
                <a:ext cx="129912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point,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depth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7921228" y="1666131"/>
            <a:ext cx="95949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8192244" y="1989981"/>
                <a:ext cx="41746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10170170" y="1532037"/>
            <a:ext cx="107186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 motion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9925050" y="1855887"/>
                <a:ext cx="1562100" cy="5363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219075" y="266700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 steps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219075" y="2994571"/>
                <a:ext cx="4476750" cy="61093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ctrl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phys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0.005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075" y="368171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Average contact force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47675" y="4114056"/>
                <a:ext cx="4248150" cy="73297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ctrl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substeps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5191125" y="266700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PushTEnv.step · pusht_keyboard_sim.py : advance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91125" y="292596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step(self, action):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91125" y="312673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self.sim.target = np.clip(action, [x_min, y_min], [x_max, y_max])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91125" y="332749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self.sim.advance(self.control_dt)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0.1 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91125" y="352826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self.t += 1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91125" y="392980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advance(self, frame_dt):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91125" y="4130576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 = max(1, int(round(frame_dt / self.physics_dt)))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91125" y="4331345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self._j_sum[:] = 0.0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91125" y="453211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_ in range(n):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91125" y="473288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self.substep(self.physics_dt)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5 ms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191125" y="493365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 = self._j_sum / (n * self.physics_dt)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impulse / time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Physics Inside One Control Step</a:t>
            </a:r>
          </a:p>
        </p:txBody>
      </p:sp>
      <p:pic>
        <p:nvPicPr>
          <p:cNvPr id="45" name="Picture 4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2907060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pusher is a controlled kinematic body; the T coasts and slows down by floor friction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1. PD control of the pusher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861096"/>
                <a:ext cx="4533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440781"/>
                <a:ext cx="4781550" cy="93077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80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18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damping ratio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ζ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p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fast, no overshoot. Speed limited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m/s.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3504902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Floor friction as exponential decay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832473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ω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4222998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3. Semi-implicit Euler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4550569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KeyboardPushT.substep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1. pusher PD control toward the target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acc = self.kp * (self.target - P.pos) - self.kd * P.vel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P.vel += acc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speed = np.linalg.norm(P.vel)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speed &gt; self.max_speed: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P.vel *= self.max_speed / speed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P.pos += P.vel * dt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new velocity first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2. damping  3. integrate the 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T.vel *= math.exp(-self.linear_damping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T.omega *= math.exp(-self.angular_damping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T.pos += T.vel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T.angle += T.omega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5833616"/>
                <a:ext cx="11753850" cy="62433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Consequence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released at speed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the T slides another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∞</m:t>
                        </m:r>
                      </m: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</m:nary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v</m:t>
                            </m:r>
                          </m:sub>
                        </m:s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p>
                    </m:sSup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the expert slows down near the goal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this reason.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Substep: PD Pusher, Damping, Integration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735312"/>
            <a:ext cx="38100" cy="84534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4102001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33675" y="4102001"/>
            <a:ext cx="2343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52333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3675" y="4523333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4930378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3675" y="4930378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5329982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3675" y="5329982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675" y="1428750"/>
            <a:ext cx="38100" cy="350936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Composite body: two rectangles, each shifted to the T's centre of mass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428750"/>
            <a:ext cx="4857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Centre of mass (mass ∝ area)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1756321"/>
                <a:ext cx="4857750" cy="57522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‾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2407741"/>
            <a:ext cx="4857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Rectangle + parallel-axis theorem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47675" y="2840087"/>
                <a:ext cx="4629150" cy="63579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lin"/>
                                </m:fPr>
                                <m:num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 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3799731"/>
                <a:ext cx="23812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Value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733675" y="3799731"/>
            <a:ext cx="220980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4197251"/>
            <a:ext cx="2381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top bar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733675" y="4197251"/>
                <a:ext cx="22098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1.8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0.5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4609058"/>
            <a:ext cx="2381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stem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733675" y="4609058"/>
                <a:ext cx="22098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1.3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219075" y="5016103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COM below the top edge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33675" y="5016103"/>
            <a:ext cx="2209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0.627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5415707"/>
                <a:ext cx="23812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2733675" y="5415707"/>
            <a:ext cx="22098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0.434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2125" y="1428750"/>
            <a:ext cx="6400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make_T_geometry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72125" y="168771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top_area = W * top_t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2125" y="1888480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stem_h = H - top_t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72125" y="2089249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stem_area = stem_w * stem_h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72125" y="2290018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total_area = top_area + stem_area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72125" y="2691557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y_top, y_stem = H / 2 - top_t / 2, -top_t /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72125" y="2892326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y_com = (top_area * y_top + stem_area * y_stem)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72125" y="3293864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m_top = mass * top_area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72125" y="3494633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m_stem = mass * stem_area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72125" y="3695402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own centre + parallel-axis shift to the COM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72125" y="389617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I_top = m_top * (W**2 + top_t**2) / 12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72125" y="409694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m_top * (y_top - y_com) **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72125" y="4297710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I_stem = m_stem * (stem_w**2 + stem_h**2) / 12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72125" y="4498479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m_stem * (y_stem - y_com) **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2125" y="4699248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vertices[:, 1] -= y_com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body origin = COM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 Geometry: Mass Moment of Inertia</a:t>
            </a:r>
          </a:p>
        </p:txBody>
      </p:sp>
      <p:pic>
        <p:nvPicPr>
          <p:cNvPr id="44" name="Picture 4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4068514"/>
            <a:ext cx="38100" cy="99536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371013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Work in the T's own frame: closest point on the 8 edges, then inside / outside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World → body frame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46846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Closest point on edge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i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502991"/>
                <a:ext cx="4953000" cy="61882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‖"/>
                                      <m:sepChr m:val=""/>
                                      <m:endChr m:val="‖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98019"/>
                <a:ext cx="4953000" cy="4381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arg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712369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Penetration (pusher radius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ρ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4173289"/>
                <a:ext cx="4724400" cy="78581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d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outside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d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inside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local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circle_vs_T_fast (all edges at once)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 = rotation_matrix(body_angle)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c = R.T @ (circle_pos - body_pos)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world -&gt; 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 = vertices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AB = np.roll(vertices, -1, axis=0) - 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 = np.clip(((c - A) * AB).sum(1) / (AB * AB).sum(1), 0, 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Q = A + t[:, None] * AB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closest points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d2 = ((Q - c) ** 2).sum(1)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 = int(np.argmin(d2))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 = math.sqrt(d2[i])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inside = ...     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ray casting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not inside and d &gt;= radius: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7375" y="389617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None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direction = (Q[i] - c) / d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n_local, pen = (-direction, radius + d) if inside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7375" y="449847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else (direction, radius - d)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375" y="469924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 = R @ n_local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7375" y="490001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return body_pos + R @ Q[i], n, pen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Speed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numpy version replaces an 8-iteration Python loop — identical results on 2000 random cases, checked in the tutorial.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Detection: Circle vs T</a:t>
            </a:r>
          </a:p>
        </p:txBody>
      </p:sp>
      <p:pic>
        <p:nvPicPr>
          <p:cNvPr id="33" name="Picture 3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73127"/>
            <a:ext cx="38100" cy="14248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3107829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Relative velocity says whether the bodies approach; an impulse stops them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Velocity of the contact point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953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55031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approaching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545556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Normal impulse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977902"/>
                <a:ext cx="4724400" cy="60945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47675" y="3663553"/>
                <a:ext cx="4724400" cy="52967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resolve_impulse (part 1)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point, n, pen = contact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 = point - body.pos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v_rel = body.vel + omega_cross_r(body.omega, r) - other_vel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v_n = float(np.dot(v_rel, n))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v_n &lt; 0:            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approaching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K_n = 1.0 / body.mass + cross2(r, n) ** 2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j_n = -(1.0 + restitution) * v_n / K_n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J = j_n * 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body.vel += J / body.mass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body.omega += cross2(r, J)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cross2(a, b):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2D cross product, z only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a[0] * b[1] - a[1] * b[0]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Kinematic pusher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so only the T's terms remain in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PushT uses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after impact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Velocity and Normal Impulse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402681"/>
            <a:ext cx="38100" cy="80218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2771626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7227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5812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4397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29825" y="2771626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95925" y="3185517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7227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5812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397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29825" y="3185517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95925" y="3585121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7227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5812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4397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29825" y="3585121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same push at a different height splits into translation and rotation differently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142875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Derivation: normal velocity change at C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1756321"/>
                <a:ext cx="11753850" cy="57016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×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47675" y="2507456"/>
                <a:ext cx="4724400" cy="5926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3357265"/>
                <a:ext cx="495300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Stem's left face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0.25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495925" y="2469356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Height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y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77227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85812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94397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0029825" y="2469356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5495925" y="2866876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(COM)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7227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5812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4397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29825" y="2866876"/>
            <a:ext cx="1809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95925" y="3271242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−0.5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7227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1.576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5812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0.634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4397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0.634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29825" y="3271242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0.731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95925" y="3670846"/>
            <a:ext cx="1143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−1.0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7227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3.305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5812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0.303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4397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0.303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29825" y="3670846"/>
            <a:ext cx="1809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0.697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95925" y="4065687"/>
            <a:ext cx="647700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Output of resolve_impulse() — pusht_mini_sim.py, section 8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5405735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At the COM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pure translation.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Far from the COM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smaller impulse, mostly rotation.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This is PushT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choosing the contact point chooses the motion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exactly what the scripted expert and the learned policies must do.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Contact Height Matters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4041725"/>
            <a:ext cx="38100" cy="54887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Cancel the sliding velocity at the contact, but never beyond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Tangent direction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762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155031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Impulse that stops sliding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482602"/>
                <a:ext cx="4762500" cy="57016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rel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28962"/>
                <a:ext cx="4762500" cy="5089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3714155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Coulomb limit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4146500"/>
                <a:ext cx="45339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*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0.4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resolve_impulse (part 2)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friction, using the velocity after the normal impulse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 = np.array([-n[1], n[0]])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v_rel = body.vel + omega_cross_r(body.omega, r) - other_vel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v_t = float(np.dot(v_rel, t))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K_t = 1.0 / body.mass + cross2(r, t) ** 2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j_t = float(np.clip(-v_t / K_t,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-friction * j_n, friction * j_n))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Jt = j_t * 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body.vel += Jt / body.mass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body.omega += cross2(r, Jt)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Effect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with friction the pusher can drag the T sideways and rotate it;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it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slips along the surface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(try F in the keyboard demo).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Rectangle 2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Coulomb Friction Impulse</a:t>
            </a:r>
          </a:p>
        </p:txBody>
      </p:sp>
      <p:pic>
        <p:nvPicPr>
          <p:cNvPr id="26" name="Picture 2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193405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50936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wall is a kinematic body with zero velocity — the same impulse function handles it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47625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Wall = pusher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b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4762500" cy="5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other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wall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426196"/>
                <a:ext cx="47625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Left wall: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65834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Penetration correction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298180"/>
                <a:ext cx="4533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0.8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69680"/>
                <a:ext cx="4781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Discrete time jumps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leave overlaps that impulses alone cannot remove.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wall_contacts · substep (step 4)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world = body.pos + body.vertices @ rotation_matrix(body.angle).T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p in world: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depth, n in ((x_min - p[0], (1.0, 0.0)), ...):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if depth &gt; 0: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contacts.append((p.copy(), np.array(n), depth))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4. contact solver: pusher-T and wall-T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_ in range(3):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 = circle_vs_T(P.pos, P.radius, T.pos, T.angle, T.vertices)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c is not None: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jn, jt = resolve_impulse(T, P.vel, c, e, mu)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w in wall_contacts(T):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resolve_impulse(T, np.zeros(2), w, e, mu)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449847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end of resolve_impulse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6875" y="469924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body.pos += 0.8 * max(pen - 1e-4, 0.0) * 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Walls and Penetration Correction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992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39025" y="1790254"/>
            <a:ext cx="4533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9925" y="2211586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39025" y="2211586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2592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9925" y="262592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39025" y="262592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3296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9925" y="303296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9025" y="303296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4001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925" y="344001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39025" y="344001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4705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9925" y="384705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39025" y="384705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5410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9925" y="425410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39025" y="425410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" y="466114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9925" y="46611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39025" y="466114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Every line of the simulator is an equation from the dynamics lecture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4954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idea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992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Equation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39025" y="1495425"/>
            <a:ext cx="4400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Code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1885504"/>
            <a:ext cx="2857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PD control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209925" y="1885504"/>
                <a:ext cx="40957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7439025" y="1885504"/>
            <a:ext cx="44005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substep, step 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297311"/>
            <a:ext cx="2857500" cy="261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Parallel-axis theorem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209925" y="2297311"/>
                <a:ext cx="4095750" cy="26193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f>
                            <m:fPr>
                              <m:type m:val="lin"/>
                            </m:fPr>
                            <m:num>
                              <m:sSub>
                                <m:e>
                                  <m:r>
                                    <a:rPr lang="en-US" sz="1560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1560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5" name="TextBox 34"/>
          <p:cNvSpPr txBox="1"/>
          <p:nvPr/>
        </p:nvSpPr>
        <p:spPr>
          <a:xfrm>
            <a:off x="7439025" y="2297311"/>
            <a:ext cx="4400550" cy="261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make_T_geometry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271164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Relative velocity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209925" y="271164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TextBox 37"/>
          <p:cNvSpPr txBox="1"/>
          <p:nvPr/>
        </p:nvSpPr>
        <p:spPr>
          <a:xfrm>
            <a:off x="7439025" y="271164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omega_cross_r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118693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Restitution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209925" y="3118693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7439025" y="3118693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j_n = -(1+e) v_n / K_n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075" y="352573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Linear impulse–momentum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3209925" y="352573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4" name="TextBox 43"/>
          <p:cNvSpPr txBox="1"/>
          <p:nvPr/>
        </p:nvSpPr>
        <p:spPr>
          <a:xfrm>
            <a:off x="7439025" y="352573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body.vel += J / 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3932783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Angular impulse–momentum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3209925" y="3932783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7" name="TextBox 46"/>
          <p:cNvSpPr txBox="1"/>
          <p:nvPr/>
        </p:nvSpPr>
        <p:spPr>
          <a:xfrm>
            <a:off x="7439025" y="3932783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body.omega += cross2(r, J) / I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433982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Coulomb friction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3209925" y="433982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0" name="TextBox 49"/>
          <p:cNvSpPr txBox="1"/>
          <p:nvPr/>
        </p:nvSpPr>
        <p:spPr>
          <a:xfrm>
            <a:off x="7439025" y="433982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np.clip(-v_t / K_t, ...)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075" y="4746873"/>
            <a:ext cx="2857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Impulse = force × time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3209925" y="4746873"/>
                <a:ext cx="40957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3" name="TextBox 52"/>
          <p:cNvSpPr txBox="1"/>
          <p:nvPr/>
        </p:nvSpPr>
        <p:spPr>
          <a:xfrm>
            <a:off x="7439025" y="4746873"/>
            <a:ext cx="44005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advance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Files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derivations in pusht_mini_sim.py · real-time version in pusht_keyboard_sim.py · random tasks in pusht_imitation.py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Physics Summary: Equation ↔ Code</a:t>
            </a:r>
          </a:p>
        </p:txBody>
      </p:sp>
      <p:pic>
        <p:nvPicPr>
          <p:cNvPr id="57" name="Picture 5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485900"/>
            <a:ext cx="234315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485900"/>
            <a:ext cx="234315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485900"/>
            <a:ext cx="234315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485900"/>
            <a:ext cx="2343150" cy="952500"/>
          </a:xfrm>
          <a:prstGeom prst="roundRect">
            <a:avLst>
              <a:gd name="adj" fmla="val 14000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19240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19240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19240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085654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3675" y="3085654"/>
            <a:ext cx="4133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67525" y="3085654"/>
            <a:ext cx="5105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075" y="3499545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33675" y="3499545"/>
            <a:ext cx="4133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67525" y="3499545"/>
            <a:ext cx="5105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075" y="3899148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3675" y="3899148"/>
            <a:ext cx="4133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67525" y="3899148"/>
            <a:ext cx="5105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25755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19125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124950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policy maps what the agent observes to what it does — here every 0.1 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4584" y="1666131"/>
            <a:ext cx="14815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Observation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962918" y="1989981"/>
                <a:ext cx="146491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from the state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4255145" y="1666131"/>
            <a:ext cx="74801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Policy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4203353" y="1989981"/>
                <a:ext cx="85159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7167860" y="1683395"/>
            <a:ext cx="78998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Action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64263" y="2007245"/>
            <a:ext cx="1197173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pusher target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016579" y="1666131"/>
            <a:ext cx="9599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9873853" y="1989981"/>
                <a:ext cx="1245394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next state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075" y="2790825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Policy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33675" y="2790825"/>
            <a:ext cx="4000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it decides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67525" y="2790825"/>
            <a:ext cx="4972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In this course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3180904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33675" y="3180904"/>
            <a:ext cx="4000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eyes + experience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67525" y="3180904"/>
            <a:ext cx="4972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keyboard recorder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58527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Scripted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733675" y="3585270"/>
            <a:ext cx="4000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hand-written rules from physics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67525" y="3585270"/>
            <a:ext cx="4972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ScriptedExpert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984873"/>
            <a:ext cx="23812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Neural network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2733675" y="3984873"/>
                <a:ext cx="400050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learned weights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ϕ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6867525" y="3984873"/>
            <a:ext cx="49720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MLP-BC, Diffusion, PPO actor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075" y="5405735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Closed loop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policy sees the result of its last action, so it can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correct its own mistakes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Deterministic vs. stochastic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∼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the second is needed for multimodal demos and for RL exploration.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4" name="Rectangle 4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8 · What Is a Policy?</a:t>
            </a:r>
          </a:p>
        </p:txBody>
      </p:sp>
      <p:pic>
        <p:nvPicPr>
          <p:cNvPr id="46" name="Picture 4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ec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096000" cy="34136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pusht_imitation.py collect — the keyboard simulator with a recorder added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4899571"/>
            <a:ext cx="6115050" cy="365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Recorder window: arrows / WASD or mouse drag move the target; reaching the goal auto-saves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892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rules for clean data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38925" y="1756321"/>
                <a:ext cx="533400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Fixed 10 Hz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screen draws at 20 fps, but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recorded every 0.1 s — one human step = one env.step().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6638925" y="2808536"/>
            <a:ext cx="5334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Idle start trimmed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time spent thinking before the first move is not recorded, so the policy never learns to stand still.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38925" y="3860750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fixed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friction / restitution switches are off — same state, same consequence.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4606677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Keys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 new task · R restart · Backspace delete last · Space pause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human demo takes 15–30 s, so 200 demos take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1.5–2 hours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→ we also need an automatic demonstrator.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Collecting Human Demonstrations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370832"/>
            <a:ext cx="38100" cy="81394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expert_roll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23" y="3685580"/>
            <a:ext cx="6609755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"virtual human" that chooses where to push with the lecture's impulse equations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58102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(1) Where to push — unit impulse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at candidate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5810250" cy="5097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475607"/>
                <a:ext cx="5581650" cy="6043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arg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53175" y="1428750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Candidates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8 edges × 3 points;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desired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L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its effect.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6353175" y="2174677"/>
            <a:ext cx="56197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(2) Approach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go to a standoff point; orbit around the T if the straight path is blocked.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53175" y="2920603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(3) Push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along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slowing in proportion to the remaining error (the T slides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after release).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3055441" y="5695355"/>
            <a:ext cx="608096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Expert rollouts (orange: pusher path, colour: time) — success ≈ 88–91 % on random tasks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Expert: Impulse–Momentum as a Policy</a:t>
            </a:r>
          </a:p>
        </p:txBody>
      </p:sp>
      <p:pic>
        <p:nvPicPr>
          <p:cNvPr id="14" name="Picture 13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470077"/>
            <a:ext cx="38100" cy="81394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4925" y="1428750"/>
            <a:ext cx="38100" cy="3910905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Score each candidate push by how well its impulse response points toward the goal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4572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Desired change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0.8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4572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200424"/>
                <a:ext cx="4572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Response to a unit impulse at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556570"/>
                <a:ext cx="4572000" cy="5097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×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3142506"/>
            <a:ext cx="4572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Cosine score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47675" y="3574852"/>
                <a:ext cx="4343400" cy="6043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4436418"/>
            <a:ext cx="4591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Penalty for pushing into a touching wall; +0.1 for keeping the same contact.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86375" y="1428750"/>
            <a:ext cx="6686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ScriptedExpert.act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86375" y="168771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e = sim.goal_pos - T.pos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86375" y="1888480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 = np.array([e[0], e[1],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86375" y="2089249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self.L * wrap_angle(sim.goal_angle - T.angle)])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86375" y="229001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k, (c_local, out_local) in enumerate(self.cands):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86375" y="249078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cw, out = T.pos + R @ c_local, R @ out_local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86375" y="2691557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n_in, r = -out, cw - T.pos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6375" y="2892326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 = np.array([n_in[0] / T.mass, n_in[1] / T.mass,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6375" y="3093095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self.L * cross2(r, n_in) / T.inertia])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86375" y="3293864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score = c @ d / (np.linalg.norm(c) * d_norm + 1e-9)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86375" y="3494633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n_wall in walls: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6375" y="3695402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if n_in @ np.array(n_wall) &lt; -0.3: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86375" y="389617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score -= 0.6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into that wall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75" y="409694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k == self.cur: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86375" y="4297710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score += 0.1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hysteresis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86375" y="469924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push: slower when close to the goal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86375" y="4900017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step = float(np.clip(0.3 * d_norm, 0.04, 0.12))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86375" y="5100786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return P.pos - out * (step + 0.04)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Expert: Equation ↔ Code</a:t>
            </a:r>
          </a:p>
        </p:txBody>
      </p:sp>
      <p:pic>
        <p:nvPicPr>
          <p:cNvPr id="32" name="Picture 3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242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91525" y="1790254"/>
            <a:ext cx="3581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2425" y="2204145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1525" y="2204145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03748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2425" y="26037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91525" y="2603748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925788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57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5" y="3925788"/>
            <a:ext cx="6115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075" y="433967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36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57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7875" y="4339679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" y="473928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336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57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7875" y="4739283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Published PushT and manipulation work uses 50–200 demonstrations per task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1495425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Source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6242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Task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91525" y="1495425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885504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(Chi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2425" y="1885504"/>
            <a:ext cx="4095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PushT,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fixed goal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random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1525" y="1885504"/>
            <a:ext cx="3448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200 human (≈ 25k steps)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2289870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LeRobot pusht dataset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62425" y="2289870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91525" y="2289870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206 episodes, 25,650 frames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689473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/ ALOHA (Zhao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2425" y="2689473"/>
            <a:ext cx="4095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bimanual robot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91525" y="2689473"/>
            <a:ext cx="3448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 per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236714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Suggested plan for human demonstrations (15–30 s each)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363096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336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57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57875" y="3630960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Purpose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075" y="4021038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Pipeline check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336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10–20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957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57875" y="4021038"/>
            <a:ext cx="5981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save / load / train runs, loss goes down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4425404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First results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336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50–100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57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30–60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7875" y="4425404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successes start; study the failures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075" y="4825008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Usable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7336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≥ 200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57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1.5–2 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857875" y="4825008"/>
            <a:ext cx="5981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paper scale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important than the count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spread-out initial conditions,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 consistent strategy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discarded failures. Our goal is random too — harder than the original PushT.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Reference Points</a:t>
            </a:r>
          </a:p>
        </p:txBody>
      </p:sp>
      <p:pic>
        <p:nvPicPr>
          <p:cNvPr id="56" name="Picture 5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305770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2425" y="3305770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24525" y="3305770"/>
            <a:ext cx="1543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719661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2425" y="3719661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24525" y="3719661"/>
            <a:ext cx="1543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goa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779" y="1428750"/>
            <a:ext cx="3950791" cy="3333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Ride along with the goal — the same idea as relative motion in rigid-body kinematics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1533525"/>
                <a:ext cx="6819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acc>
                        <m:accPr>
                          <m:chr m:val="̃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2113211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cos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sin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28739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3010942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 representation (goal frame)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2425" y="3010942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24525" y="3010942"/>
            <a:ext cx="1409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3401020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absolute target position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62425" y="3401020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24525" y="3401020"/>
            <a:ext cx="1409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805386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offset from the current 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2425" y="3805386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24525" y="3805386"/>
            <a:ext cx="1409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9172" y="4819650"/>
            <a:ext cx="2805857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One training sample: goal at the origin, 0°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Without the goal frame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 for both models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a good representation saves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Goal Frame: Relative Motion Removes the Random Goal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8382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30859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rotation and a translation — written out by hand so it works on any batch shape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453390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</m:t>
                                </m:r>
                              </m:e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2419350"/>
                <a:ext cx="4762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cos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sin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834878"/>
                <a:ext cx="4762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233589"/>
                <a:ext cx="4781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State layout: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indices 0–7.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to_goal_frame · make_obs · action_to_model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to_goal_frame(points, state, origin=None):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c, s = math.cos(state[7]), math.sin(state[7])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 = points - (state[5:7] if origin is None else origin)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np.stack([ c * v[..., 0] + s * v[..., 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-s * v[..., 0] + c * v[..., 1]], -1)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make_obs(state):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p = to_goal_frame(state[0:2], state)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T = to_goal_frame(state[2:4], state)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dth = state[4] - state[7]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np.array([p[0], p[1], T[0], T[1],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math.cos(dth), math.sin(dth)])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429771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action_to_model(actions, state):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449847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to_goal_frame(actions, state, origin=state[0:2])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Goal Frame: Equation ↔ Code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 two frames, plan eight actions, execute four, then re-plan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7202" y="1799481"/>
            <a:ext cx="101634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Observe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62025" y="2123331"/>
                <a:ext cx="1466850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 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4198739" y="1799481"/>
            <a:ext cx="860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Predict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775918" y="2123331"/>
                <a:ext cx="1706314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H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(0.8 s)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7075884" y="1799481"/>
            <a:ext cx="9739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Execute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732984" y="2123331"/>
                <a:ext cx="1659582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4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actions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10031016" y="1816745"/>
            <a:ext cx="93106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Re-plan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45414" y="2140595"/>
            <a:ext cx="150212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receding horizon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2971800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frames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difference gives velocity — is the T still sliding?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71772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one-step predictions change every 0.1 s and jitter; a chunk commits to a motion for a moment.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257925" y="2971800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Normalize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z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statistics from the training set only.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6257925" y="3717727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Split by episode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neighbouring steps are nearly identical — a step-wise split leaks data into validation.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Trade-off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4 steps run open-loop, so an unexpected slide is corrected only at the next re-plan.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Observation History and Action Chunks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002161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2103983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Fit a function to examples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by following the gradient of a loss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Loss on a minibatch of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examples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4953000" cy="81349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</m:nary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67459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Gradient descent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675" y="3106936"/>
                <a:ext cx="4724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η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∇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686621"/>
                <a:ext cx="4972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Minibatch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B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256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drawn at random every step.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AdamW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adapts the step per parameter.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Validation set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episodes never trained 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train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opt = torch.optim.AdamW(model.parameters(), lr=lr)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sched = CosineAnnealingLR(opt, steps)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it in range(1, steps + 1):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idx = torch.randint(0, len(X), (batch,))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loss = model.loss(X[idx], Y[idx])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opt.zero_grad()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loss.backward()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gradient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opt.step()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phi &lt;- phi - lr * ...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sched.step()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lr decays to 0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Loss ≠ goal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 low loss on demos does not guarantee success in closed loop — that is why every model here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evaluated by running it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9 · Supervised Learning in One Slide</a:t>
            </a:r>
          </a:p>
        </p:txBody>
      </p:sp>
      <p:pic>
        <p:nvPicPr>
          <p:cNvPr id="23" name="Picture 2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130492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663107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33675" y="3663107"/>
            <a:ext cx="2628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08443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3675" y="4084439"/>
            <a:ext cx="2628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448404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3675" y="4484043"/>
            <a:ext cx="2628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4883646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3675" y="4883646"/>
            <a:ext cx="2628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86425" y="1428750"/>
            <a:ext cx="38100" cy="2505521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Stack linear maps and nonlinearities; the weights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ϕ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{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b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are what training changes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1533525"/>
                <a:ext cx="4914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47675" y="1924050"/>
                <a:ext cx="4914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47675" y="2314575"/>
                <a:ext cx="4914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W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out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075" y="2886075"/>
                <a:ext cx="5143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Mish: 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tanh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ln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z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219075" y="3368278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 in PushT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33675" y="3368278"/>
            <a:ext cx="2495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Size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19075" y="3758357"/>
                <a:ext cx="23812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input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2733675" y="3758357"/>
            <a:ext cx="24955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 × 6 = 12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4170164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hidden layers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33675" y="4170164"/>
            <a:ext cx="2495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 × 512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4569768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output (8 actions × 2)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33675" y="4569768"/>
            <a:ext cx="2495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4969371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parameters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33675" y="4969371"/>
            <a:ext cx="2495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540,176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57875" y="1428750"/>
            <a:ext cx="6115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MLP · BCPolicy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57875" y="1687711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class MLP(nn.Module):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57875" y="1888480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def __init__(self, d_in, d_out, width=256, depth=3):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57875" y="2089249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layers, d = [], d_in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57875" y="229001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for _ in range(depth):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857875" y="2490788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layers += [nn.Linear(d, width), nn.Mish()]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57875" y="2691557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d = width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7875" y="2892326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self.net = nn.Sequential(*layers, nn.Linear(d, d_out))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57875" y="3293864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class BCPolicy(Normalized):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57875" y="3494633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def loss(self, x, y):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MSE, normalized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7875" y="3695402"/>
            <a:ext cx="6115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return ((self.f(self.nx(x)) - self.ny(y))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a nonlinearity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without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the whole stack collapses into one linear map — it could not represent "push left of the T here, right of it there".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9" name="Rectangle 3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10 · The Network: A Multi-Layer Perceptron</a:t>
            </a:r>
          </a:p>
        </p:txBody>
      </p:sp>
      <p:pic>
        <p:nvPicPr>
          <p:cNvPr id="41" name="Picture 4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71824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Behavior cloning = supervised learning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observation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expert action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47675" y="1533525"/>
                <a:ext cx="11525250" cy="50869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*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∼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expert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2299395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Covariate shift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075" y="2626965"/>
            <a:ext cx="5734050" cy="1225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Training states come from the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expert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at test time states come from the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policy itself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 One small error leads to a state the demos never showed, where the next error is larger.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3985468"/>
                <a:ext cx="5715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mistakes over 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 steps: BC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DAgger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4375993"/>
            <a:ext cx="571500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Ross &amp; Bagnell (2010); Ross, Gordon &amp; Bagnell (2011)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2299395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Two more problems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57925" y="2626965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Multimodality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MSE optimum is the mean of the demonstrated actions (next slides).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7925" y="3372892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recovery data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we save only successful demos, so the policy never sees how to fix a bad push.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Remedies in this course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action chunks, Diffusion Policy for multimodality — and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RL fine-tuning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which learns from the policy's own states.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11 · Behavior Cloning and Its Weak Spot</a:t>
            </a:r>
          </a:p>
        </p:txBody>
      </p:sp>
      <p:pic>
        <p:nvPicPr>
          <p:cNvPr id="15" name="Picture 1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71824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299395"/>
            <a:ext cx="10287000" cy="3107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MSE learns the average action — the average of two good actions can be bad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11525250" cy="50869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∼</m:t>
                          </m:r>
                          <m:r>
                            <m:rPr>
                              <m:scr m:val="script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31578" y="5464522"/>
                <a:ext cx="9328696" cy="20106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Toy problem: demonstrations avoid an obstacle up or down (50/50). MLP-BC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≈</m:t>
                    </m:r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— straight into it; Diffusion samples both modes.</a:t>
                </a:r>
                <a:endParaRPr lang="en-US" sz="12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 PushT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"go around the left or the right side of the T?"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MLP-BC hesitates in between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human demos are even more multimodal.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Which Model? The Multimodality Problem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181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425" y="1790254"/>
            <a:ext cx="2800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00775" y="1790254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3375" y="1790254"/>
            <a:ext cx="4019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204145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204145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220414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3375" y="2204145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" y="2611189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425" y="2611189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611189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3375" y="2611189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018234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0425" y="3018234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775" y="3018234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3375" y="3018234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" y="3417838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0425" y="3417838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775" y="3417838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3375" y="3417838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" y="3817441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0425" y="3817441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0775" y="3817441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3375" y="3817441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Learn a distribution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instead of a single average action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219075" y="1495425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Model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00425" y="1495425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Output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00775" y="149542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Multimodal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3375" y="1495425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Notes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1885504"/>
            <a:ext cx="3048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(MSE)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00425" y="1885504"/>
            <a:ext cx="2667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point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00775" y="1885504"/>
            <a:ext cx="1619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(mean)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53375" y="1885504"/>
            <a:ext cx="3886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fastest, simplest — baseline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2289870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+ action 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400425" y="2289870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points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7" name="TextBox 36"/>
          <p:cNvSpPr txBox="1"/>
          <p:nvPr/>
        </p:nvSpPr>
        <p:spPr>
          <a:xfrm>
            <a:off x="6200775" y="228987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3375" y="2289870"/>
            <a:ext cx="3886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temporally consistent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2696914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GMM / MDN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400425" y="2696914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Gaussians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6200775" y="2696914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partly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7953375" y="2696914"/>
                <a:ext cx="3886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number of modes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fixed in advance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3" name="TextBox 42"/>
          <p:cNvSpPr txBox="1"/>
          <p:nvPr/>
        </p:nvSpPr>
        <p:spPr>
          <a:xfrm>
            <a:off x="219075" y="3103959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VQ-BeT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00425" y="3103959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discrete code + offset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00775" y="3103959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53375" y="3103959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Transformer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9075" y="3503563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(CVAE + Transformer)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00425" y="3503563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00775" y="3503563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53375" y="3503563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robot, 50 demos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075" y="3903166"/>
            <a:ext cx="3048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00425" y="3903166"/>
            <a:ext cx="2667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chunk, sampled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00775" y="3903166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53375" y="3903166"/>
            <a:ext cx="38862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standard PushT baseline, stable training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Our choice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MLP-BC as the baseline, Diffusion Policy as the main model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same MLP trunk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(3 layers, width 512, Mish).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 the only difference is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learning the mean vs. learning the distribution.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Policy Model Candidates</a:t>
            </a:r>
          </a:p>
        </p:txBody>
      </p:sp>
      <p:pic>
        <p:nvPicPr>
          <p:cNvPr id="59" name="Picture 5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2991"/>
            <a:ext cx="38100" cy="577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Learn to remove noise from action chunks; at run time, denoise noise into actions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19075" y="1428750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1. Forward process: mix noise into a clean chunk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84896"/>
                <a:ext cx="117538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542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Training: predict the noise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7766"/>
                <a:ext cx="11525250" cy="36775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232696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3. Sampling: start from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p>
                    </m:sSup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∼</m:t>
                    </m:r>
                    <m:r>
                      <m:rPr>
                        <m:scr m:val="script"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, step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588841"/>
                <a:ext cx="11753850" cy="6438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it is multimodal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each run starts from different noise → a different sample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different modes of the demonstrations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Cosine schedule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β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 Policy (DDPM) in Three Steps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146846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19675" y="1428750"/>
            <a:ext cx="38100" cy="371013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Training is one line of noise mixing; sampling is a loop of K = 50 denoising steps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251621"/>
                <a:ext cx="424815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ϕ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</m:d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31306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Sampling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58877"/>
                <a:ext cx="4476750" cy="6438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78907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191125" y="142875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DiffusionPolicy.loss · predict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1125" y="168771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loss(self, x, y):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1125" y="188848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a0 = self.ny(y)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1125" y="208924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k = torch.randint(0, self.K, (len(a0),))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1125" y="229001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eps = torch.randn_like(a0)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91125" y="249078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ab = self.abar[k][:, None]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1125" y="269155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a_k = ab.sqrt() * a0 + (1 - ab).sqrt() * eps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1125" y="2892326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((self.eps_hat(a_k, k, self.nx(x)) - eps)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1125" y="329386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predict(self, x):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1125" y="349463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 = torch.randn(len(xn), self.d_act)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a^K ~ N(0, I)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91125" y="369540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k in reversed(range(self.K)):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1125" y="389617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ab = self.abar[k]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91125" y="409694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a0 = (a - (1 - ab).sqrt() * self.eps_hat(a, kk, xn)) / ab.sqrt()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1125" y="429771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mean = (ab_prev.sqrt() * self.betas[k] / (1 - ab)) * a0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91125" y="449847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+ (self.alphas[k].sqrt() * (1 - ab_prev) / (1 - ab)) * 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91125" y="469924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var = self.betas[k] * (1 - ab_prev) / (1 - ab)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1125" y="490001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 = mean + var.sqrt() * torch.randn_like(a)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 Policy: Equation ↔ Code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6229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48425" y="1790254"/>
            <a:ext cx="2228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77275" y="1790254"/>
            <a:ext cx="3295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48425" y="221158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77275" y="221158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863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8425" y="261863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77275" y="261863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2567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8425" y="302567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77275" y="302567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3272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8425" y="343272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77275" y="343272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996928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needs more capacity or more steps than MLP-BC before it pays off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1495425"/>
            <a:ext cx="6096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Setting (180 expert demos, unseen tasks)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8425" y="1495425"/>
            <a:ext cx="2095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77275" y="1495425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1885504"/>
                <a:ext cx="60960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no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448425" y="1885504"/>
            <a:ext cx="2095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7275" y="1885504"/>
            <a:ext cx="31623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229731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6448425" y="229731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36–46 %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7275" y="229731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18–42 %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19075" y="2704356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80k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448425" y="2704356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77275" y="2704356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19075" y="311140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 (</a:t>
                </a: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default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448425" y="311140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38–59 %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77275" y="311140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54–63 %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19075" y="3518446"/>
                <a:ext cx="609600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50k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5" name="TextBox 34"/>
          <p:cNvSpPr txBox="1"/>
          <p:nvPr/>
        </p:nvSpPr>
        <p:spPr>
          <a:xfrm>
            <a:off x="6448425" y="3518446"/>
            <a:ext cx="2095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77275" y="3518446"/>
            <a:ext cx="31623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447675" y="4101703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0.999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0.001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TextBox 37"/>
          <p:cNvSpPr txBox="1"/>
          <p:nvPr/>
        </p:nvSpPr>
        <p:spPr>
          <a:xfrm>
            <a:off x="6257925" y="3996928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Batch 256, AdamW, cosine lr decay; about 1 min per model on GPU, 4 min on CPU.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Caution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re-running the same setting moves success by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±10 %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validation loss does not predict success (0.116 → 0.132 while 62 % → 69 %).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Settings Found by Experiment</a:t>
            </a:r>
          </a:p>
        </p:txBody>
      </p:sp>
      <p:pic>
        <p:nvPicPr>
          <p:cNvPr id="42" name="Picture 4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7" y="1428750"/>
            <a:ext cx="5565428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reaches most of its performance at about 100 demonstrations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257925" y="1756321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400 expert demos → train on the 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width 512, 30k steps →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100 unseen tasks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closed loop.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6257925" y="2502247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Reading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57925" y="2829818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Diffusion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ahead at every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most clearly with little data.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6257925" y="3575745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needs about 3× more demos for the same success.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4321671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demos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aim for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at least 100, ideally 200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Reproduce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tools/imitation_experiments/full/run_scale512.sh (10 jobs, about 15 min)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Measured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ollouts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620000" cy="1743075"/>
          </a:xfrm>
          <a:prstGeom prst="rect">
            <a:avLst/>
          </a:prstGeom>
        </p:spPr>
      </p:pic>
      <p:pic>
        <p:nvPicPr>
          <p:cNvPr id="3" name="Picture 2" descr="il_rollouts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3526036"/>
            <a:ext cx="7620000" cy="174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learned policies stay below the expert that taught them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2680" y="3228975"/>
            <a:ext cx="231264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MLP-BC rollouts on unseen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7703" y="5326261"/>
            <a:ext cx="290274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Diffusion Policy rollouts on the same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62925" y="1428750"/>
            <a:ext cx="3810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stalls or jitters beside the T — it averages between strategies.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62925" y="2174677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commits to one strategy; fails at the final 0.15 m / 10° alignment or after one big mistake.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62925" y="3226891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covariate shift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their own errors lead to states never seen in the demos.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Default run (180 demos)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expert 88 % · MLP-BC 38–59 % · Diffusion 54–63 %. Remedy: DAgger — record human corrections.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Closed-Loop Rollouts and Failure Modes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" y="1485900"/>
            <a:ext cx="281940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86300" y="1485900"/>
            <a:ext cx="281940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500" y="1485900"/>
            <a:ext cx="28194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38550" y="1924050"/>
            <a:ext cx="8572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0" y="1924050"/>
            <a:ext cx="85725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403699"/>
            <a:ext cx="2800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9425" y="3403699"/>
            <a:ext cx="89535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825032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9425" y="3825032"/>
            <a:ext cx="89535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4232077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9425" y="4232077"/>
            <a:ext cx="89535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075" y="4639121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9425" y="4639121"/>
            <a:ext cx="89535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075" y="5046166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9425" y="5046166"/>
            <a:ext cx="89535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4862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3724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teacher — the agent acts, and the environment answers with a new state and a reward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50082" y="1663452"/>
            <a:ext cx="71943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Agent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528018" y="1987302"/>
                <a:ext cx="1363563" cy="273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∣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5320010" y="1683395"/>
            <a:ext cx="1551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Environment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1186" y="2007245"/>
            <a:ext cx="226962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the simulator (Steps 1–7)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96412" y="1666131"/>
            <a:ext cx="117142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Feedback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9682758" y="1989981"/>
                <a:ext cx="598884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219075" y="2686050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Markov decision process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(</m:t>
                    </m:r>
                    <m:r>
                      <m:rPr>
                        <m:scr m:val="script"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m:rPr>
                        <m:scr m:val="script"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γ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for PushT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219075" y="3108871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Element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19425" y="3108871"/>
            <a:ext cx="88201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PushT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219075" y="3498949"/>
                <a:ext cx="26670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state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3019425" y="3498949"/>
            <a:ext cx="88201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pusher, T and goal poses (+ velocities)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19075" y="3910757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action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3019425" y="3910757"/>
            <a:ext cx="88201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where to move the pusher target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/>
              <p:cNvSpPr txBox="1"/>
              <p:nvPr/>
            </p:nvSpPr>
            <p:spPr>
              <a:xfrm>
                <a:off x="219075" y="4317802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transition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4" name="TextBox 33"/>
          <p:cNvSpPr txBox="1"/>
          <p:nvPr/>
        </p:nvSpPr>
        <p:spPr>
          <a:xfrm>
            <a:off x="3019425" y="4317802"/>
            <a:ext cx="88201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0.1 s of physics — deterministic here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/>
              <p:cNvSpPr txBox="1"/>
              <p:nvPr/>
            </p:nvSpPr>
            <p:spPr>
              <a:xfrm>
                <a:off x="219075" y="4724846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reward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6" name="TextBox 35"/>
          <p:cNvSpPr txBox="1"/>
          <p:nvPr/>
        </p:nvSpPr>
        <p:spPr>
          <a:xfrm>
            <a:off x="3019425" y="4724846"/>
            <a:ext cx="88201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progress toward the goal, bonus on success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5131891"/>
            <a:ext cx="2667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episode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19425" y="5131891"/>
            <a:ext cx="88201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until success or 300 steps (30 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Markov property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next state depends only 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that is why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velocities belong in the state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or two frames in the observation.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0" name="Rectangle 3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12 · The RL Problem: Learning from Reward</a:t>
            </a:r>
          </a:p>
        </p:txBody>
      </p:sp>
      <p:pic>
        <p:nvPicPr>
          <p:cNvPr id="42" name="Picture 4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84103"/>
            <a:ext cx="38100" cy="68981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1797695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2525" y="1797695"/>
            <a:ext cx="3200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57925" y="2219027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2525" y="2219027"/>
            <a:ext cx="3200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57925" y="2626072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2525" y="2626072"/>
            <a:ext cx="3200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agent maximizes the discounted sum of rewards, not the next reward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1476375"/>
                <a:ext cx="5715000" cy="6410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γ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γ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nary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2193578"/>
                <a:ext cx="5715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recursive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447675" y="2688878"/>
                <a:ext cx="5486400" cy="48026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τ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∼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257925" y="1495425"/>
                <a:ext cx="23812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γ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0.99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8772525" y="1495425"/>
            <a:ext cx="30670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Value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257925" y="1892945"/>
                <a:ext cx="23812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effective horizon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γ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6" name="TextBox 15"/>
          <p:cNvSpPr txBox="1"/>
          <p:nvPr/>
        </p:nvSpPr>
        <p:spPr>
          <a:xfrm>
            <a:off x="8772525" y="1892945"/>
            <a:ext cx="30670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100 steps = 10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57925" y="2304752"/>
            <a:ext cx="2381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bonus 10 after 100 steps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8772525" y="2304752"/>
                <a:ext cx="30670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0.99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3.7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6257925" y="2711797"/>
            <a:ext cx="23812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bonus 10 after 50 steps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8772525" y="2711797"/>
                <a:ext cx="30670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0.99</m:t>
                          </m:r>
                        </m:e>
                        <m:sup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6.1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Discounting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 success that comes sooner is worth more — together with the −0.01 time penalty, this is why RL learns to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finish faster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than the expert.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τ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one trajectory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produced by running the policy.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13 · Return: Adding Up Future Rewards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91148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76925" y="1428750"/>
            <a:ext cx="38100" cy="150167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How good is a state? The return the policy can expect from there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76375"/>
                <a:ext cx="5334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891903"/>
                <a:ext cx="5334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Bellman equation (from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+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γ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G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248049"/>
                <a:ext cx="5334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γ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663577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Temporal-difference (TD) error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095923"/>
                <a:ext cx="5105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667423"/>
                <a:ext cx="5353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δ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step went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better than the critic expected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048375" y="1428750"/>
            <a:ext cx="5924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critic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48375" y="1687711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the critic V_psi(s) is another network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48375" y="1888480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trained by regression on the returns: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48375" y="2089249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lv = ((model.value(Ob[idx]) - RET[idx])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48375" y="249078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TD error inside GAE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48375" y="2691557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delta = R[t] + gamma * nv * (1 - DONE[t]) - V[t]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Episode end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after success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no future value. A time-out is not an end,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added back (bootstrap).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14 · Value Function and Bellman Equation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220367"/>
            <a:ext cx="38100" cy="850553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592264"/>
            <a:ext cx="1181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00175" y="3592264"/>
            <a:ext cx="4152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006155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175" y="4006155"/>
            <a:ext cx="4152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4413200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00175" y="4413200"/>
            <a:ext cx="4152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76925" y="1428750"/>
            <a:ext cx="38100" cy="1702445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Was this action better or worse than what the policy usually does in this state?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1476375"/>
                <a:ext cx="5334000" cy="34022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219075" y="1892796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Generalized Advantage Estimation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2325142"/>
                <a:ext cx="5105400" cy="6410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</m:e>
                      </m:nary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3289995"/>
                <a:ext cx="1047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λ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1400175" y="3289995"/>
            <a:ext cx="40195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Estimate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3687514"/>
            <a:ext cx="1047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0175" y="3687514"/>
            <a:ext cx="40195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one-step TD: low variance, biased by the critic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075" y="4091880"/>
            <a:ext cx="10477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400175" y="4091880"/>
                <a:ext cx="40195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full return −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unbiased, noisy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219075" y="4498925"/>
            <a:ext cx="1047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0.95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0175" y="4498925"/>
            <a:ext cx="4019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usual compromise (used here)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48375" y="1428750"/>
            <a:ext cx="5924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GAE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48375" y="1687711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t in reversed(range(n_steps)):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48375" y="1888480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nv = v_next if t == n_steps - 1 else V[t + 1]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48375" y="2089249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delta = R[t] + gamma * nv * (1 - DONE[t]) - V[t]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48375" y="229001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g = delta + gamma * lam * (1 - DONE[t]) *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48375" y="2490788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adv[t] =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48375" y="2691557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 = ADV + torch.cat(V)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critic target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48375" y="2892326"/>
            <a:ext cx="5924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ADV = (ADV - ADV.mean()) / (ADV.std() + 1e-8)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15 · Advantage and GAE</a:t>
            </a:r>
          </a:p>
        </p:txBody>
      </p:sp>
      <p:pic>
        <p:nvPicPr>
          <p:cNvPr id="32" name="Picture 3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145780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67425" y="1428750"/>
            <a:ext cx="38100" cy="150167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Make better-than-usual actions more likely, and worse-than-usual ones less likely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5524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Gaussian policy for continuous actions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5524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71849"/>
                <a:ext cx="5524500" cy="57016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log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μ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ϕ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  <m:s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const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18209"/>
            <a:ext cx="5524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Policy-gradient theorem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250555"/>
                <a:ext cx="529590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∇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log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47356"/>
                <a:ext cx="5543550" cy="62195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acc>
                      <m:accPr>
                        <m:chr m:val="̂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move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toward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the tried action.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acc>
                      <m:accPr>
                        <m:chr m:val="̂"/>
                      </m:accPr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move it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away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38875" y="1428750"/>
            <a:ext cx="5734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38875" y="1687711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policy_dist(model, o):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38875" y="1888480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torch.distributions.Normal(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8875" y="2089249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model.mean(o), model.log_std.exp())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8875" y="2490788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training: sample -&gt; exploration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38875" y="2691557"/>
            <a:ext cx="5734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evaluation: use model.mean(o)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Compare with BC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BC pulls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toward the </a:t>
                </a:r>
                <a:r>
                  <a:rPr lang="en-US" sz="1800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expert's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action; policy gradient pulls it toward the </a:t>
                </a:r>
                <a:r>
                  <a:rPr lang="en-US" sz="1800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agent's own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actions,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weighted by how well they worked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16 · Policy Gradient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05475" y="1447800"/>
            <a:ext cx="6248400" cy="685800"/>
          </a:xfrm>
          <a:prstGeom prst="roundRect">
            <a:avLst>
              <a:gd name="adj" fmla="val 19444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05475" y="2286000"/>
            <a:ext cx="6248400" cy="685800"/>
          </a:xfrm>
          <a:prstGeom prst="roundRect">
            <a:avLst>
              <a:gd name="adj" fmla="val 19444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05475" y="3124200"/>
            <a:ext cx="6248400" cy="685800"/>
          </a:xfrm>
          <a:prstGeom prst="roundRect">
            <a:avLst>
              <a:gd name="adj" fmla="val 19444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05475" y="3962400"/>
            <a:ext cx="6248400" cy="685800"/>
          </a:xfrm>
          <a:prstGeom prst="roundRect">
            <a:avLst>
              <a:gd name="adj" fmla="val 19444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917329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987850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81175" y="3987850"/>
            <a:ext cx="3581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4421684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1175" y="4421684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Reuse each batch for several updates — but never move the policy too far at once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1476375"/>
                <a:ext cx="5143500" cy="61882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p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PG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ρ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171402"/>
                <a:ext cx="5162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At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its gradient is exactly the policy gradient of Step 16.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447675" y="3022104"/>
                <a:ext cx="491490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e>
                        <m:sup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clip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ε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ε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3685580"/>
            <a:ext cx="142875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Case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781175" y="3685580"/>
                <a:ext cx="34480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Effect of the clip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ε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0.2</m:t>
                    </m:r>
                  </m:oMath>
                </a14:m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4083100"/>
                <a:ext cx="1428750" cy="27190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̂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&gt;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781175" y="4083100"/>
                <a:ext cx="3448050" cy="27190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stop raising the probability once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1.2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19075" y="4507409"/>
                <a:ext cx="1428750" cy="2623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̂"/>
                        </m:accPr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1781175" y="4507409"/>
                <a:ext cx="3448050" cy="26238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stop lowering it once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0.8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8265170" y="1511945"/>
            <a:ext cx="112886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1. Collect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17656" y="1835795"/>
            <a:ext cx="1824038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64 envs × 128 steps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13403" y="2331839"/>
            <a:ext cx="83254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2. GAE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8361462" y="2655689"/>
                <a:ext cx="936278" cy="2701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a:rPr lang="en-US" sz="1707" dirty="0">
                                <a:solidFill>
                                  <a:srgbClr val="111111"/>
                                </a:solidFill>
                                <a:latin typeface="Cambria Math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returns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TextBox 24"/>
          <p:cNvSpPr txBox="1"/>
          <p:nvPr/>
        </p:nvSpPr>
        <p:spPr>
          <a:xfrm>
            <a:off x="7492603" y="3171081"/>
            <a:ext cx="267414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3. Update × 10 epochs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7817793" y="3494931"/>
                <a:ext cx="2023765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actor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L</m:t>
                        </m:r>
                      </m:e>
                      <m:sup>
                        <m:r>
                          <m:rPr>
                            <m:nor/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clip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+ critic MSE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8265170" y="4006602"/>
            <a:ext cx="112901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4. Repeat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8392418" y="4330452"/>
                <a:ext cx="874365" cy="273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old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the clip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bad, too-large update can destroy a policy that works — critical when we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start from the BC policy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17 · From Policy Gradient to PPO</a:t>
            </a:r>
          </a:p>
        </p:txBody>
      </p:sp>
      <p:pic>
        <p:nvPicPr>
          <p:cNvPr id="32" name="Picture 3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57925" y="211782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20025" y="211782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82125" y="2117824"/>
            <a:ext cx="2590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57925" y="2531715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20025" y="2531715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82125" y="2531715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can only improve what it has tried — success has to happen at least sometimes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Sparse vs. shaped reward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1756321"/>
            <a:ext cx="5734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Sparse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+10 only at success. A random pusher practically never aligns the T within 0.15 m and 10° → no learning signal.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2808536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Shaped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10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every step. Potential-based, so the best policy is unchanged (Ng et al., 1999).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 we measured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57925" y="1822996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Start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20025" y="1822996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Before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82125" y="1822996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After PPO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7925" y="2213074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random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20025" y="2213074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82125" y="2213074"/>
            <a:ext cx="24574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0 % (16.4M steps)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57925" y="2617440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20025" y="2617440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82125" y="2617440"/>
            <a:ext cx="2457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80–82 % (6M)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57925" y="3012281"/>
            <a:ext cx="5715000" cy="452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From scratch the return rose −14 → −2.4: the T moved closer, but the final alignment was never discovered.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Key idea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demonstrations solve exploration; RL then optimizes the reward.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Imitation and RL are complementary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not competitors.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 18 · Exploration and Reward Shaping</a:t>
            </a:r>
          </a:p>
        </p:txBody>
      </p:sp>
      <p:pic>
        <p:nvPicPr>
          <p:cNvPr id="26" name="Picture 2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8382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2780854"/>
            <a:ext cx="2895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14675" y="27808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05525" y="2780854"/>
            <a:ext cx="5867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194745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4675" y="3194745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5525" y="3194745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594348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4675" y="359434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5525" y="3594348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needs no demonstrations — only a reward and a great deal of trial and error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1533525"/>
                <a:ext cx="1152525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physics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nary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2486025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14675" y="24860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Starting point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5525" y="2486025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 (50 unseen tasks, no exploration noise)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2876104"/>
            <a:ext cx="2762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A. RL from scratch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4675" y="2876104"/>
            <a:ext cx="2857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random network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05525" y="2876104"/>
            <a:ext cx="5734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 steps (2.5 h): </a:t>
            </a: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280470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14675" y="3280470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05525" y="3280470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42 % → 74 % (3M)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80 %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(6M, 80 min)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680073"/>
            <a:ext cx="2762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Scripted expert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14675" y="3680073"/>
            <a:ext cx="2857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hand-written rules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05525" y="3680073"/>
            <a:ext cx="5734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A fails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needs a long sequence — choose a contact, go around, push, align. Random motion almost never completes it, so the success bonus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never observed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(the exploration problem).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B works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imitation already succeeds about half the time; RL only has to polish behaviour that works.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From Imitation to Reinforcement Learning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1652"/>
            <a:ext cx="38100" cy="88552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Turn "how far is the task from done" into one number, and reward every step of progress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42875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Remaining cost (1 rad ≈ 0.3 m)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56321"/>
                <a:ext cx="1175385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0.3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408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per step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6427"/>
                <a:ext cx="11525250" cy="6759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progress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far from T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0.01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time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cr m:val="double-struck"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[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success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]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bonus</m:t>
                          </m:r>
                        </m:lim>
                      </m:limLow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539579"/>
                <a:ext cx="5734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Potential-based shaping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progress term sums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10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a signal every step, without changing the optimal policy.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257925" y="3539579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Episode end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success is terminal; at 300 steps it is truncated and bootstrapped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Side effect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time penalty makes RL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finish faster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than the expert, which has no such pressure.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Design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875086"/>
            <a:ext cx="38100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short functions — the RL training loop calls them once per environment step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76375"/>
                <a:ext cx="4953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0.3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979861"/>
                <a:ext cx="4724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0.02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370386"/>
                <a:ext cx="4724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success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941886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positive when the T moved closer to the goal pose.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687812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wrap_angle keeps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359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counts as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task_cost · reward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task_cost(sim):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float(np.linalg.norm(sim.T.pos - sim.goal_pos)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+ 0.3 * abs(wrap_angle(sim.T.angle - sim.goal_angle)))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reward(c_before, c_after, sim, success):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dist_pt = float(np.linalg.norm(sim.pusher.pos - sim.T.pos))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(10.0 * (c_before - c_after)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- 0.02 * max(dist_pt - 1.0, 0.0)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- 0.01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+ (10.0 if success else 0.0))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Reward: Equation ↔ Code</a:t>
            </a:r>
          </a:p>
        </p:txBody>
      </p:sp>
      <p:pic>
        <p:nvPicPr>
          <p:cNvPr id="22" name="Picture 2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63304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38925" y="1790254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15275" y="1790254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58375" y="1790254"/>
            <a:ext cx="2114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8925" y="2204145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15275" y="2204145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58375" y="2204145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8925" y="2611189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15275" y="2611189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58375" y="2611189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38925" y="3018234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5275" y="3018234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8375" y="3018234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Collect 8,192 steps, estimate advantages, update for 10 epochs — repeat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075" y="1428750"/>
                <a:ext cx="6096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Advantage (GAE),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γ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0.99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 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λ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0.95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84896"/>
                <a:ext cx="6096000" cy="6410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</m:e>
                      </m:nary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p>
                      </m:sSu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075" y="2502098"/>
                <a:ext cx="6096000" cy="28500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Clipped objective,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old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2968079"/>
                <a:ext cx="586740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0.8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1.2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3564880"/>
                <a:ext cx="6115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Gaussian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sample while training, use the mean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evaluation.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7915275" y="1495425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A. scratch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58375" y="1495425"/>
            <a:ext cx="1981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38925" y="1885504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5275" y="1885504"/>
            <a:ext cx="1809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 × 256 tanh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58375" y="1885504"/>
            <a:ext cx="1981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MLP-BC net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638925" y="2289870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Initial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7915275" y="2289870"/>
            <a:ext cx="18097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58375" y="2289870"/>
            <a:ext cx="1981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0.03 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925" y="2696914"/>
            <a:ext cx="1143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 lr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7915275" y="2696914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858375" y="2696914"/>
                <a:ext cx="1981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638925" y="3103959"/>
            <a:ext cx="114300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Critic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5275" y="3103959"/>
            <a:ext cx="1809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58375" y="3103959"/>
            <a:ext cx="2000250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new, 10 warm-up updates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 B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clipping, a small learning rate and small noise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protect the working BC policy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from being destroyed early 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PPO: Small, Clipped Policy Updates</a:t>
            </a:r>
          </a:p>
        </p:txBody>
      </p:sp>
      <p:pic>
        <p:nvPicPr>
          <p:cNvPr id="38" name="Picture 3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65239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19675" y="1428750"/>
            <a:ext cx="38100" cy="330859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GAE runs backwards through the rollout; the clipped loss is one line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Advantage, backwards in time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46846"/>
                <a:ext cx="4476750" cy="3146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537668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Clipped surrogate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970014"/>
                <a:ext cx="424815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0.8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1.2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566815"/>
                <a:ext cx="447675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exp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log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log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191125" y="142875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train loop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1125" y="168771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t in reversed(range(n_steps)):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GAE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1125" y="188848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nv = v_next if t == n_steps - 1 else V[t + 1]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1125" y="208924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delta = R[t] + gamma * nv * (1 - DONE[t]) - V[t]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1125" y="229001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g = delta + gamma * lam * (1 - DONE[t]) *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91125" y="249078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adv[t] =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1125" y="269155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 = ADV + torch.cat(V)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critic target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1125" y="3093095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_ in range(10):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PPO epochs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1125" y="329386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...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1125" y="349463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lv = ((model.value(Ob[idx]) - RET[idx])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91125" y="369540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it &gt;= critic_warmup: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1125" y="389617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ratio = (policy_dist(model, Ob[idx]).log_prob(Ab[idx])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91125" y="409694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.sum(-1) - LPb[idx]).exp()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1125" y="429771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la = -torch.min(ratio * ADV[idx],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91125" y="449847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   ratio.clamp(0.8, 1.2) * ADV[idx]).mean()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PPO: Equation ↔ Code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4312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747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43575" y="1962150"/>
            <a:ext cx="533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3494187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7072" y="3494187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893790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07072" y="3893790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4293394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7072" y="4293394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7925" y="347037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82025" y="3470374"/>
            <a:ext cx="1181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63125" y="3470374"/>
            <a:ext cx="2209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7925" y="388426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82025" y="3884265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3125" y="3884265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7925" y="4283869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82025" y="4283869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3125" y="4283869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267450" y="18764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Pure-Python physics is slow, so 64 environments run at once on 16 CPU processes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22414" y="1721495"/>
            <a:ext cx="1622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Main process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0541" y="2045345"/>
            <a:ext cx="302656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policy for 64 observations at once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54751" y="1721495"/>
            <a:ext cx="2406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16 workers × 4 envs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0251" y="2045345"/>
            <a:ext cx="2495848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physics, auto-reset on done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Benchmark (idle CPU, 20 cores)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3185071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Steps per PPO iteration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07072" y="3185071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× 128 = 8,192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075" y="3579912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Rollout (physics 3.09 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07072" y="3579912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3.79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3979515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PPO update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7072" y="3979515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1.91 s (33 %)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4379119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Env steps /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07072" y="4379119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2,159 rollout ·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1,437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total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wall-clock (from logs)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57925" y="3175546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2025" y="3175546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63125" y="3175546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57925" y="356562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82025" y="3565624"/>
            <a:ext cx="1047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63125" y="3565624"/>
            <a:ext cx="20764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147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57925" y="396999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2025" y="3969990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→ 6M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63125" y="3969990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57925" y="4369594"/>
            <a:ext cx="2190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 resumed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82025" y="4369594"/>
            <a:ext cx="1047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 → 12M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63125" y="4369594"/>
            <a:ext cx="2076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Backend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CPU multiprocessing (fork + Pipe); the network also runs on the CPU. One environment alone would be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≈ 64× slower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Parallel Simulation</a:t>
            </a:r>
          </a:p>
        </p:txBody>
      </p:sp>
      <p:pic>
        <p:nvPicPr>
          <p:cNvPr id="51" name="Picture 5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667500" cy="4075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Starting from imitation turns an unsolvable exploration problem into fine-tuning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6696" y="5561856"/>
            <a:ext cx="521225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Training success with exploration noise (tutorial/checkpoints/rl/*/train_log*.txt)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0425" y="1428750"/>
            <a:ext cx="47625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From scratch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return improved −14 → −2.4, the T moves toward the goal, but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exploration noise collapsed 0.6 → 0.03.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0425" y="2480965"/>
            <a:ext cx="47625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RL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0.44 → 0.88 in 6M steps, then a plateau at 0.87–0.90.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demonstrations solve exploration; RL then optimizes what imitation cannot — the reward itself.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RL from Scratch vs BC → RL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15175" y="179025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39275" y="1790254"/>
            <a:ext cx="9429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82250" y="1790254"/>
            <a:ext cx="15906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5175" y="220414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39275" y="220414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82250" y="220414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5175" y="2603748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39275" y="2603748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82250" y="2603748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5175" y="3003352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39275" y="3003352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2250" y="3003352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5175" y="340295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39275" y="340295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82250" y="340295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15175" y="3810000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9275" y="3810000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82250" y="3810000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l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572250" cy="26375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100 unseen tasks, same start, 300 steps, deterministic actions for every policy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10308" y="4123432"/>
            <a:ext cx="398978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pusht_rl_eval.py → tutorial/eval_results/paired_*.csv / .json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5175" y="1495425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vs BC+PPO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39275" y="1495425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6M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82250" y="1495425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12M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5175" y="188550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succeed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39275" y="1885504"/>
            <a:ext cx="8096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82250" y="1885504"/>
            <a:ext cx="14573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5175" y="228987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scripted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39275" y="2289870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82250" y="2289870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15175" y="2689473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39275" y="2689473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82250" y="2689473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15175" y="3089077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fail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39275" y="3089077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82250" y="3089077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115175" y="3488680"/>
                <a:ext cx="2190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McNemar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9" name="TextBox 38"/>
          <p:cNvSpPr txBox="1"/>
          <p:nvPr/>
        </p:nvSpPr>
        <p:spPr>
          <a:xfrm>
            <a:off x="9439275" y="3488680"/>
            <a:ext cx="8096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82250" y="3488680"/>
            <a:ext cx="14573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0.064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15175" y="3895725"/>
            <a:ext cx="2190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median steps*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39275" y="3895725"/>
            <a:ext cx="828675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136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107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82250" y="3895725"/>
            <a:ext cx="1457325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139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15175" y="4528245"/>
            <a:ext cx="485775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* on seeds both solved: scripted → BC+PPO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statistically tied with the expert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BC+PPO is about 3–4 s faster on the same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Paired Evaluation on Seeds 0–99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training made the policy faster, not more successful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Measured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756321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Within noise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at 82 %, one standard error is about ±4 points with 100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250224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6M → 12M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82 % → 77 %, mean time 12.0 s → 11.1 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3248174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Plateau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training success stayed at 0.87–0.90 with noise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0.005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3994100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Best checkpoint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6M, not the newest 12M.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Likely structural limits (not yet tested)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1756321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 information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12 inputs vs. the expert's full state and memory.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257925" y="2502247"/>
                <a:ext cx="5715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Conservative updates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clipping, small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57925" y="2941886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Reward ≠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angle weighted 0.3; success needs 0.15 m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10°.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7925" y="3687812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step at a time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BC drops 54 % → 34 % without chunks.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Not a ceiling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RL optimizes the reward, not imitation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align the reward with the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 push further.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BC+PPO Stops Near the Expert</a:t>
            </a:r>
          </a:p>
        </p:txBody>
      </p:sp>
      <p:pic>
        <p:nvPicPr>
          <p:cNvPr id="16" name="Picture 1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81925" y="1756321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81925" y="2086719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81925" y="2417118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81925" y="2747516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81925" y="3077914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239000" cy="4219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pusht_rl_realtime.py — every panel replays the same random task live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2211" y="5705177"/>
            <a:ext cx="515257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Seed 30: script 8.7 s · BC→RL 6.4 / 6.2 s · BC and RL-from-scratch time out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1925" y="1428750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6225" y="1775371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cd tutorial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6225" y="2105769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6225" y="2436168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 script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96225" y="2766566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pusht_rl.py eval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96225" y="3096964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pusht_rl_eval.py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81925" y="3484513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Keys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81925" y="3812084"/>
            <a:ext cx="4191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Space pause · N next task · + / − speed · Q quit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Real-Time Demo: Five Policies, One Task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90675" y="1790254"/>
            <a:ext cx="5467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8025" y="1790254"/>
            <a:ext cx="4914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90675" y="2204145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58025" y="2204145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1189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90675" y="2611189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8025" y="2611189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10793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0675" y="3010793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8025" y="3010793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10396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90675" y="3410396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58025" y="3410396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10000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0675" y="3810000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58025" y="3810000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09604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90675" y="4209604"/>
            <a:ext cx="5467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58025" y="4209604"/>
            <a:ext cx="4914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From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∑</m:t>
                    </m:r>
                    <m:r>
                      <m:rPr>
                        <m:sty m:val="bi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F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bi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to a policy that beats the expert's speed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219075" y="149542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90675" y="1495425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Idea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58025" y="1495425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Where in the code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885504"/>
            <a:ext cx="1238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1–3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90675" y="1885504"/>
            <a:ext cx="5334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Newton in discrete time, damping, rigid-body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58025" y="1885504"/>
            <a:ext cx="47815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substep, TBody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2289870"/>
            <a:ext cx="1238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4–6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1590675" y="2289870"/>
                <a:ext cx="5334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contact-point velocity, impulse, restitution,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7058025" y="2289870"/>
            <a:ext cx="4781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resolve_impulse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696914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90675" y="2696914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simulation loop with contact detection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58025" y="2696914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circle_vs_T, wall_contacts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096518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8–11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90675" y="3096518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policy, supervised learning, MLP, behavior cloning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58025" y="3096518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BCPolicy, train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496121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590675" y="3496121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multimodality → Diffusion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58025" y="3496121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075" y="389572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12–15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90675" y="3895725"/>
            <a:ext cx="5334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MDP, return, value, advantage (GAE)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58025" y="3895725"/>
            <a:ext cx="47815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pusht_rl.py: reward, GAE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4295329"/>
            <a:ext cx="1238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16–18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90675" y="4295329"/>
            <a:ext cx="5334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policy gradient, PPO, exploration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058025" y="4295329"/>
            <a:ext cx="47815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pusht_rl.py: PPO loop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scripted 87 % · BC 54 % · BC+PPO 82 % on the same 100 unseen tasks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tied with the expert in success, 3–4 s faster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The Whole Chain, Step by Step</a:t>
            </a:r>
          </a:p>
        </p:txBody>
      </p:sp>
      <p:pic>
        <p:nvPicPr>
          <p:cNvPr id="51" name="Picture 5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47675" y="1438275"/>
                <a:ext cx="11525250" cy="3592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Imitation learning = supervised learning 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successful demonstrations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" name="TextBox 3"/>
          <p:cNvSpPr txBox="1"/>
          <p:nvPr/>
        </p:nvSpPr>
        <p:spPr>
          <a:xfrm>
            <a:off x="466725" y="1831925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75" y="1831925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frame (relative motion) and action offsets matter as much as the model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25102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25102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Data: about 100 demos for Diffusion Policy; collect 100–200 human demos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0182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701826"/>
                <a:ext cx="1152525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Model: MSE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double-struck"/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[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</a:t>
                </a:r>
                <a:r>
                  <a:rPr lang="en-US" sz="20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Diffusion learns the distribution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handles multimodality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466725" y="3095476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75" y="3095476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Measured: Diffusion 20–68 % vs MLP-BC 9–59 % (25–360 demos)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5145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5145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scratch: 0 % after 16M steps — the exploration problem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/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725" y="3889177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4375" y="3889177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PPO: 54 % → 82 % on seeds 0–99, tied with the expert (87 %) and 3–4 s faster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gives the data, imitation gives the start, RL gives the polish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Summary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675" y="14382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data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collect 50, then 100 demos — does the Diffusion vs MLP-BC gap grow?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8125" y="18890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18890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goal frame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train in world coordinates — how much success is lost?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3398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3398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vary the prediction / execution horizons (1, 4, 8, 16)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906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675" y="27906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History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observation frame — which mistakes appear without velocity?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8125" y="32414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75" y="32414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DAgger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record your corrections in the viewer and retrain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6922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6922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Robustness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evaluate with friction 0.2 instead of 0.4 — think domain randomization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125" y="41430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675" y="41430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put the 0.15 m / 10° test into the reward — does BC+PPO pass the expert?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Exercises with the tutorial code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Try It Yourself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2026-09-06T07:57:28Z</dcterms:created>
  <dcterms:modified xsi:type="dcterms:W3CDTF">2026-09-06T07:57:28Z</dcterms:modified>
</cp:coreProperties>
</file>