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38138" y="562928"/>
            <a:ext cx="11515725" cy="78581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8138" y="6321742"/>
            <a:ext cx="11515725" cy="78581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mwu-mark-whit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0246995" y="4390072"/>
            <a:ext cx="1314450" cy="131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84450" y="2291060"/>
            <a:ext cx="6232475" cy="10102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marL="0" indent="0">
              <a:lnSpc>
                <a:spcPts val="3978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Pretendard"/>
                <a:ea typeface="Malgun Gothic"/>
                <a:cs typeface="Pretendard"/>
              </a:rPr>
              <a:t>Engineering Dynamics:</a:t>
            </a:r>
            <a:endParaRPr lang="en-US" sz="3900" b="1" dirty="0">
              <a:solidFill>
                <a:srgbClr val="FFFFFF"/>
              </a:solidFill>
              <a:latin typeface="Pretendard"/>
              <a:ea typeface="Malgun Gothic"/>
              <a:cs typeface="Pretendard"/>
            </a:endParaRPr>
          </a:p>
          <a:p>
            <a:pPr algn="ctr" marL="0" indent="0">
              <a:lnSpc>
                <a:spcPts val="3978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Pretendard"/>
                <a:ea typeface="Malgun Gothic"/>
                <a:cs typeface="Pretendard"/>
              </a:rPr>
              <a:t>Particles and Rigid Bodies</a:t>
            </a:r>
            <a:endParaRPr lang="en-US" sz="3900" b="1" dirty="0">
              <a:solidFill>
                <a:srgbClr val="FFFFFF"/>
              </a:solidFill>
              <a:latin typeface="Pretendard"/>
              <a:ea typeface="Malgun Gothic"/>
              <a:cs typeface="Pretendar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8138" y="3990975"/>
            <a:ext cx="9144000" cy="3351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retendard"/>
                <a:ea typeface="Malgun Gothic"/>
                <a:cs typeface="Pretendard"/>
              </a:rPr>
              <a:t>Department of Mechanical Engineering</a:t>
            </a:r>
            <a:endParaRPr lang="en-US" sz="2400" b="1" dirty="0">
              <a:solidFill>
                <a:srgbClr val="FFFFFF"/>
              </a:solidFill>
              <a:latin typeface="Pretendard"/>
              <a:ea typeface="Malgun Gothic"/>
              <a:cs typeface="Pretendar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138" y="4345186"/>
            <a:ext cx="9144000" cy="3351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retendard"/>
                <a:ea typeface="Malgun Gothic"/>
                <a:cs typeface="Pretendard"/>
              </a:rPr>
              <a:t>2026.09.30 (Wed)</a:t>
            </a:r>
            <a:endParaRPr lang="en-US" sz="2400" b="1" dirty="0">
              <a:solidFill>
                <a:srgbClr val="FFFFFF"/>
              </a:solidFill>
              <a:latin typeface="Pretendard"/>
              <a:ea typeface="Malgun Gothic"/>
              <a:cs typeface="Pretendar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8138" y="4699397"/>
            <a:ext cx="9144000" cy="3351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retendard"/>
                <a:ea typeface="Malgun Gothic"/>
                <a:cs typeface="Pretendard"/>
              </a:rPr>
              <a:t>Joo Yong Sim</a:t>
            </a:r>
            <a:endParaRPr lang="en-US" sz="2400" b="1" dirty="0">
              <a:solidFill>
                <a:srgbClr val="FFFFFF"/>
              </a:solidFill>
              <a:latin typeface="Pretendard"/>
              <a:ea typeface="Malgun Gothic"/>
              <a:cs typeface="Pretend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8138" y="5715000"/>
            <a:ext cx="9525000" cy="26997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126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Core summary of J. L. Meriam &amp; L. G. Kraige, </a:t>
            </a:r>
            <a:r>
              <a:rPr lang="en-US" sz="1575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Engineering Mechanics: Dynamics</a:t>
            </a:r>
            <a:endParaRPr lang="en-US" sz="1575" i="1" dirty="0">
              <a:solidFill>
                <a:srgbClr val="FFFFFF"/>
              </a:solidFill>
              <a:latin typeface="Arial"/>
              <a:ea typeface="Malgun Gothic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19125" y="1504950"/>
            <a:ext cx="4724400" cy="1181100"/>
          </a:xfrm>
          <a:prstGeom prst="roundRect">
            <a:avLst>
              <a:gd name="adj" fmla="val 11290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657975" y="1504950"/>
            <a:ext cx="4914900" cy="1181100"/>
          </a:xfrm>
          <a:prstGeom prst="roundRect">
            <a:avLst>
              <a:gd name="adj" fmla="val 11290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" y="3562350"/>
            <a:ext cx="3200400" cy="1028700"/>
          </a:xfrm>
          <a:prstGeom prst="roundRect">
            <a:avLst>
              <a:gd name="adj" fmla="val 12962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95800" y="3562350"/>
            <a:ext cx="3200400" cy="1028700"/>
          </a:xfrm>
          <a:prstGeom prst="roundRect">
            <a:avLst>
              <a:gd name="adj" fmla="val 12962"/>
            </a:avLst>
          </a:prstGeom>
          <a:solidFill>
            <a:srgbClr val="E4F4E4"/>
          </a:solidFill>
          <a:ln w="38100">
            <a:solidFill>
              <a:srgbClr val="3D8C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72475" y="3562350"/>
            <a:ext cx="3200400" cy="1028700"/>
          </a:xfrm>
          <a:prstGeom prst="roundRect">
            <a:avLst>
              <a:gd name="adj" fmla="val 12962"/>
            </a:avLst>
          </a:prstGeom>
          <a:solidFill>
            <a:srgbClr val="EADCF5"/>
          </a:solidFill>
          <a:ln w="38100">
            <a:solidFill>
              <a:srgbClr val="6D23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77325" y="2705100"/>
            <a:ext cx="76200" cy="4191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81225" y="3048000"/>
            <a:ext cx="782955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81225" y="3048000"/>
            <a:ext cx="76200" cy="304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57900" y="3048000"/>
            <a:ext cx="76200" cy="304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34575" y="3048000"/>
            <a:ext cx="76200" cy="304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95500" y="3333750"/>
            <a:ext cx="123825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72175" y="3333750"/>
            <a:ext cx="123825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48850" y="3333750"/>
            <a:ext cx="123825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34050" y="1828800"/>
            <a:ext cx="533400" cy="533400"/>
          </a:xfrm>
          <a:prstGeom prst="ellipse">
            <a:avLst/>
          </a:prstGeom>
          <a:noFill/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095500" y="3333750"/>
            <a:ext cx="247650" cy="161925"/>
          </a:xfrm>
          <a:custGeom>
            <a:avLst/>
            <a:gdLst/>
            <a:ahLst/>
            <a:cxnLst/>
            <a:rect l="l" t="t" r="r" b="b"/>
            <a:pathLst>
              <a:path w="247650" h="161925">
                <a:moveTo>
                  <a:pt x="0" y="0"/>
                </a:moveTo>
                <a:lnTo>
                  <a:pt x="247650" y="0"/>
                </a:lnTo>
                <a:lnTo>
                  <a:pt x="123825" y="161925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5972175" y="3333750"/>
            <a:ext cx="247650" cy="161925"/>
          </a:xfrm>
          <a:custGeom>
            <a:avLst/>
            <a:gdLst/>
            <a:ahLst/>
            <a:cxnLst/>
            <a:rect l="l" t="t" r="r" b="b"/>
            <a:pathLst>
              <a:path w="247650" h="161925">
                <a:moveTo>
                  <a:pt x="0" y="0"/>
                </a:moveTo>
                <a:lnTo>
                  <a:pt x="247650" y="0"/>
                </a:lnTo>
                <a:lnTo>
                  <a:pt x="123825" y="161925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9848850" y="3333750"/>
            <a:ext cx="247650" cy="161925"/>
          </a:xfrm>
          <a:custGeom>
            <a:avLst/>
            <a:gdLst/>
            <a:ahLst/>
            <a:cxnLst/>
            <a:rect l="l" t="t" r="r" b="b"/>
            <a:pathLst>
              <a:path w="247650" h="161925">
                <a:moveTo>
                  <a:pt x="0" y="0"/>
                </a:moveTo>
                <a:lnTo>
                  <a:pt x="247650" y="0"/>
                </a:lnTo>
                <a:lnTo>
                  <a:pt x="123825" y="161925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Dynamics = Kinematics (how a body moves) + Kinetics (why it moves)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03562" y="1799481"/>
            <a:ext cx="135537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Kinematics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1429345" y="2123331"/>
                <a:ext cx="3103811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Geometry of motion: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bi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r</m:t>
                    </m:r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,</m:t>
                    </m:r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 </m:t>
                    </m:r>
                    <m:r>
                      <m:rPr>
                        <m:sty m:val="bi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v</m:t>
                    </m:r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,</m:t>
                    </m:r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 </m:t>
                    </m:r>
                    <m:r>
                      <m:rPr>
                        <m:sty m:val="bi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,</m:t>
                    </m:r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 </m:t>
                    </m:r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ω</m:t>
                    </m:r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,</m:t>
                    </m:r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 </m:t>
                    </m:r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α</m:t>
                    </m:r>
                  </m:oMath>
                </a14:m>
                <a:endParaRPr lang="en-US" sz="176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2" name="TextBox 21"/>
          <p:cNvSpPr txBox="1"/>
          <p:nvPr/>
        </p:nvSpPr>
        <p:spPr>
          <a:xfrm>
            <a:off x="5724525" y="1885950"/>
            <a:ext cx="552450" cy="552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marL="0" indent="0">
              <a:lnSpc>
                <a:spcPts val="2550"/>
              </a:lnSpc>
              <a:buNone/>
            </a:pPr>
            <a:r>
              <a:rPr lang="en-US" sz="255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+</a:t>
            </a:r>
            <a:endParaRPr lang="en-US" sz="255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21316" y="1816745"/>
            <a:ext cx="98821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Kinetics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61758" y="2140595"/>
            <a:ext cx="3907334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Forces and moments that cause the motion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40309" y="3780681"/>
            <a:ext cx="235788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Force–Acceleration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1790998" y="4104531"/>
                <a:ext cx="856655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∑</m:t>
                      </m:r>
                      <m:r>
                        <m:rPr>
                          <m:sty m:val="bi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m</m:t>
                      </m:r>
                      <m:r>
                        <m:rPr>
                          <m:sty m:val="bi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a</m:t>
                      </m:r>
                    </m:oMath>
                  </m:oMathPara>
                </a14:m>
                <a:endParaRPr lang="en-US" sz="176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7" name="TextBox 26"/>
          <p:cNvSpPr txBox="1"/>
          <p:nvPr/>
        </p:nvSpPr>
        <p:spPr>
          <a:xfrm>
            <a:off x="5279380" y="3780681"/>
            <a:ext cx="163309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Work–Energy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5401568" y="4104531"/>
                <a:ext cx="1388715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T</m:t>
                          </m:r>
                        </m:e>
                        <m:sub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U</m:t>
                          </m:r>
                        </m:e>
                        <m:sub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→</m:t>
                          </m:r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T</m:t>
                          </m:r>
                        </m:e>
                        <m:sub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76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9" name="TextBox 28"/>
          <p:cNvSpPr txBox="1"/>
          <p:nvPr/>
        </p:nvSpPr>
        <p:spPr>
          <a:xfrm>
            <a:off x="8744545" y="3775770"/>
            <a:ext cx="245611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Impulse–Momentum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9127331" y="4099620"/>
                <a:ext cx="1690539" cy="27786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m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∫</m:t>
                      </m:r>
                      <m:r>
                        <m:rPr>
                          <m:sty m:val="bi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F</m:t>
                      </m:r>
                      <m: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 </m:t>
                      </m:r>
                      <m: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d</m:t>
                      </m:r>
                      <m: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m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76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1" name="TextBox 30"/>
          <p:cNvSpPr txBox="1"/>
          <p:nvPr/>
        </p:nvSpPr>
        <p:spPr>
          <a:xfrm>
            <a:off x="219075" y="4972050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Particle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all mass concentrated at one point — size and rotation are ignored.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19075" y="5411688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Rigid body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finite size, no deformation —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rotation must always be included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19075" y="5851327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This lecture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apply kinematics and the three kinetics methods first to particles, then to rigid bodies.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Lecture Goals: What Dynamics Is About</a:t>
            </a:r>
          </a:p>
        </p:txBody>
      </p:sp>
      <p:pic>
        <p:nvPicPr>
          <p:cNvPr id="36" name="Picture 35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808559"/>
            <a:ext cx="2514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33675" y="1808559"/>
            <a:ext cx="4229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62775" y="1808559"/>
            <a:ext cx="50101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075" y="2250281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33675" y="2250281"/>
            <a:ext cx="4229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62775" y="2250281"/>
            <a:ext cx="50101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075" y="2677716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33675" y="2677716"/>
            <a:ext cx="4229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62775" y="2677716"/>
            <a:ext cx="50101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075" y="3105150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33675" y="3105150"/>
            <a:ext cx="4229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62775" y="3105150"/>
            <a:ext cx="50101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The same four tools apply to both models — rigid bodies add rotation to each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9075" y="1495425"/>
            <a:ext cx="2381250" cy="265509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2016"/>
              </a:lnSpc>
              <a:buNone/>
            </a:pPr>
            <a:r>
              <a:rPr lang="en-US" sz="1575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Topic</a:t>
            </a:r>
            <a:endParaRPr lang="en-US" sz="1575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33675" y="1495425"/>
            <a:ext cx="4095750" cy="265509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2016"/>
              </a:lnSpc>
              <a:buNone/>
            </a:pPr>
            <a:r>
              <a:rPr lang="en-US" sz="1575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Particle</a:t>
            </a:r>
            <a:endParaRPr lang="en-US" sz="1575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62775" y="1495425"/>
            <a:ext cx="4876800" cy="265509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2016"/>
              </a:lnSpc>
              <a:buNone/>
            </a:pPr>
            <a:r>
              <a:rPr lang="en-US" sz="1575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Rigid Body</a:t>
            </a:r>
            <a:endParaRPr lang="en-US" sz="1575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9075" y="1903809"/>
            <a:ext cx="2381250" cy="2797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2016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Kinematics</a:t>
            </a:r>
            <a:endParaRPr lang="en-US" sz="1575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33675" y="1903809"/>
            <a:ext cx="4095750" cy="2797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2016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Position, velocity, acceleration</a:t>
            </a:r>
            <a:endParaRPr lang="en-US" sz="1575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6962775" y="1903809"/>
                <a:ext cx="4876800" cy="27979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575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Translation + rotation (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681" dirty="0">
                        <a:solidFill>
                          <a:srgbClr val="000000"/>
                        </a:solidFill>
                        <a:latin typeface="Cambria Math"/>
                      </a:rPr>
                      <m:t>ω</m:t>
                    </m:r>
                    <m:r>
                      <m:rPr>
                        <m:sty m:val="p"/>
                      </m:rPr>
                      <a:rPr lang="en-US" sz="168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68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a:rPr lang="en-US" sz="1681" dirty="0">
                        <a:solidFill>
                          <a:srgbClr val="000000"/>
                        </a:solidFill>
                        <a:latin typeface="Cambria Math"/>
                      </a:rPr>
                      <m:t>α</m:t>
                    </m:r>
                  </m:oMath>
                </a14:m>
                <a:r>
                  <a:rPr lang="en-US" sz="1575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)</a:t>
                </a:r>
                <a:endParaRPr lang="en-US" sz="157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1" name="TextBox 20"/>
          <p:cNvSpPr txBox="1"/>
          <p:nvPr/>
        </p:nvSpPr>
        <p:spPr>
          <a:xfrm>
            <a:off x="219075" y="2336006"/>
            <a:ext cx="2381250" cy="2750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2016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Force–Acceleration</a:t>
            </a:r>
            <a:endParaRPr lang="en-US" sz="1575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2733675" y="2336006"/>
                <a:ext cx="4095750" cy="27503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1681" dirty="0">
                          <a:solidFill>
                            <a:srgbClr val="000000"/>
                          </a:solidFill>
                          <a:latin typeface="Cambria Math"/>
                        </a:rPr>
                        <m:t>∑</m:t>
                      </m:r>
                      <m:r>
                        <m:rPr>
                          <m:sty m:val="bi"/>
                        </m:rPr>
                        <a:rPr lang="en-US" sz="1681" dirty="0">
                          <a:solidFill>
                            <a:srgbClr val="000000"/>
                          </a:solidFill>
                          <a:latin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168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68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r>
                        <m:rPr>
                          <m:sty m:val="bi"/>
                        </m:rPr>
                        <a:rPr lang="en-US" sz="1681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</m:oMath>
                  </m:oMathPara>
                </a14:m>
                <a:endParaRPr lang="en-US" sz="1733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6962775" y="2336006"/>
                <a:ext cx="4876800" cy="27503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1681" dirty="0">
                          <a:solidFill>
                            <a:srgbClr val="000000"/>
                          </a:solidFill>
                          <a:latin typeface="Cambria Math"/>
                        </a:rPr>
                        <m:t>∑</m:t>
                      </m:r>
                      <m:r>
                        <m:rPr>
                          <m:sty m:val="bi"/>
                        </m:rPr>
                        <a:rPr lang="en-US" sz="1681" dirty="0">
                          <a:solidFill>
                            <a:srgbClr val="000000"/>
                          </a:solidFill>
                          <a:latin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168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68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168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68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8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68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r>
                        <m:rPr>
                          <m:sty m:val="p"/>
                        </m:rPr>
                        <a:rPr lang="en-US" sz="1681" dirty="0">
                          <a:solidFill>
                            <a:srgbClr val="000000"/>
                          </a:solidFill>
                          <a:latin typeface="Cambria Math"/>
                        </a:rPr>
                        <m:t>∑</m:t>
                      </m:r>
                      <m:sSub>
                        <m:e>
                          <m:r>
                            <a:rPr lang="en-US" sz="168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</m:t>
                          </m:r>
                        </m:e>
                        <m:sub>
                          <m:r>
                            <a:rPr lang="en-US" sz="168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8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168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168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a:rPr lang="en-US" sz="168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a:rPr lang="en-US" sz="1681" dirty="0">
                          <a:solidFill>
                            <a:srgbClr val="000000"/>
                          </a:solidFill>
                          <a:latin typeface="Cambria Math"/>
                        </a:rPr>
                        <m:t>α</m:t>
                      </m:r>
                    </m:oMath>
                  </m:oMathPara>
                </a14:m>
                <a:endParaRPr lang="en-US" sz="1733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4" name="TextBox 23"/>
          <p:cNvSpPr txBox="1"/>
          <p:nvPr/>
        </p:nvSpPr>
        <p:spPr>
          <a:xfrm>
            <a:off x="219075" y="2763441"/>
            <a:ext cx="2381250" cy="2750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2016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Work–Energy</a:t>
            </a:r>
            <a:endParaRPr lang="en-US" sz="1575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2733675" y="2763441"/>
                <a:ext cx="4095750" cy="27503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68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e>
                        <m:sub>
                          <m:r>
                            <a:rPr lang="en-US" sz="168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8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168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U</m:t>
                          </m:r>
                        </m:e>
                        <m:sub>
                          <m:r>
                            <a:rPr lang="en-US" sz="168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68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→</m:t>
                          </m:r>
                          <m:r>
                            <a:rPr lang="en-US" sz="168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8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168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e>
                        <m:sub>
                          <m:r>
                            <a:rPr lang="en-US" sz="168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733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6" name="TextBox 25"/>
          <p:cNvSpPr txBox="1"/>
          <p:nvPr/>
        </p:nvSpPr>
        <p:spPr>
          <a:xfrm>
            <a:off x="6962775" y="2763441"/>
            <a:ext cx="4876800" cy="2750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2016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Translational KE + rotational KE</a:t>
            </a:r>
            <a:endParaRPr lang="en-US" sz="1575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075" y="3190875"/>
            <a:ext cx="2381250" cy="2702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2016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Impulse–Momentum</a:t>
            </a:r>
            <a:endParaRPr lang="en-US" sz="1575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2733675" y="3190875"/>
                <a:ext cx="4095750" cy="27027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575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Linear momentum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681" dirty="0">
                        <a:solidFill>
                          <a:srgbClr val="000000"/>
                        </a:solidFill>
                        <a:latin typeface="Cambria Math"/>
                      </a:rPr>
                      <m:t>m</m:t>
                    </m:r>
                    <m:r>
                      <m:rPr>
                        <m:sty m:val="bi"/>
                      </m:rPr>
                      <a:rPr lang="en-US" sz="1681" dirty="0">
                        <a:solidFill>
                          <a:srgbClr val="000000"/>
                        </a:solidFill>
                        <a:latin typeface="Cambria Math"/>
                      </a:rPr>
                      <m:t>v</m:t>
                    </m:r>
                  </m:oMath>
                </a14:m>
                <a:endParaRPr lang="en-US" sz="1733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6962775" y="3190875"/>
                <a:ext cx="4876800" cy="27027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575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Linear momentum + angular momentum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68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a:rPr lang="en-US" sz="168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  <m:r>
                      <a:rPr lang="en-US" sz="1681" dirty="0">
                        <a:solidFill>
                          <a:srgbClr val="000000"/>
                        </a:solidFill>
                        <a:latin typeface="Cambria Math"/>
                      </a:rPr>
                      <m:t> </m:t>
                    </m:r>
                    <m:r>
                      <a:rPr lang="en-US" sz="1681" dirty="0">
                        <a:solidFill>
                          <a:srgbClr val="000000"/>
                        </a:solidFill>
                        <a:latin typeface="Cambria Math"/>
                      </a:rPr>
                      <m:t>ω</m:t>
                    </m:r>
                  </m:oMath>
                </a14:m>
                <a:endParaRPr lang="en-US" sz="1733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219075" y="5405735"/>
                <a:ext cx="117538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The key difference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a particle never rotates; a rigid body </a:t>
                </a:r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always carries rotation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— new quantities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ω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α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I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and one extra equation,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∑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M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 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α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1" name="TextBox 30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Strategy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master each tool on the particle first, then extend it by adding the rotational term.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(Meriam) Dynamics: The Big Picture</a:t>
            </a:r>
          </a:p>
        </p:txBody>
      </p:sp>
      <p:pic>
        <p:nvPicPr>
          <p:cNvPr id="34" name="Picture 33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3713262"/>
            <a:ext cx="38100" cy="849809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57925" y="1784896"/>
            <a:ext cx="38100" cy="148738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Velocity and acceleration are successive time derivatives of position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9075" y="142875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General definitions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1756321"/>
                <a:ext cx="5715000" cy="66139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bi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  <m:r>
                            <m:rPr>
                              <m:sty m:val="bi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num>
                        <m:den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m:rPr>
                          <m:sty m:val="bi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  <m:r>
                            <m:rPr>
                              <m:sty m:val="bi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num>
                        <m:den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p>
                            <m:e>
                              <m: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bi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num>
                        <m:den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  <m:sSup>
                            <m:e>
                              <m: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</m:e>
                            <m:sup>
                              <m: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39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7" name="TextBox 6"/>
          <p:cNvSpPr txBox="1"/>
          <p:nvPr/>
        </p:nvSpPr>
        <p:spPr>
          <a:xfrm>
            <a:off x="219075" y="2627263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Straight-line motion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9075" y="2954834"/>
                <a:ext cx="5715000" cy="62507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num>
                        <m:den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num>
                        <m:den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den>
                      </m:f>
                    </m:oMath>
                  </m:oMathPara>
                </a14:m>
                <a:endParaRPr lang="en-US" sz="239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47675" y="3825627"/>
                <a:ext cx="5486400" cy="62507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num>
                        <m:den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den>
                      </m:f>
                    </m:oMath>
                  </m:oMathPara>
                </a14:m>
                <a:endParaRPr lang="en-US" sz="239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19075" y="4715470"/>
                <a:ext cx="57340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Why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v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 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d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v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/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d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x</m:t>
                    </m:r>
                  </m:oMath>
                </a14:m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?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when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is given as a function of position, this form eliminates time.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257925" y="1428750"/>
                <a:ext cx="571500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Constant acceleration,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=</m:t>
                    </m:r>
                    <m:r>
                      <m:rPr>
                        <m:nor/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const</m:t>
                    </m:r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6486525" y="1897261"/>
                <a:ext cx="5486400" cy="36462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</m:oMath>
                  </m:oMathPara>
                </a14:m>
                <a:endParaRPr lang="en-US" sz="239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6486525" y="2338090"/>
                <a:ext cx="548640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nor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½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sSup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e>
                        <m:sup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39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6486525" y="2795290"/>
                <a:ext cx="5486400" cy="36462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p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p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Sup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39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257925" y="3424684"/>
                <a:ext cx="5715000" cy="9188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Warning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these three equations hold </a:t>
                </a:r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only when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FF0000"/>
                        </a:solidFill>
                        <a:latin typeface="Cambria Math"/>
                      </a:rPr>
                      <m:t>a</m:t>
                    </m:r>
                  </m:oMath>
                </a14:m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 is constant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 For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t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v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or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x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integrate the definitions directly.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6" name="Rectangle 1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Particle Kinematics: Rectilinear Motion</a:t>
            </a:r>
          </a:p>
        </p:txBody>
      </p:sp>
      <p:pic>
        <p:nvPicPr>
          <p:cNvPr id="18" name="Picture 17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922091"/>
            <a:ext cx="38100" cy="945207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496175" y="2583530"/>
            <a:ext cx="3810000" cy="2274220"/>
          </a:xfrm>
          <a:custGeom>
            <a:avLst/>
            <a:gdLst/>
            <a:ahLst/>
            <a:cxnLst/>
            <a:rect l="l" t="t" r="r" b="b"/>
            <a:pathLst>
              <a:path w="3810000" h="2274220">
                <a:moveTo>
                  <a:pt x="0" y="2274220"/>
                </a:moveTo>
                <a:lnTo>
                  <a:pt x="23853" y="2222448"/>
                </a:lnTo>
                <a:lnTo>
                  <a:pt x="48233" y="2170922"/>
                </a:lnTo>
                <a:lnTo>
                  <a:pt x="73145" y="2119652"/>
                </a:lnTo>
                <a:lnTo>
                  <a:pt x="98602" y="2068649"/>
                </a:lnTo>
                <a:lnTo>
                  <a:pt x="124606" y="2017924"/>
                </a:lnTo>
                <a:lnTo>
                  <a:pt x="151162" y="1967485"/>
                </a:lnTo>
                <a:lnTo>
                  <a:pt x="178284" y="1917348"/>
                </a:lnTo>
                <a:lnTo>
                  <a:pt x="205966" y="1867519"/>
                </a:lnTo>
                <a:lnTo>
                  <a:pt x="234227" y="1818015"/>
                </a:lnTo>
                <a:lnTo>
                  <a:pt x="263062" y="1768844"/>
                </a:lnTo>
                <a:lnTo>
                  <a:pt x="292481" y="1720020"/>
                </a:lnTo>
                <a:lnTo>
                  <a:pt x="322492" y="1671557"/>
                </a:lnTo>
                <a:lnTo>
                  <a:pt x="353095" y="1623467"/>
                </a:lnTo>
                <a:lnTo>
                  <a:pt x="384297" y="1575762"/>
                </a:lnTo>
                <a:lnTo>
                  <a:pt x="416104" y="1528459"/>
                </a:lnTo>
                <a:lnTo>
                  <a:pt x="448521" y="1481572"/>
                </a:lnTo>
                <a:lnTo>
                  <a:pt x="481550" y="1435113"/>
                </a:lnTo>
                <a:lnTo>
                  <a:pt x="515195" y="1389099"/>
                </a:lnTo>
                <a:lnTo>
                  <a:pt x="549459" y="1343545"/>
                </a:lnTo>
                <a:lnTo>
                  <a:pt x="584346" y="1298465"/>
                </a:lnTo>
                <a:lnTo>
                  <a:pt x="619858" y="1253877"/>
                </a:lnTo>
                <a:lnTo>
                  <a:pt x="655997" y="1209795"/>
                </a:lnTo>
                <a:lnTo>
                  <a:pt x="692767" y="1166237"/>
                </a:lnTo>
                <a:lnTo>
                  <a:pt x="730169" y="1123221"/>
                </a:lnTo>
                <a:lnTo>
                  <a:pt x="768200" y="1080760"/>
                </a:lnTo>
                <a:lnTo>
                  <a:pt x="806860" y="1038872"/>
                </a:lnTo>
                <a:lnTo>
                  <a:pt x="846154" y="997578"/>
                </a:lnTo>
                <a:lnTo>
                  <a:pt x="886077" y="956890"/>
                </a:lnTo>
                <a:lnTo>
                  <a:pt x="926627" y="916829"/>
                </a:lnTo>
                <a:lnTo>
                  <a:pt x="967803" y="877411"/>
                </a:lnTo>
                <a:lnTo>
                  <a:pt x="1009603" y="838655"/>
                </a:lnTo>
                <a:lnTo>
                  <a:pt x="1052019" y="800575"/>
                </a:lnTo>
                <a:lnTo>
                  <a:pt x="1095054" y="763194"/>
                </a:lnTo>
                <a:lnTo>
                  <a:pt x="1138695" y="726525"/>
                </a:lnTo>
                <a:lnTo>
                  <a:pt x="1182940" y="690585"/>
                </a:lnTo>
                <a:lnTo>
                  <a:pt x="1227784" y="655397"/>
                </a:lnTo>
                <a:lnTo>
                  <a:pt x="1273219" y="620973"/>
                </a:lnTo>
                <a:lnTo>
                  <a:pt x="1319234" y="587331"/>
                </a:lnTo>
                <a:lnTo>
                  <a:pt x="1365823" y="554487"/>
                </a:lnTo>
                <a:lnTo>
                  <a:pt x="1412976" y="522458"/>
                </a:lnTo>
                <a:lnTo>
                  <a:pt x="1460682" y="491260"/>
                </a:lnTo>
                <a:lnTo>
                  <a:pt x="1508931" y="460908"/>
                </a:lnTo>
                <a:lnTo>
                  <a:pt x="1557711" y="431417"/>
                </a:lnTo>
                <a:lnTo>
                  <a:pt x="1607010" y="402802"/>
                </a:lnTo>
                <a:lnTo>
                  <a:pt x="1656815" y="375077"/>
                </a:lnTo>
                <a:lnTo>
                  <a:pt x="1707114" y="348258"/>
                </a:lnTo>
                <a:lnTo>
                  <a:pt x="1757890" y="322356"/>
                </a:lnTo>
                <a:lnTo>
                  <a:pt x="1809129" y="297380"/>
                </a:lnTo>
                <a:lnTo>
                  <a:pt x="1860819" y="273351"/>
                </a:lnTo>
                <a:lnTo>
                  <a:pt x="1912940" y="250272"/>
                </a:lnTo>
                <a:lnTo>
                  <a:pt x="1965478" y="228158"/>
                </a:lnTo>
                <a:lnTo>
                  <a:pt x="2018415" y="207018"/>
                </a:lnTo>
                <a:lnTo>
                  <a:pt x="2071735" y="186863"/>
                </a:lnTo>
                <a:lnTo>
                  <a:pt x="2125419" y="167699"/>
                </a:lnTo>
                <a:lnTo>
                  <a:pt x="2179452" y="149540"/>
                </a:lnTo>
                <a:lnTo>
                  <a:pt x="2233812" y="132389"/>
                </a:lnTo>
                <a:lnTo>
                  <a:pt x="2288482" y="116253"/>
                </a:lnTo>
                <a:lnTo>
                  <a:pt x="2343446" y="101145"/>
                </a:lnTo>
                <a:lnTo>
                  <a:pt x="2398682" y="87066"/>
                </a:lnTo>
                <a:lnTo>
                  <a:pt x="2454172" y="74023"/>
                </a:lnTo>
                <a:lnTo>
                  <a:pt x="2509896" y="62021"/>
                </a:lnTo>
                <a:lnTo>
                  <a:pt x="2565836" y="51066"/>
                </a:lnTo>
                <a:lnTo>
                  <a:pt x="2621971" y="41163"/>
                </a:lnTo>
                <a:lnTo>
                  <a:pt x="2678282" y="32315"/>
                </a:lnTo>
                <a:lnTo>
                  <a:pt x="2734749" y="24527"/>
                </a:lnTo>
                <a:lnTo>
                  <a:pt x="2791354" y="17803"/>
                </a:lnTo>
                <a:lnTo>
                  <a:pt x="2848074" y="12146"/>
                </a:lnTo>
                <a:lnTo>
                  <a:pt x="2904891" y="7559"/>
                </a:lnTo>
                <a:lnTo>
                  <a:pt x="2961785" y="4048"/>
                </a:lnTo>
                <a:lnTo>
                  <a:pt x="3018736" y="1617"/>
                </a:lnTo>
                <a:lnTo>
                  <a:pt x="3075722" y="265"/>
                </a:lnTo>
                <a:lnTo>
                  <a:pt x="3132723" y="0"/>
                </a:lnTo>
                <a:lnTo>
                  <a:pt x="3189719" y="825"/>
                </a:lnTo>
                <a:lnTo>
                  <a:pt x="3246689" y="2743"/>
                </a:lnTo>
                <a:lnTo>
                  <a:pt x="3303611" y="5761"/>
                </a:lnTo>
                <a:lnTo>
                  <a:pt x="3360463" y="9884"/>
                </a:lnTo>
                <a:lnTo>
                  <a:pt x="3417225" y="15115"/>
                </a:lnTo>
                <a:lnTo>
                  <a:pt x="3473872" y="21463"/>
                </a:lnTo>
                <a:lnTo>
                  <a:pt x="3530381" y="28936"/>
                </a:lnTo>
                <a:lnTo>
                  <a:pt x="3586730" y="37540"/>
                </a:lnTo>
                <a:lnTo>
                  <a:pt x="3642892" y="47285"/>
                </a:lnTo>
                <a:lnTo>
                  <a:pt x="3698843" y="58181"/>
                </a:lnTo>
                <a:lnTo>
                  <a:pt x="3754555" y="70238"/>
                </a:lnTo>
                <a:lnTo>
                  <a:pt x="3810000" y="83470"/>
                </a:lnTo>
              </a:path>
            </a:pathLst>
          </a:custGeom>
          <a:noFill/>
          <a:ln w="381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9329738" y="2869882"/>
            <a:ext cx="803910" cy="1727836"/>
          </a:xfrm>
          <a:prstGeom prst="line">
            <a:avLst/>
          </a:prstGeom>
          <a:ln w="28575">
            <a:solidFill>
              <a:srgbClr val="A5A5A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9329738" y="2438400"/>
            <a:ext cx="928687" cy="431482"/>
          </a:xfrm>
          <a:prstGeom prst="line">
            <a:avLst/>
          </a:prstGeom>
          <a:ln w="5715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329738" y="2869882"/>
            <a:ext cx="401954" cy="863918"/>
          </a:xfrm>
          <a:prstGeom prst="line">
            <a:avLst/>
          </a:prstGeom>
          <a:ln w="5715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9263062" y="2803208"/>
            <a:ext cx="133350" cy="133350"/>
          </a:xfrm>
          <a:prstGeom prst="ellipse">
            <a:avLst/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81260" y="4545330"/>
            <a:ext cx="104775" cy="104775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Choosing the coordinate system is the key step in curvilinear problems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9075" y="1428750"/>
            <a:ext cx="65722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Cartesian (x–y)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219075" y="1756321"/>
                <a:ext cx="657225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acc>
                        <m:accPr>
                          <m:chr m:val="̇"/>
                        </m:accPr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</m:acc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acc>
                        <m:accPr>
                          <m:chr m:val="̇"/>
                        </m:accPr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y</m:t>
                          </m:r>
                        </m:e>
                      </m:acc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j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acc>
                        <m:accPr>
                          <m:chr m:val="̈"/>
                        </m:accPr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</m:acc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acc>
                        <m:accPr>
                          <m:chr m:val="̈"/>
                        </m:accPr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y</m:t>
                          </m:r>
                        </m:e>
                      </m:acc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j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2" name="TextBox 11"/>
          <p:cNvSpPr txBox="1"/>
          <p:nvPr/>
        </p:nvSpPr>
        <p:spPr>
          <a:xfrm>
            <a:off x="219075" y="2203996"/>
            <a:ext cx="65722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Normal–tangential (n–t)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19075" y="2531566"/>
                <a:ext cx="657225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acc>
                        <m:accPr>
                          <m:chr m:val="̇"/>
                        </m:accPr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</m:acc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447675" y="3034457"/>
                <a:ext cx="6343650" cy="72047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p>
                            <m:e>
                              <m: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v</m:t>
                              </m:r>
                            </m:e>
                            <m:sup>
                              <m: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ρ</m:t>
                          </m:r>
                        </m:den>
                      </m:f>
                    </m:oMath>
                  </m:oMathPara>
                </a14:m>
                <a:endParaRPr lang="en-US" sz="239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219075" y="4019699"/>
                <a:ext cx="6572250" cy="54739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Circular motion (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ρ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r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) 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en-US" sz="192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v</m:t>
                            </m:r>
                          </m:e>
                          <m:sup>
                            <m:r>
                              <a:rPr lang="en-US" sz="192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r</m:t>
                        </m:r>
                      </m:den>
                    </m:f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s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ω</m:t>
                        </m:r>
                      </m:e>
                      <m:sup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r</m:t>
                    </m:r>
                  </m:oMath>
                </a14:m>
                <a:endParaRPr lang="en-US" sz="198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219075" y="4700439"/>
                <a:ext cx="659130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Meaning of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</a:t>
                </a:r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even at constant speed, a change of direction is an acceleration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7" name="TextBox 16"/>
          <p:cNvSpPr txBox="1"/>
          <p:nvPr/>
        </p:nvSpPr>
        <p:spPr>
          <a:xfrm>
            <a:off x="8982075" y="2495550"/>
            <a:ext cx="139898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65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P</a:t>
            </a:r>
            <a:endParaRPr lang="en-US" sz="165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10334625" y="2228850"/>
                <a:ext cx="158800" cy="276523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1761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e</m:t>
                          </m:r>
                        </m:e>
                        <m:sub>
                          <m:r>
                            <a:rPr lang="en-US" sz="1761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9820275" y="3676650"/>
                <a:ext cx="194667" cy="276523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1761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e</m:t>
                          </m:r>
                        </m:e>
                        <m:sub>
                          <m:r>
                            <a:rPr lang="en-US" sz="1761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9610725" y="4133850"/>
                <a:ext cx="110728" cy="276523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761" dirty="0">
                          <a:solidFill>
                            <a:srgbClr val="111111"/>
                          </a:solidFill>
                          <a:latin typeface="Cambria Math"/>
                        </a:rPr>
                        <m:t>ρ</m:t>
                      </m:r>
                    </m:oMath>
                  </m:oMathPara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1" name="TextBox 20"/>
          <p:cNvSpPr txBox="1"/>
          <p:nvPr/>
        </p:nvSpPr>
        <p:spPr>
          <a:xfrm>
            <a:off x="10258425" y="4533900"/>
            <a:ext cx="151358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65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C</a:t>
            </a:r>
            <a:endParaRPr lang="en-US" sz="165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7210425" y="5162550"/>
                <a:ext cx="3686324" cy="23886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25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C : centre of curvature,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20" dirty="0">
                        <a:solidFill>
                          <a:srgbClr val="111111"/>
                        </a:solidFill>
                        <a:latin typeface="Cambria Math"/>
                      </a:rPr>
                      <m:t> </m:t>
                    </m:r>
                    <m:r>
                      <a:rPr lang="en-US" sz="1520" dirty="0">
                        <a:solidFill>
                          <a:srgbClr val="111111"/>
                        </a:solidFill>
                        <a:latin typeface="Cambria Math"/>
                      </a:rPr>
                      <m:t>ρ</m:t>
                    </m:r>
                  </m:oMath>
                </a14:m>
                <a:r>
                  <a:rPr lang="en-US" sz="1425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 : radius of curvature</a:t>
                </a:r>
                <a:endParaRPr lang="en-US" sz="1425" dirty="0">
                  <a:solidFill>
                    <a:srgbClr val="111111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3" name="Rectangle 22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Curvilinear Motion: Cartesian and n–t Coordinates</a:t>
            </a:r>
          </a:p>
        </p:txBody>
      </p:sp>
      <p:pic>
        <p:nvPicPr>
          <p:cNvPr id="25" name="Picture 24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428750"/>
            <a:ext cx="38100" cy="1219051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075" y="3161705"/>
            <a:ext cx="1371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90675" y="3161705"/>
            <a:ext cx="1943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33775" y="3161705"/>
            <a:ext cx="44958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075" y="3583037"/>
            <a:ext cx="1371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90675" y="3583037"/>
            <a:ext cx="1943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33775" y="3583037"/>
            <a:ext cx="44958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9075" y="3999309"/>
            <a:ext cx="1371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90675" y="3999309"/>
            <a:ext cx="1943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33775" y="3999309"/>
            <a:ext cx="44958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9075" y="4415582"/>
            <a:ext cx="1371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90675" y="4415582"/>
            <a:ext cx="1943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3775" y="4415582"/>
            <a:ext cx="44958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eriam_fig2_13_po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043" y="1428750"/>
            <a:ext cx="2976116" cy="40957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460921" y="933450"/>
                <a:ext cx="11350079" cy="33531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For a body that moves while rotating, resolve along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m:rPr>
                            <m:sty m:val="bi"/>
                          </m:rP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e</m:t>
                        </m:r>
                      </m:e>
                      <m:sub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r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and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m:rPr>
                            <m:sty m:val="bi"/>
                          </m:rP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e</m:t>
                        </m:r>
                      </m:e>
                      <m:sub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θ</m:t>
                        </m:r>
                      </m:sub>
                    </m:sSub>
                  </m:oMath>
                </a14:m>
                <a:endParaRPr lang="en-US" sz="22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447675" y="1541115"/>
                <a:ext cx="7581900" cy="37132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bi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acc>
                        <m:accPr>
                          <m:chr m:val="̇"/>
                        </m:accPr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</m:acc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acc>
                        <m:accPr>
                          <m:chr m:val="̇"/>
                        </m:accPr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</m:acc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sub>
                      </m:sSub>
                    </m:oMath>
                  </m:oMathPara>
                </a14:m>
                <a:endParaRPr lang="en-US" sz="239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447675" y="1988641"/>
                <a:ext cx="7581900" cy="54679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bi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acc>
                            <m:accPr>
                              <m:chr m:val="̈"/>
                            </m:accPr>
                            <m:e>
                              <m: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r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  <m:sSup>
                            <m:e>
                              <m:acc>
                                <m:accPr>
                                  <m:chr m:val="̇"/>
                                </m:accPr>
                                <m:e>
                                  <m:r>
                                    <a:rPr lang="en-US" sz="232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θ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b>
                        <m:e>
                          <m:r>
                            <m:rPr>
                              <m:sty m:val="bi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  <m:acc>
                            <m:accPr>
                              <m:chr m:val="̈"/>
                            </m:accPr>
                            <m:e>
                              <m: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θ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  <m:acc>
                            <m:accPr>
                              <m:chr m:val="̇"/>
                            </m:accPr>
                            <m:e>
                              <m: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r</m:t>
                              </m:r>
                            </m:e>
                          </m:acc>
                          <m:acc>
                            <m:accPr>
                              <m:chr m:val="̇"/>
                            </m:accPr>
                            <m:e>
                              <m: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θ</m:t>
                              </m:r>
                            </m:e>
                          </m:acc>
                        </m:e>
                      </m:d>
                      <m:sSub>
                        <m:e>
                          <m:r>
                            <m:rPr>
                              <m:sty m:val="bi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sub>
                      </m:sSub>
                    </m:oMath>
                  </m:oMathPara>
                </a14:m>
                <a:endParaRPr lang="en-US" sz="239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9" name="TextBox 18"/>
          <p:cNvSpPr txBox="1"/>
          <p:nvPr/>
        </p:nvSpPr>
        <p:spPr>
          <a:xfrm>
            <a:off x="219075" y="2866876"/>
            <a:ext cx="12382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Term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90675" y="2866876"/>
            <a:ext cx="1809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Direction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33775" y="2866876"/>
            <a:ext cx="43624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Physical meaning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219075" y="3256955"/>
                <a:ext cx="1238250" cy="25940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acc>
                        <m:accPr>
                          <m:chr m:val="̈"/>
                        </m:accPr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</m:acc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3" name="TextBox 22"/>
          <p:cNvSpPr txBox="1"/>
          <p:nvPr/>
        </p:nvSpPr>
        <p:spPr>
          <a:xfrm>
            <a:off x="1590675" y="3256955"/>
            <a:ext cx="180975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radial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33775" y="3256955"/>
            <a:ext cx="436245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Acceleration along the rotating line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219075" y="3668762"/>
                <a:ext cx="1238250" cy="26387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sSup>
                        <m:e>
                          <m:acc>
                            <m:accPr>
                              <m:chr m:val="̇"/>
                            </m:accPr>
                            <m:e>
                              <m:r>
                                <a:rPr lang="en-US" sz="1560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θ</m:t>
                              </m:r>
                            </m:e>
                          </m:acc>
                        </m:e>
                        <m:sup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6" name="TextBox 25"/>
          <p:cNvSpPr txBox="1"/>
          <p:nvPr/>
        </p:nvSpPr>
        <p:spPr>
          <a:xfrm>
            <a:off x="1590675" y="3668762"/>
            <a:ext cx="1809750" cy="2638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radial (inward)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533775" y="3668762"/>
            <a:ext cx="4362450" cy="2638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Centripetal acceleration from rotation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219075" y="4085034"/>
                <a:ext cx="1238250" cy="26387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acc>
                        <m:accPr>
                          <m:chr m:val="̈"/>
                        </m:accPr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</m:acc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9" name="TextBox 28"/>
          <p:cNvSpPr txBox="1"/>
          <p:nvPr/>
        </p:nvSpPr>
        <p:spPr>
          <a:xfrm>
            <a:off x="1590675" y="4085034"/>
            <a:ext cx="1809750" cy="2638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transverse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533775" y="4085034"/>
            <a:ext cx="4362450" cy="2638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Angular acceleration of the line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219075" y="4501307"/>
                <a:ext cx="1238250" cy="25911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2</m:t>
                      </m:r>
                      <m:acc>
                        <m:accPr>
                          <m:chr m:val="̇"/>
                        </m:accPr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</m:acc>
                      <m:acc>
                        <m:accPr>
                          <m:chr m:val="̇"/>
                        </m:accPr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</m:acc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2" name="TextBox 31"/>
          <p:cNvSpPr txBox="1"/>
          <p:nvPr/>
        </p:nvSpPr>
        <p:spPr>
          <a:xfrm>
            <a:off x="1590675" y="4501307"/>
            <a:ext cx="1809750" cy="2591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transverse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3533775" y="4501307"/>
                <a:ext cx="4362450" cy="25911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Coriolis-type term —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r</m:t>
                    </m:r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and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θ</m:t>
                    </m:r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change together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4" name="TextBox 33"/>
          <p:cNvSpPr txBox="1"/>
          <p:nvPr/>
        </p:nvSpPr>
        <p:spPr>
          <a:xfrm>
            <a:off x="9256812" y="5581650"/>
            <a:ext cx="1812578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Meriam &amp; Kraige, Fig. 2/13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219075" y="5834360"/>
                <a:ext cx="11753850" cy="62359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Example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a bead sliding outward along a rotating rod — the rod must push it sideways, </a:t>
                </a:r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even at constant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acc>
                      <m:accPr>
                        <m:chr m:val="̇"/>
                      </m:accPr>
                      <m:e>
                        <m:r>
                          <a:rPr lang="en-US" sz="192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θ</m:t>
                        </m:r>
                      </m:e>
                    </m:acc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because of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2</m:t>
                    </m:r>
                    <m:acc>
                      <m:accPr>
                        <m:chr m:val="̇"/>
                      </m:accPr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r</m:t>
                        </m:r>
                      </m:e>
                    </m:acc>
                    <m:acc>
                      <m:accPr>
                        <m:chr m:val="̇"/>
                      </m:accPr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θ</m:t>
                        </m:r>
                      </m:e>
                    </m:acc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6" name="Rectangle 3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Polar Coordinates: r–θ Motion</a:t>
            </a:r>
          </a:p>
        </p:txBody>
      </p:sp>
      <p:pic>
        <p:nvPicPr>
          <p:cNvPr id="38" name="Picture 37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23950" y="1504950"/>
            <a:ext cx="2819400" cy="1028700"/>
          </a:xfrm>
          <a:prstGeom prst="roundRect">
            <a:avLst>
              <a:gd name="adj" fmla="val 12962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686300" y="1504950"/>
            <a:ext cx="2819400" cy="1028700"/>
          </a:xfrm>
          <a:prstGeom prst="roundRect">
            <a:avLst>
              <a:gd name="adj" fmla="val 12962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48650" y="1504950"/>
            <a:ext cx="2819400" cy="1028700"/>
          </a:xfrm>
          <a:prstGeom prst="roundRect">
            <a:avLst>
              <a:gd name="adj" fmla="val 12962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62400" y="1981200"/>
            <a:ext cx="5334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24750" y="1981200"/>
            <a:ext cx="5334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9075" y="2876550"/>
            <a:ext cx="38100" cy="710803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4486275" y="189547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8048625" y="189547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Force → acceleration → motion: every kinetics problem starts from a free body diagram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68921" y="1740545"/>
            <a:ext cx="232945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Free Body Diagram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37420" y="2064395"/>
            <a:ext cx="1592312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all external forces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5560665" y="1706314"/>
                <a:ext cx="1070670" cy="33531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2134" dirty="0">
                          <a:solidFill>
                            <a:srgbClr val="111111"/>
                          </a:solidFill>
                          <a:latin typeface="Cambria Math"/>
                        </a:rPr>
                        <m:t>∑</m:t>
                      </m:r>
                      <m:r>
                        <m:rPr>
                          <m:sty m:val="bi"/>
                        </m:rPr>
                        <a:rPr lang="en-US" sz="2134" dirty="0">
                          <a:solidFill>
                            <a:srgbClr val="111111"/>
                          </a:solidFill>
                          <a:latin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2134" dirty="0">
                          <a:solidFill>
                            <a:srgbClr val="11111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134" dirty="0">
                          <a:solidFill>
                            <a:srgbClr val="111111"/>
                          </a:solidFill>
                          <a:latin typeface="Cambria Math"/>
                        </a:rPr>
                        <m:t>m</m:t>
                      </m:r>
                      <m:r>
                        <m:rPr>
                          <m:sty m:val="bi"/>
                        </m:rPr>
                        <a:rPr lang="en-US" sz="2134" dirty="0">
                          <a:solidFill>
                            <a:srgbClr val="111111"/>
                          </a:solidFill>
                          <a:latin typeface="Cambria Math"/>
                        </a:rPr>
                        <m:t>a</m:t>
                      </m:r>
                    </m:oMath>
                  </m:oMathPara>
                </a14:m>
                <a:endParaRPr lang="en-US" sz="22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4" name="TextBox 13"/>
          <p:cNvSpPr txBox="1"/>
          <p:nvPr/>
        </p:nvSpPr>
        <p:spPr>
          <a:xfrm>
            <a:off x="5548164" y="2098774"/>
            <a:ext cx="1095524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acceleration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980587" y="1723281"/>
            <a:ext cx="135537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Kinematics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8732937" y="2047131"/>
                <a:ext cx="1850678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integrate to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v</m:t>
                    </m:r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(</m:t>
                    </m:r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t</m:t>
                    </m:r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,</m:t>
                    </m:r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 </m:t>
                    </m:r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x</m:t>
                    </m:r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(</m:t>
                    </m:r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t</m:t>
                    </m:r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sz="176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447675" y="2988915"/>
                <a:ext cx="5486400" cy="486073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∑</m:t>
                      </m:r>
                      <m:r>
                        <m:rPr>
                          <m:sty m:val="bi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r>
                        <m:rPr>
                          <m:sty m:val="bi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</m:oMath>
                  </m:oMathPara>
                </a14:m>
                <a:endParaRPr lang="en-US" sz="239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219075" y="3739753"/>
                <a:ext cx="5715000" cy="3062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Cartesian 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∑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F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x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m</m:t>
                    </m:r>
                    <m:acc>
                      <m:accPr>
                        <m:chr m:val="̈"/>
                      </m:accPr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∑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F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y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m</m:t>
                    </m:r>
                    <m:acc>
                      <m:accPr>
                        <m:chr m:val="̈"/>
                      </m:accPr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y</m:t>
                        </m:r>
                      </m:e>
                    </m:acc>
                  </m:oMath>
                </a14:m>
                <a:endParaRPr lang="en-US" sz="198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9" name="TextBox 18"/>
          <p:cNvSpPr txBox="1"/>
          <p:nvPr/>
        </p:nvSpPr>
        <p:spPr>
          <a:xfrm>
            <a:off x="6257925" y="287655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n–t components (curved paths)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6257925" y="3204121"/>
                <a:ext cx="5715000" cy="62106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∑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F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acc>
                        <m:accPr>
                          <m:chr m:val="̇"/>
                        </m:accPr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∑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F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f>
                        <m:fPr>
                          <m:type m:val="bar"/>
                        </m:fPr>
                        <m:num>
                          <m:sSup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v</m:t>
                              </m:r>
                            </m:e>
                            <m:sup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ρ</m:t>
                          </m:r>
                        </m:den>
                      </m:f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1" name="TextBox 20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Habit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draw the FBD before writing any equation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— missing or duplicated forces are the most common source of error.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Particle Kinetics: Newton's Second Law</a:t>
            </a:r>
          </a:p>
        </p:txBody>
      </p:sp>
      <p:pic>
        <p:nvPicPr>
          <p:cNvPr id="24" name="Picture 23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428750"/>
            <a:ext cx="38100" cy="589359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Relates position and speed directly — no time variable needed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47675" y="1541115"/>
                <a:ext cx="11525250" cy="36462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U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→</m:t>
                          </m:r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39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5" name="TextBox 4"/>
          <p:cNvSpPr txBox="1"/>
          <p:nvPr/>
        </p:nvSpPr>
        <p:spPr>
          <a:xfrm>
            <a:off x="219075" y="2170509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Kinetic energy and work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2498080"/>
                <a:ext cx="5715000" cy="64844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½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U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→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</m:naryPr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F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⋅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d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7" name="TextBox 6"/>
          <p:cNvSpPr txBox="1"/>
          <p:nvPr/>
        </p:nvSpPr>
        <p:spPr>
          <a:xfrm>
            <a:off x="219075" y="3279874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Potential energy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9075" y="3607445"/>
                <a:ext cx="5715000" cy="33798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g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h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½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k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9" name="TextBox 8"/>
          <p:cNvSpPr txBox="1"/>
          <p:nvPr/>
        </p:nvSpPr>
        <p:spPr>
          <a:xfrm>
            <a:off x="6257925" y="2170509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Only conservative forces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257925" y="2498080"/>
                <a:ext cx="57150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TextBox 10"/>
          <p:cNvSpPr txBox="1"/>
          <p:nvPr/>
        </p:nvSpPr>
        <p:spPr>
          <a:xfrm>
            <a:off x="6257925" y="2945755"/>
            <a:ext cx="5715000" cy="918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Scalar equation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no vector components and no reaction forces that do no work (normal force on a smooth path).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When to use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"find the speed, the distance is given, time is not needed" →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try energy before Newton's law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Work–Energy Method</a:t>
            </a:r>
          </a:p>
        </p:txBody>
      </p:sp>
      <p:pic>
        <p:nvPicPr>
          <p:cNvPr id="15" name="Picture 14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428750"/>
            <a:ext cx="38100" cy="1001167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riam_fig3_17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2975" y="2582317"/>
            <a:ext cx="2952750" cy="2853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Short, large forces and collisions are handled with momentum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47675" y="1541115"/>
                <a:ext cx="11525250" cy="776436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</m:naryPr>
                        <m:sub>
                          <m:sSub>
                            <m:e>
                              <m: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e>
                              <m: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r>
                            <m:rPr>
                              <m:sty m:val="p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∑</m:t>
                          </m:r>
                        </m:e>
                      </m:nary>
                      <m:r>
                        <m:rPr>
                          <m:sty m:val="bi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F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d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39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6" name="TextBox 5"/>
          <p:cNvSpPr txBox="1"/>
          <p:nvPr/>
        </p:nvSpPr>
        <p:spPr>
          <a:xfrm>
            <a:off x="219075" y="2582317"/>
            <a:ext cx="37147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Definitions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19075" y="2909888"/>
                <a:ext cx="3714750" cy="3062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Linear momentum 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m:rPr>
                        <m:sty m:val="bi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p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m</m:t>
                    </m:r>
                    <m:r>
                      <m:rPr>
                        <m:sty m:val="bi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v</m:t>
                    </m:r>
                  </m:oMath>
                </a14:m>
                <a:endParaRPr lang="en-US" sz="198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9075" y="3349526"/>
                <a:ext cx="3714750" cy="642491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Impulse 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sSub>
                          <m:e>
                            <m:r>
                              <a:rPr lang="en-US" sz="192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en-US" sz="192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e>
                            <m:r>
                              <a:rPr lang="en-US" sz="192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en-US" sz="192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p>
                      <m:e>
                        <m:r>
                          <m:rPr>
                            <m:sty m:val="bi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F</m:t>
                        </m:r>
                      </m:e>
                    </m:nary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 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d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t</m:t>
                    </m:r>
                  </m:oMath>
                </a14:m>
                <a:endParaRPr lang="en-US" sz="198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9" name="TextBox 8"/>
          <p:cNvSpPr txBox="1"/>
          <p:nvPr/>
        </p:nvSpPr>
        <p:spPr>
          <a:xfrm>
            <a:off x="219075" y="4125367"/>
            <a:ext cx="37147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No external impulse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19075" y="4452938"/>
                <a:ext cx="371475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sSub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sSub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TextBox 10"/>
          <p:cNvSpPr txBox="1"/>
          <p:nvPr/>
        </p:nvSpPr>
        <p:spPr>
          <a:xfrm>
            <a:off x="4257675" y="2582317"/>
            <a:ext cx="35242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Coefficient of restitution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4257675" y="2909888"/>
                <a:ext cx="3524250" cy="60483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Sup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Sup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separation</m:t>
                          </m:r>
                        </m:num>
                        <m:den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approach</m:t>
                          </m:r>
                        </m:den>
                      </m:f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257675" y="3590925"/>
                <a:ext cx="3524250" cy="61257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e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perfectly elastic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e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perfectly plastic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4" name="TextBox 13"/>
          <p:cNvSpPr txBox="1"/>
          <p:nvPr/>
        </p:nvSpPr>
        <p:spPr>
          <a:xfrm>
            <a:off x="9132987" y="5492651"/>
            <a:ext cx="1812578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Meriam &amp; Kraige, Fig. 3/17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219075" y="6151662"/>
                <a:ext cx="11753850" cy="3062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Collision recipe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</a:t>
                </a:r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momentum conservation + restitution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give two equations for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and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6" name="Rectangle 1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Impulse–Momentum Method</a:t>
            </a:r>
          </a:p>
        </p:txBody>
      </p:sp>
      <p:pic>
        <p:nvPicPr>
          <p:cNvPr id="18" name="Picture 17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4502" y="1485900"/>
            <a:ext cx="3105150" cy="1143000"/>
          </a:xfrm>
          <a:prstGeom prst="roundRect">
            <a:avLst>
              <a:gd name="adj" fmla="val 11666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27402" y="1485900"/>
            <a:ext cx="3105150" cy="1143000"/>
          </a:xfrm>
          <a:prstGeom prst="roundRect">
            <a:avLst>
              <a:gd name="adj" fmla="val 11666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97950" y="1485900"/>
            <a:ext cx="2819400" cy="1143000"/>
          </a:xfrm>
          <a:prstGeom prst="roundRect">
            <a:avLst>
              <a:gd name="adj" fmla="val 11666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075" y="3660874"/>
            <a:ext cx="18478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66925" y="3660874"/>
            <a:ext cx="96143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28355" y="3660874"/>
            <a:ext cx="1162645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91000" y="3660874"/>
            <a:ext cx="1737271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28271" y="3660874"/>
            <a:ext cx="96143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89700" y="3660874"/>
            <a:ext cx="1551682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41382" y="3660874"/>
            <a:ext cx="1966912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408295" y="3660874"/>
            <a:ext cx="156463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9075" y="4088457"/>
            <a:ext cx="1847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66925" y="4088457"/>
            <a:ext cx="96143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28355" y="4088457"/>
            <a:ext cx="116264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91000" y="4088457"/>
            <a:ext cx="1737271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28271" y="4088457"/>
            <a:ext cx="96143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89700" y="4088457"/>
            <a:ext cx="1551682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41382" y="4088457"/>
            <a:ext cx="1966912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408295" y="4088457"/>
            <a:ext cx="156463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36827" y="1790700"/>
            <a:ext cx="533400" cy="533400"/>
          </a:xfrm>
          <a:prstGeom prst="ellipse">
            <a:avLst/>
          </a:prstGeom>
          <a:noFill/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 rigid body moves its mass centre and rotates about it at the same time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60140" y="1761381"/>
            <a:ext cx="193372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Translation of G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1296442" y="2085231"/>
                <a:ext cx="2061270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 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→</m:t>
                      </m:r>
                      <m: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∑</m:t>
                      </m:r>
                      <m:r>
                        <m:rPr>
                          <m:sty m:val="bi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m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lang="en-US" sz="176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5" name="TextBox 24"/>
          <p:cNvSpPr txBox="1"/>
          <p:nvPr/>
        </p:nvSpPr>
        <p:spPr>
          <a:xfrm>
            <a:off x="4127302" y="1847850"/>
            <a:ext cx="552450" cy="552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marL="0" indent="0">
              <a:lnSpc>
                <a:spcPts val="2550"/>
              </a:lnSpc>
              <a:buNone/>
            </a:pPr>
            <a:r>
              <a:rPr lang="en-US" sz="255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+</a:t>
            </a:r>
            <a:endParaRPr lang="en-US" sz="255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49788" y="1761381"/>
            <a:ext cx="206022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Rotation about G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5478066" y="2085231"/>
                <a:ext cx="2003673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α</m:t>
                      </m:r>
                      <m: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→</m:t>
                      </m:r>
                      <m: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∑</m:t>
                      </m:r>
                      <m:sSub>
                        <m:e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M</m:t>
                          </m:r>
                        </m:e>
                        <m:sub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 </m:t>
                      </m:r>
                      <m: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α</m:t>
                      </m:r>
                    </m:oMath>
                  </m:oMathPara>
                </a14:m>
                <a:endParaRPr lang="en-US" sz="176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8" name="TextBox 27"/>
          <p:cNvSpPr txBox="1"/>
          <p:nvPr/>
        </p:nvSpPr>
        <p:spPr>
          <a:xfrm>
            <a:off x="8204002" y="1905000"/>
            <a:ext cx="222498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3000"/>
              </a:lnSpc>
              <a:buNone/>
            </a:pPr>
            <a:r>
              <a:rPr lang="en-US" sz="30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=</a:t>
            </a:r>
            <a:endParaRPr lang="en-US" sz="30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885783" y="1778645"/>
            <a:ext cx="224358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Rigid Body Motion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058870" y="2102495"/>
            <a:ext cx="1897559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general plane motion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19075" y="2971800"/>
            <a:ext cx="117538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Translation ↔ rotation analogy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066925" y="3366046"/>
            <a:ext cx="82808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Inertia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028355" y="3366046"/>
            <a:ext cx="1029295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Velocity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191000" y="3366046"/>
            <a:ext cx="1603921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Acceleration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28271" y="3366046"/>
            <a:ext cx="82808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Cause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9700" y="3366046"/>
            <a:ext cx="1418332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Equation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441382" y="3366046"/>
            <a:ext cx="1833562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Kinetic energy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408295" y="3366046"/>
            <a:ext cx="143128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Momentum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19075" y="3756124"/>
            <a:ext cx="1714500" cy="26565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Translation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/>
              <p:cNvSpPr txBox="1"/>
              <p:nvPr/>
            </p:nvSpPr>
            <p:spPr>
              <a:xfrm>
                <a:off x="2066925" y="3756124"/>
                <a:ext cx="828080" cy="26565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/>
              <p:cNvSpPr txBox="1"/>
              <p:nvPr/>
            </p:nvSpPr>
            <p:spPr>
              <a:xfrm>
                <a:off x="3028355" y="3756124"/>
                <a:ext cx="1029295" cy="26565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/>
              <p:cNvSpPr txBox="1"/>
              <p:nvPr/>
            </p:nvSpPr>
            <p:spPr>
              <a:xfrm>
                <a:off x="4191000" y="3756124"/>
                <a:ext cx="1603921" cy="26565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/>
              <p:cNvSpPr txBox="1"/>
              <p:nvPr/>
            </p:nvSpPr>
            <p:spPr>
              <a:xfrm>
                <a:off x="5928271" y="3756124"/>
                <a:ext cx="828080" cy="26565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F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/>
              <p:cNvSpPr txBox="1"/>
              <p:nvPr/>
            </p:nvSpPr>
            <p:spPr>
              <a:xfrm>
                <a:off x="6889700" y="3756124"/>
                <a:ext cx="1418332" cy="26565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∑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8441382" y="3756124"/>
                <a:ext cx="1833562" cy="26565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nor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½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sSup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p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/>
              <p:cNvSpPr txBox="1"/>
              <p:nvPr/>
            </p:nvSpPr>
            <p:spPr>
              <a:xfrm>
                <a:off x="10408295" y="3756124"/>
                <a:ext cx="1431280" cy="26565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47" name="TextBox 46"/>
          <p:cNvSpPr txBox="1"/>
          <p:nvPr/>
        </p:nvSpPr>
        <p:spPr>
          <a:xfrm>
            <a:off x="219075" y="4174182"/>
            <a:ext cx="1714500" cy="2561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Rotation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/>
              <p:cNvSpPr txBox="1"/>
              <p:nvPr/>
            </p:nvSpPr>
            <p:spPr>
              <a:xfrm>
                <a:off x="2066925" y="4174182"/>
                <a:ext cx="828080" cy="256133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/>
              <p:cNvSpPr txBox="1"/>
              <p:nvPr/>
            </p:nvSpPr>
            <p:spPr>
              <a:xfrm>
                <a:off x="3028355" y="4174182"/>
                <a:ext cx="1029295" cy="256133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/>
              <p:cNvSpPr txBox="1"/>
              <p:nvPr/>
            </p:nvSpPr>
            <p:spPr>
              <a:xfrm>
                <a:off x="4191000" y="4174182"/>
                <a:ext cx="1603921" cy="256133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α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/>
              <p:cNvSpPr txBox="1"/>
              <p:nvPr/>
            </p:nvSpPr>
            <p:spPr>
              <a:xfrm>
                <a:off x="5928271" y="4174182"/>
                <a:ext cx="828080" cy="256133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/>
              <p:cNvSpPr txBox="1"/>
              <p:nvPr/>
            </p:nvSpPr>
            <p:spPr>
              <a:xfrm>
                <a:off x="6889700" y="4174182"/>
                <a:ext cx="1418332" cy="256133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∑</m:t>
                      </m:r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α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/>
              <p:cNvSpPr txBox="1"/>
              <p:nvPr/>
            </p:nvSpPr>
            <p:spPr>
              <a:xfrm>
                <a:off x="8441382" y="4174182"/>
                <a:ext cx="1833562" cy="256133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nor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½</m:t>
                      </m:r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sSup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ω</m:t>
                          </m:r>
                        </m:e>
                        <m:sup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/>
              <p:cNvSpPr txBox="1"/>
              <p:nvPr/>
            </p:nvSpPr>
            <p:spPr>
              <a:xfrm>
                <a:off x="10408295" y="4174182"/>
                <a:ext cx="1431280" cy="256133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/>
              <p:cNvSpPr txBox="1"/>
              <p:nvPr/>
            </p:nvSpPr>
            <p:spPr>
              <a:xfrm>
                <a:off x="219075" y="6151662"/>
                <a:ext cx="11753850" cy="3062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Reading the table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every particle result has a rotational twin — </a:t>
                </a:r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replace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FF0000"/>
                        </a:solidFill>
                        <a:latin typeface="Cambria Math"/>
                      </a:rPr>
                      <m:t>m</m:t>
                    </m:r>
                  </m:oMath>
                </a14:m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 by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FF0000"/>
                        </a:solidFill>
                        <a:latin typeface="Cambria Math"/>
                      </a:rPr>
                      <m:t>I</m:t>
                    </m:r>
                  </m:oMath>
                </a14:m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FF0000"/>
                        </a:solidFill>
                        <a:latin typeface="Cambria Math"/>
                      </a:rPr>
                      <m:t>F</m:t>
                    </m:r>
                  </m:oMath>
                </a14:m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 by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FF0000"/>
                        </a:solidFill>
                        <a:latin typeface="Cambria Math"/>
                      </a:rPr>
                      <m:t>M</m:t>
                    </m:r>
                  </m:oMath>
                </a14:m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FF0000"/>
                        </a:solidFill>
                        <a:latin typeface="Cambria Math"/>
                      </a:rPr>
                      <m:t>a</m:t>
                    </m:r>
                  </m:oMath>
                </a14:m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 by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FF0000"/>
                        </a:solidFill>
                        <a:latin typeface="Cambria Math"/>
                      </a:rPr>
                      <m:t>α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56" name="Rectangle 5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Rigid Body Motion: Translation + Rotation</a:t>
            </a:r>
          </a:p>
        </p:txBody>
      </p:sp>
      <p:pic>
        <p:nvPicPr>
          <p:cNvPr id="58" name="Picture 57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59" name="Rectangle 5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428750"/>
            <a:ext cx="38100" cy="608856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riam_fig5_5_rel_velo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1428750"/>
            <a:ext cx="7524750" cy="32984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Velocity of B = velocity of A + rotation of B about A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47675" y="1541115"/>
                <a:ext cx="3676650" cy="3841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bi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/</m:t>
                          </m:r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en-US" sz="239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6" name="TextBox 5"/>
          <p:cNvSpPr txBox="1"/>
          <p:nvPr/>
        </p:nvSpPr>
        <p:spPr>
          <a:xfrm>
            <a:off x="219075" y="2190006"/>
            <a:ext cx="3924300" cy="918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Two parts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translation with the reference point A, plus circular motion of B about A.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19075" y="3242221"/>
                <a:ext cx="3924300" cy="63579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m:rPr>
                            <m:sty m:val="bi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/</m:t>
                        </m:r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A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bi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ω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×</m:t>
                    </m:r>
                    <m:sSub>
                      <m:e>
                        <m:r>
                          <m:rPr>
                            <m:sty m:val="bi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r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/</m:t>
                        </m:r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magnitude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r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ω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perpendicular to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m:rPr>
                            <m:sty m:val="bi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r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/</m:t>
                        </m:r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8" name="TextBox 7"/>
          <p:cNvSpPr txBox="1"/>
          <p:nvPr/>
        </p:nvSpPr>
        <p:spPr>
          <a:xfrm>
            <a:off x="5055543" y="4784378"/>
            <a:ext cx="6310015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Meriam &amp; Kraige, Fig. 5/5 — (a) displacement, (b) motion relative to B, (c) motion relative to A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Why it matters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this is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the most used equation in rigid-body kinematics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— linkages, wheels and gears all reduce to it.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Rigid Body Kinematics: Relative Velocity</a:t>
            </a:r>
          </a:p>
        </p:txBody>
      </p:sp>
      <p:pic>
        <p:nvPicPr>
          <p:cNvPr id="12" name="Picture 11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428750"/>
            <a:ext cx="38100" cy="608856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075" y="3339405"/>
            <a:ext cx="2324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43175" y="3339405"/>
            <a:ext cx="1752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5775" y="3339405"/>
            <a:ext cx="38290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075" y="3769072"/>
            <a:ext cx="2324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43175" y="3769072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5775" y="3769072"/>
            <a:ext cx="38290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riam_fig5_9_rel_acc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784" y="1428750"/>
            <a:ext cx="2535882" cy="4191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60921" y="933450"/>
                <a:ext cx="11350079" cy="33531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Relative acceleration adds a tangential term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r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α</m:t>
                    </m:r>
                  </m:oMath>
                </a14:m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and a normal term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r</m:t>
                    </m:r>
                    <m:sSup>
                      <m:e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ω</m:t>
                        </m:r>
                      </m:e>
                      <m:sup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US" sz="22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447675" y="1541115"/>
                <a:ext cx="7677150" cy="3841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bi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α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/</m:t>
                          </m:r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bi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sty m:val="bi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ω</m:t>
                          </m:r>
                          <m:r>
                            <m:rPr>
                              <m:sty m:val="p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×</m:t>
                          </m:r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/</m:t>
                              </m:r>
                              <m: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39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2" name="TextBox 11"/>
          <p:cNvSpPr txBox="1"/>
          <p:nvPr/>
        </p:nvSpPr>
        <p:spPr>
          <a:xfrm>
            <a:off x="219075" y="2190006"/>
            <a:ext cx="79057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Plane motion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19075" y="2517577"/>
                <a:ext cx="7905750" cy="3841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bi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α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/</m:t>
                          </m:r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p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ω</m:t>
                          </m:r>
                        </m:e>
                        <m:sup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/</m:t>
                          </m:r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en-US" sz="239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4" name="TextBox 13"/>
          <p:cNvSpPr txBox="1"/>
          <p:nvPr/>
        </p:nvSpPr>
        <p:spPr>
          <a:xfrm>
            <a:off x="219075" y="3044577"/>
            <a:ext cx="2190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Term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43175" y="3044577"/>
            <a:ext cx="16192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Magnitude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95775" y="3044577"/>
            <a:ext cx="36957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Direction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19075" y="3434655"/>
                <a:ext cx="2190750" cy="26774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bi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α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/</m:t>
                          </m:r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2543175" y="3434655"/>
                <a:ext cx="1619250" cy="26774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α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4295775" y="3434655"/>
                <a:ext cx="3695700" cy="26774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Tangential — perpendicular to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m:rPr>
                            <m:sty m:val="bi"/>
                          </m:rP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r</m:t>
                        </m:r>
                      </m:e>
                      <m:sub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/</m:t>
                        </m:r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A</m:t>
                        </m:r>
                      </m:sub>
                    </m:sSub>
                  </m:oMath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219075" y="3854797"/>
                <a:ext cx="2190750" cy="25821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p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ω</m:t>
                          </m:r>
                        </m:e>
                        <m:sup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/</m:t>
                          </m:r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2543175" y="3854797"/>
                <a:ext cx="1619250" cy="25821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sSup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ω</m:t>
                          </m:r>
                        </m:e>
                        <m:sup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2" name="TextBox 21"/>
          <p:cNvSpPr txBox="1"/>
          <p:nvPr/>
        </p:nvSpPr>
        <p:spPr>
          <a:xfrm>
            <a:off x="4295775" y="3854797"/>
            <a:ext cx="3695700" cy="25821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Normal — from B toward A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346853" y="5676900"/>
            <a:ext cx="1727895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Meriam &amp; Kraige, Fig. 5/9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Solve it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sketch the vector polygon —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known vectors first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, unknown magnitudes close the polygon.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Rigid Body Kinematics: Relative Acceleration</a:t>
            </a:r>
          </a:p>
        </p:txBody>
      </p:sp>
      <p:pic>
        <p:nvPicPr>
          <p:cNvPr id="27" name="Picture 26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71082" y="1447800"/>
            <a:ext cx="2819400" cy="838200"/>
          </a:xfrm>
          <a:prstGeom prst="roundRect">
            <a:avLst>
              <a:gd name="adj" fmla="val 15909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71082" y="2533650"/>
            <a:ext cx="2819400" cy="838200"/>
          </a:xfrm>
          <a:prstGeom prst="roundRect">
            <a:avLst>
              <a:gd name="adj" fmla="val 15909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71082" y="3619500"/>
            <a:ext cx="2819400" cy="838200"/>
          </a:xfrm>
          <a:prstGeom prst="roundRect">
            <a:avLst>
              <a:gd name="adj" fmla="val 15909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eriam_fig5_1_plane_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428750"/>
            <a:ext cx="3809107" cy="403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Classify the motion first — each type has its own simple relations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59681" y="5524500"/>
            <a:ext cx="1727895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Meriam &amp; Kraige, Fig. 5/1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96334" y="1589187"/>
            <a:ext cx="1168747" cy="2299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11"/>
              </a:lnSpc>
              <a:buNone/>
            </a:pPr>
            <a:r>
              <a:rPr lang="en-US" sz="1725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Translation</a:t>
            </a:r>
            <a:endParaRPr lang="en-US" sz="1725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5054054" y="1876276"/>
                <a:ext cx="1453455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(a), (b) —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ω</m:t>
                    </m:r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=</m:t>
                    </m:r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0</m:t>
                    </m:r>
                  </m:oMath>
                </a14:m>
                <a:endParaRPr lang="en-US" sz="176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7419082" y="1521619"/>
                <a:ext cx="2245072" cy="69056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  <a:p>
                <a:pPr algn="l" marL="0" indent="0">
                  <a:lnSpc>
                    <a:spcPts val="2719"/>
                  </a:lnSpc>
                  <a:buNone/>
                </a:pPr>
                <a:r>
                  <a:rPr lang="en-US" sz="1500" dirty="0">
                    <a:solidFill>
                      <a:srgbClr val="404040"/>
                    </a:solidFill>
                    <a:latin typeface="Arial"/>
                    <a:ea typeface="Malgun Gothic"/>
                    <a:cs typeface="Arial"/>
                  </a:rPr>
                  <a:t>treat the body as a particle</a:t>
                </a:r>
                <a:endParaRPr lang="en-US" sz="1500" dirty="0">
                  <a:solidFill>
                    <a:srgbClr val="40404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TextBox 10"/>
          <p:cNvSpPr txBox="1"/>
          <p:nvPr/>
        </p:nvSpPr>
        <p:spPr>
          <a:xfrm>
            <a:off x="4752231" y="2692450"/>
            <a:ext cx="2057102" cy="2299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11"/>
              </a:lnSpc>
              <a:buNone/>
            </a:pPr>
            <a:r>
              <a:rPr lang="en-US" sz="1725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Fixed-Axis Rotation</a:t>
            </a:r>
            <a:endParaRPr lang="en-US" sz="1725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00017" y="2979539"/>
            <a:ext cx="1761530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(c) — about fixed O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419082" y="2607469"/>
                <a:ext cx="2875062" cy="69056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α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ω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  <a:p>
                <a:pPr algn="l" marL="0" indent="0">
                  <a:lnSpc>
                    <a:spcPts val="2719"/>
                  </a:lnSpc>
                  <a:buNone/>
                </a:pPr>
                <a:r>
                  <a:rPr lang="en-US" sz="1500" dirty="0">
                    <a:solidFill>
                      <a:srgbClr val="404040"/>
                    </a:solidFill>
                    <a:latin typeface="Arial"/>
                    <a:ea typeface="Malgun Gothic"/>
                    <a:cs typeface="Arial"/>
                  </a:rPr>
                  <a:t>pulleys, flywheels, pendulums</a:t>
                </a:r>
                <a:endParaRPr lang="en-US" sz="1500" dirty="0">
                  <a:solidFill>
                    <a:srgbClr val="40404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4" name="TextBox 13"/>
          <p:cNvSpPr txBox="1"/>
          <p:nvPr/>
        </p:nvSpPr>
        <p:spPr>
          <a:xfrm>
            <a:off x="4660850" y="3778300"/>
            <a:ext cx="2239863" cy="2299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11"/>
              </a:lnSpc>
              <a:buNone/>
            </a:pPr>
            <a:r>
              <a:rPr lang="en-US" sz="1725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General Plane Motion</a:t>
            </a:r>
            <a:endParaRPr lang="en-US" sz="1725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5274" y="4065389"/>
            <a:ext cx="2411016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(d) — translation + rotation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7419082" y="3693319"/>
                <a:ext cx="3602236" cy="69056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75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translation of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2001" dirty="0">
                        <a:solidFill>
                          <a:srgbClr val="000000"/>
                        </a:solidFill>
                        <a:latin typeface="Cambria Math"/>
                      </a:rPr>
                      <m:t>G</m:t>
                    </m:r>
                  </m:oMath>
                </a14:m>
                <a:r>
                  <a:rPr lang="en-US" sz="1875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+ rotation about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2001" dirty="0">
                        <a:solidFill>
                          <a:srgbClr val="000000"/>
                        </a:solidFill>
                        <a:latin typeface="Cambria Math"/>
                      </a:rPr>
                      <m:t>G</m:t>
                    </m:r>
                  </m:oMath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  <a:p>
                <a:pPr algn="l" marL="0" indent="0">
                  <a:lnSpc>
                    <a:spcPts val="2719"/>
                  </a:lnSpc>
                  <a:buNone/>
                </a:pPr>
                <a:r>
                  <a:rPr lang="en-US" sz="1500" dirty="0">
                    <a:solidFill>
                      <a:srgbClr val="404040"/>
                    </a:solidFill>
                    <a:latin typeface="Arial"/>
                    <a:ea typeface="Malgun Gothic"/>
                    <a:cs typeface="Arial"/>
                  </a:rPr>
                  <a:t>wheels, links, connecting rods</a:t>
                </a:r>
                <a:endParaRPr lang="en-US" sz="1500" dirty="0">
                  <a:solidFill>
                    <a:srgbClr val="40404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7" name="TextBox 16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Priority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general plane motion is the most important case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— most exam problems (wheels, linkages, disks) belong here.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Three Types of Plane Motion</a:t>
            </a:r>
          </a:p>
        </p:txBody>
      </p:sp>
      <p:pic>
        <p:nvPicPr>
          <p:cNvPr id="20" name="Picture 19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219325"/>
            <a:ext cx="38100" cy="128676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riam_fig5_7_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050" y="1428750"/>
            <a:ext cx="6191250" cy="27622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60921" y="933450"/>
                <a:ext cx="11350079" cy="33531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At each instant, a body in plane motion rotates about one point C where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C</m:t>
                        </m:r>
                      </m:sub>
                    </m:sSub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</m:oMath>
                </a14:m>
                <a:endParaRPr lang="en-US" sz="22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47675" y="2324100"/>
                <a:ext cx="4914900" cy="34066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/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/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47675" y="2740968"/>
                <a:ext cx="4914900" cy="65276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/</m:t>
                              </m:r>
                              <m: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C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B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/</m:t>
                              </m:r>
                              <m:r>
                                <a:rPr lang="en-US" sz="232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C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39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6689080" y="4248150"/>
                <a:ext cx="4281041" cy="20106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:r>
                  <a:rPr lang="en-US" sz="1200" dirty="0">
                    <a:solidFill>
                      <a:srgbClr val="404040"/>
                    </a:solidFill>
                    <a:latin typeface="Arial"/>
                    <a:ea typeface="Malgun Gothic"/>
                    <a:cs typeface="Arial"/>
                  </a:rPr>
                  <a:t>Meriam &amp; Kraige, Fig. 5/7 — C lies on the normals to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m:rPr>
                            <m:sty m:val="bi"/>
                          </m:rPr>
                          <a:rPr lang="en-US" sz="1280" dirty="0">
                            <a:solidFill>
                              <a:srgbClr val="40404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1280" dirty="0">
                            <a:solidFill>
                              <a:srgbClr val="404040"/>
                            </a:solidFill>
                            <a:latin typeface="Cambria Math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404040"/>
                    </a:solidFill>
                    <a:latin typeface="Arial"/>
                    <a:ea typeface="Malgun Gothic"/>
                    <a:cs typeface="Arial"/>
                  </a:rPr>
                  <a:t> and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m:rPr>
                            <m:sty m:val="bi"/>
                          </m:rPr>
                          <a:rPr lang="en-US" sz="1280" dirty="0">
                            <a:solidFill>
                              <a:srgbClr val="40404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1280" dirty="0">
                            <a:solidFill>
                              <a:srgbClr val="404040"/>
                            </a:solidFill>
                            <a:latin typeface="Cambria Math"/>
                          </a:rPr>
                          <m:t>B</m:t>
                        </m:r>
                      </m:sub>
                    </m:sSub>
                  </m:oMath>
                </a14:m>
                <a:endParaRPr lang="en-US" sz="132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9075" y="4658767"/>
                <a:ext cx="117538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Locating C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draw lines perpendicular to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m:rPr>
                            <m:sty m:val="bi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and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m:rPr>
                            <m:sty m:val="bi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; they intersect at C (a). Parallel velocities: use their magnitudes (b), (c).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9" name="TextBox 8"/>
          <p:cNvSpPr txBox="1"/>
          <p:nvPr/>
        </p:nvSpPr>
        <p:spPr>
          <a:xfrm>
            <a:off x="219075" y="5404693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Benefit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the velocity of any point follows from one distance — no vector algebra.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19075" y="5844332"/>
                <a:ext cx="11753850" cy="3062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Caution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the IC is for </a:t>
                </a:r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velocity only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 C itself generally accelerates, so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s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ω</m:t>
                        </m:r>
                      </m:e>
                      <m:sup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r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about C is wrong.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Rectangle 10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Instantaneous Center of Zero Velocity</a:t>
            </a:r>
          </a:p>
        </p:txBody>
      </p:sp>
      <p:pic>
        <p:nvPicPr>
          <p:cNvPr id="13" name="Picture 12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428750"/>
            <a:ext cx="38100" cy="589359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otes_p84_rolling_cyclo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2170509"/>
            <a:ext cx="5715000" cy="1890117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7496175" y="4762500"/>
            <a:ext cx="4095750" cy="0"/>
          </a:xfrm>
          <a:prstGeom prst="line">
            <a:avLst/>
          </a:prstGeom>
          <a:ln w="3810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7896225" y="1924050"/>
            <a:ext cx="2819400" cy="2819400"/>
          </a:xfrm>
          <a:prstGeom prst="ellipse">
            <a:avLst/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305925" y="3333750"/>
            <a:ext cx="0" cy="1428750"/>
          </a:xfrm>
          <a:prstGeom prst="line">
            <a:avLst/>
          </a:prstGeom>
          <a:ln w="28575">
            <a:solidFill>
              <a:srgbClr val="A5A5A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305925" y="3333750"/>
            <a:ext cx="1333500" cy="0"/>
          </a:xfrm>
          <a:prstGeom prst="line">
            <a:avLst/>
          </a:prstGeom>
          <a:ln w="5715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439275" y="3924300"/>
            <a:ext cx="0" cy="742950"/>
          </a:xfrm>
          <a:prstGeom prst="line">
            <a:avLst/>
          </a:prstGeom>
          <a:ln w="57150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 8"/>
          <p:cNvSpPr/>
          <p:nvPr/>
        </p:nvSpPr>
        <p:spPr>
          <a:xfrm>
            <a:off x="8829675" y="2359132"/>
            <a:ext cx="1066800" cy="193568"/>
          </a:xfrm>
          <a:custGeom>
            <a:avLst/>
            <a:gdLst/>
            <a:ahLst/>
            <a:cxnLst/>
            <a:rect l="l" t="t" r="r" b="b"/>
            <a:pathLst>
              <a:path w="1066800" h="193568">
                <a:moveTo>
                  <a:pt x="0" y="136418"/>
                </a:moveTo>
                <a:lnTo>
                  <a:pt x="49425" y="108630"/>
                </a:lnTo>
                <a:lnTo>
                  <a:pt x="100410" y="83821"/>
                </a:lnTo>
                <a:lnTo>
                  <a:pt x="152783" y="62094"/>
                </a:lnTo>
                <a:lnTo>
                  <a:pt x="206358" y="43529"/>
                </a:lnTo>
                <a:lnTo>
                  <a:pt x="260945" y="28192"/>
                </a:lnTo>
                <a:lnTo>
                  <a:pt x="316349" y="16137"/>
                </a:lnTo>
                <a:lnTo>
                  <a:pt x="372373" y="7404"/>
                </a:lnTo>
                <a:lnTo>
                  <a:pt x="428817" y="2019"/>
                </a:lnTo>
                <a:lnTo>
                  <a:pt x="485482" y="0"/>
                </a:lnTo>
                <a:lnTo>
                  <a:pt x="542167" y="1349"/>
                </a:lnTo>
                <a:lnTo>
                  <a:pt x="598671" y="6063"/>
                </a:lnTo>
                <a:lnTo>
                  <a:pt x="654796" y="14125"/>
                </a:lnTo>
                <a:lnTo>
                  <a:pt x="710342" y="25509"/>
                </a:lnTo>
                <a:lnTo>
                  <a:pt x="765112" y="40178"/>
                </a:lnTo>
                <a:lnTo>
                  <a:pt x="818911" y="58083"/>
                </a:lnTo>
                <a:lnTo>
                  <a:pt x="871547" y="79164"/>
                </a:lnTo>
                <a:lnTo>
                  <a:pt x="922832" y="103347"/>
                </a:lnTo>
                <a:lnTo>
                  <a:pt x="972584" y="130544"/>
                </a:lnTo>
                <a:lnTo>
                  <a:pt x="1020627" y="160659"/>
                </a:lnTo>
                <a:lnTo>
                  <a:pt x="1066800" y="193568"/>
                </a:lnTo>
              </a:path>
            </a:pathLst>
          </a:custGeom>
          <a:noFill/>
          <a:ln w="57150">
            <a:solidFill>
              <a:srgbClr val="11111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4488" y="3262312"/>
            <a:ext cx="142875" cy="142875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44012" y="4700588"/>
            <a:ext cx="123825" cy="12382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460921" y="933450"/>
                <a:ext cx="11350079" cy="33531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The contact point has zero velocity, which ties the motion of G to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ω</m:t>
                    </m:r>
                  </m:oMath>
                </a14:m>
                <a:endParaRPr lang="en-US" sz="22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47675" y="1541115"/>
                <a:ext cx="6629400" cy="36462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sSub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α</m:t>
                      </m:r>
                    </m:oMath>
                  </m:oMathPara>
                </a14:m>
                <a:endParaRPr lang="en-US" sz="239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19075" y="4117777"/>
                <a:ext cx="6877050" cy="38382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:r>
                  <a:rPr lang="en-US" sz="1200" dirty="0">
                    <a:solidFill>
                      <a:srgbClr val="404040"/>
                    </a:solidFill>
                    <a:latin typeface="Arial"/>
                    <a:ea typeface="Malgun Gothic"/>
                    <a:cs typeface="Arial"/>
                  </a:rPr>
                  <a:t>Kochmann, ETH Dynamics lecture notes, p. 84 — rim point traces a cycloid; its speed is 0 at contact,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280" dirty="0">
                        <a:solidFill>
                          <a:srgbClr val="404040"/>
                        </a:solidFill>
                        <a:latin typeface="Cambria Math"/>
                      </a:rPr>
                      <m:t>2</m:t>
                    </m:r>
                    <m:r>
                      <a:rPr lang="en-US" sz="1280" dirty="0">
                        <a:solidFill>
                          <a:srgbClr val="404040"/>
                        </a:solidFill>
                        <a:latin typeface="Cambria Math"/>
                      </a:rPr>
                      <m:t>R</m:t>
                    </m:r>
                    <m:r>
                      <a:rPr lang="en-US" sz="1280" dirty="0">
                        <a:solidFill>
                          <a:srgbClr val="404040"/>
                        </a:solidFill>
                        <a:latin typeface="Cambria Math"/>
                      </a:rPr>
                      <m:t>ω</m:t>
                    </m:r>
                  </m:oMath>
                </a14:m>
                <a:r>
                  <a:rPr lang="en-US" sz="1200" dirty="0">
                    <a:solidFill>
                      <a:srgbClr val="404040"/>
                    </a:solidFill>
                    <a:latin typeface="Arial"/>
                    <a:ea typeface="Malgun Gothic"/>
                    <a:cs typeface="Arial"/>
                  </a:rPr>
                  <a:t> at the top</a:t>
                </a:r>
                <a:endParaRPr lang="en-US" sz="1200" dirty="0">
                  <a:solidFill>
                    <a:srgbClr val="40404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219075" y="4634954"/>
                <a:ext cx="68770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Common trap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</a:t>
                </a:r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zero velocity at C does not mean zero acceleration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 C accelerates toward G with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C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R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 </m:t>
                    </m:r>
                    <m:s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ω</m:t>
                        </m:r>
                      </m:e>
                      <m:sup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6" name="TextBox 15"/>
          <p:cNvSpPr txBox="1"/>
          <p:nvPr/>
        </p:nvSpPr>
        <p:spPr>
          <a:xfrm>
            <a:off x="219075" y="5380881"/>
            <a:ext cx="68770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Friction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static friction at C does no work, because C does not move at that instant.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20175" y="3295650"/>
            <a:ext cx="163116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65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G</a:t>
            </a:r>
            <a:endParaRPr lang="en-US" sz="165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10163175" y="3028950"/>
                <a:ext cx="243334" cy="276523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1761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761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9248775" y="1981200"/>
                <a:ext cx="171004" cy="276523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761" dirty="0">
                          <a:solidFill>
                            <a:srgbClr val="111111"/>
                          </a:solidFill>
                          <a:latin typeface="Cambria Math"/>
                        </a:rPr>
                        <m:t>ω</m:t>
                      </m:r>
                    </m:oMath>
                  </m:oMathPara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9058275" y="3676650"/>
                <a:ext cx="142577" cy="276523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761" dirty="0">
                          <a:solidFill>
                            <a:srgbClr val="111111"/>
                          </a:solidFill>
                          <a:latin typeface="Cambria Math"/>
                        </a:rPr>
                        <m:t>R</m:t>
                      </m:r>
                    </m:oMath>
                  </m:oMathPara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9210675" y="4876800"/>
                <a:ext cx="1027956" cy="27667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C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761" dirty="0">
                        <a:solidFill>
                          <a:srgbClr val="111111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761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1761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C</m:t>
                        </m:r>
                      </m:sub>
                    </m:sSub>
                    <m:r>
                      <m:rPr>
                        <m:sty m:val="p"/>
                      </m:rPr>
                      <a:rPr lang="en-US" sz="1761" dirty="0">
                        <a:solidFill>
                          <a:srgbClr val="111111"/>
                        </a:solidFill>
                        <a:latin typeface="Cambria Math"/>
                      </a:rPr>
                      <m:t>=</m:t>
                    </m:r>
                    <m:r>
                      <a:rPr lang="en-US" sz="1761" dirty="0">
                        <a:solidFill>
                          <a:srgbClr val="111111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111111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9553575" y="4133850"/>
                <a:ext cx="246013" cy="276523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1761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761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3" name="Rectangle 22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Rolling Without Slipping</a:t>
            </a:r>
          </a:p>
        </p:txBody>
      </p:sp>
      <p:pic>
        <p:nvPicPr>
          <p:cNvPr id="25" name="Picture 24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911376"/>
            <a:ext cx="38100" cy="589359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57925" y="2145655"/>
            <a:ext cx="2514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2525" y="2145655"/>
            <a:ext cx="1371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44125" y="2145655"/>
            <a:ext cx="18288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57925" y="2597795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72525" y="2597795"/>
            <a:ext cx="1371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44125" y="2597795"/>
            <a:ext cx="18288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57925" y="3025229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72525" y="3025229"/>
            <a:ext cx="1371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44125" y="3025229"/>
            <a:ext cx="18288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7925" y="3463082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2525" y="3463082"/>
            <a:ext cx="1371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44125" y="3463082"/>
            <a:ext cx="18288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460921" y="933450"/>
                <a:ext cx="11350079" cy="33531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I</m:t>
                    </m:r>
                  </m:oMath>
                </a14:m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plays the role of mass in rotation — mass far from the axis counts more</a:t>
                </a:r>
                <a:endParaRPr lang="en-US" sz="2000" b="1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6" name="TextBox 15"/>
          <p:cNvSpPr txBox="1"/>
          <p:nvPr/>
        </p:nvSpPr>
        <p:spPr>
          <a:xfrm>
            <a:off x="219075" y="142875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Definition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19075" y="1756321"/>
                <a:ext cx="5715000" cy="67508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∫</m:t>
                      </m:r>
                      <m:sSup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p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d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</m:oMath>
                  </m:oMathPara>
                </a14:m>
                <a:endParaRPr lang="en-US" sz="239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8" name="TextBox 17"/>
          <p:cNvSpPr txBox="1"/>
          <p:nvPr/>
        </p:nvSpPr>
        <p:spPr>
          <a:xfrm>
            <a:off x="219075" y="2583805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Parallel-axis theorem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447675" y="3023741"/>
                <a:ext cx="5486400" cy="36462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O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sSup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</m:e>
                        <m:sup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39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219075" y="3653135"/>
                <a:ext cx="57340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d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distance between the axis through G and the parallel axis through O.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1" name="TextBox 20"/>
          <p:cNvSpPr txBox="1"/>
          <p:nvPr/>
        </p:nvSpPr>
        <p:spPr>
          <a:xfrm>
            <a:off x="6257925" y="142875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Common bodies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57925" y="1822996"/>
            <a:ext cx="2381250" cy="27503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2016"/>
              </a:lnSpc>
              <a:buNone/>
            </a:pPr>
            <a:r>
              <a:rPr lang="en-US" sz="1575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Body</a:t>
            </a:r>
            <a:endParaRPr lang="en-US" sz="1575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72525" y="1822996"/>
            <a:ext cx="1238250" cy="27503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2016"/>
              </a:lnSpc>
              <a:buNone/>
            </a:pPr>
            <a:r>
              <a:rPr lang="en-US" sz="1575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Axis</a:t>
            </a:r>
            <a:endParaRPr lang="en-US" sz="1575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10144125" y="1822996"/>
                <a:ext cx="1695450" cy="275034"/>
              </a:xfrm>
              <a:prstGeom prst="rect">
                <a:avLst/>
              </a:prstGeom>
              <a:noFill/>
            </p:spPr>
            <p:txBody>
              <a:bodyPr wrap="none" lIns="0" tIns="0" rIns="0" bIns="0" anchor="b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681" dirty="0">
                          <a:solidFill>
                            <a:srgbClr val="203864"/>
                          </a:solidFill>
                          <a:latin typeface="Cambria Math"/>
                        </a:rPr>
                        <m:t>I</m:t>
                      </m:r>
                    </m:oMath>
                  </m:oMathPara>
                </a14:m>
                <a:endParaRPr lang="en-US" sz="1733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5" name="TextBox 24"/>
          <p:cNvSpPr txBox="1"/>
          <p:nvPr/>
        </p:nvSpPr>
        <p:spPr>
          <a:xfrm>
            <a:off x="6257925" y="2240905"/>
            <a:ext cx="2381250" cy="290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2016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Solid disk</a:t>
            </a:r>
            <a:endParaRPr lang="en-US" sz="1575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772525" y="2240905"/>
            <a:ext cx="1238250" cy="2902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2016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centre</a:t>
            </a:r>
            <a:endParaRPr lang="en-US" sz="1575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10144125" y="2240905"/>
                <a:ext cx="1695450" cy="29021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nor/>
                        </m:rPr>
                        <a:rPr lang="en-US" sz="1681" dirty="0">
                          <a:solidFill>
                            <a:srgbClr val="000000"/>
                          </a:solidFill>
                          <a:latin typeface="Cambria Math"/>
                        </a:rPr>
                        <m:t>½</m:t>
                      </m:r>
                      <m:r>
                        <a:rPr lang="en-US" sz="168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sSup>
                        <m:e>
                          <m:r>
                            <a:rPr lang="en-US" sz="168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p>
                          <m:r>
                            <a:rPr lang="en-US" sz="168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733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8" name="TextBox 27"/>
          <p:cNvSpPr txBox="1"/>
          <p:nvPr/>
        </p:nvSpPr>
        <p:spPr>
          <a:xfrm>
            <a:off x="6257925" y="2683520"/>
            <a:ext cx="2381250" cy="2750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2016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Thin ring</a:t>
            </a:r>
            <a:endParaRPr lang="en-US" sz="1575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772525" y="2683520"/>
            <a:ext cx="1238250" cy="27503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2016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centre</a:t>
            </a:r>
            <a:endParaRPr lang="en-US" sz="1575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10144125" y="2683520"/>
                <a:ext cx="1695450" cy="27503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68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sSup>
                        <m:e>
                          <m:r>
                            <a:rPr lang="en-US" sz="168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p>
                          <m:r>
                            <a:rPr lang="en-US" sz="168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733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1" name="TextBox 30"/>
          <p:cNvSpPr txBox="1"/>
          <p:nvPr/>
        </p:nvSpPr>
        <p:spPr>
          <a:xfrm>
            <a:off x="6257925" y="3110954"/>
            <a:ext cx="2381250" cy="285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2016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Slender rod</a:t>
            </a:r>
            <a:endParaRPr lang="en-US" sz="1575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72525" y="3110954"/>
            <a:ext cx="1238250" cy="285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2016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centre</a:t>
            </a:r>
            <a:endParaRPr lang="en-US" sz="1575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10144125" y="3110954"/>
                <a:ext cx="1695450" cy="28545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nor/>
                        </m:rPr>
                        <a:rPr lang="en-US" sz="1681" dirty="0">
                          <a:solidFill>
                            <a:srgbClr val="000000"/>
                          </a:solidFill>
                          <a:latin typeface="Cambria Math"/>
                        </a:rPr>
                        <m:t>¹⁄₁₂</m:t>
                      </m:r>
                      <m:r>
                        <a:rPr lang="en-US" sz="168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sSup>
                        <m:e>
                          <m:r>
                            <a:rPr lang="en-US" sz="168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</m:t>
                          </m:r>
                        </m:e>
                        <m:sup>
                          <m:r>
                            <a:rPr lang="en-US" sz="168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733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4" name="TextBox 33"/>
          <p:cNvSpPr txBox="1"/>
          <p:nvPr/>
        </p:nvSpPr>
        <p:spPr>
          <a:xfrm>
            <a:off x="6257925" y="3548807"/>
            <a:ext cx="2381250" cy="28069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2016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Slender rod</a:t>
            </a:r>
            <a:endParaRPr lang="en-US" sz="1575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772525" y="3548807"/>
            <a:ext cx="1238250" cy="28069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2016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end</a:t>
            </a:r>
            <a:endParaRPr lang="en-US" sz="1575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10144125" y="3548807"/>
                <a:ext cx="1695450" cy="28069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nor/>
                        </m:rPr>
                        <a:rPr lang="en-US" sz="1681" dirty="0">
                          <a:solidFill>
                            <a:srgbClr val="000000"/>
                          </a:solidFill>
                          <a:latin typeface="Cambria Math"/>
                        </a:rPr>
                        <m:t>⅓</m:t>
                      </m:r>
                      <m:r>
                        <a:rPr lang="en-US" sz="168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sSup>
                        <m:e>
                          <m:r>
                            <a:rPr lang="en-US" sz="168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</m:t>
                          </m:r>
                        </m:e>
                        <m:sup>
                          <m:r>
                            <a:rPr lang="en-US" sz="168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733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219075" y="5793135"/>
                <a:ext cx="11753850" cy="66481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Quick check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rod about its end,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m:rPr>
                        <m:nor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¹⁄₁₂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m</m:t>
                    </m:r>
                    <m:s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L</m:t>
                        </m:r>
                      </m:e>
                      <m:sup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+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m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f>
                              <m:fPr>
                                <m:type m:val="lin"/>
                              </m:fPr>
                              <m:num>
                                <m:r>
                                  <a:rPr lang="en-US" sz="192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L</m:t>
                                </m:r>
                              </m:num>
                              <m:den>
                                <m:r>
                                  <a:rPr lang="en-US" sz="192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</m:oMath>
                </a14:m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FF0000"/>
                        </a:solidFill>
                        <a:latin typeface="Cambria Math"/>
                      </a:rPr>
                      <m:t> </m:t>
                    </m:r>
                    <m:r>
                      <m:rPr>
                        <m:nor/>
                      </m:rPr>
                      <a:rPr lang="en-US" sz="1921" dirty="0">
                        <a:solidFill>
                          <a:srgbClr val="FF0000"/>
                        </a:solidFill>
                        <a:latin typeface="Cambria Math"/>
                      </a:rPr>
                      <m:t>⅓</m:t>
                    </m:r>
                    <m:r>
                      <a:rPr lang="en-US" sz="1921" dirty="0">
                        <a:solidFill>
                          <a:srgbClr val="FF0000"/>
                        </a:solidFill>
                        <a:latin typeface="Cambria Math"/>
                      </a:rPr>
                      <m:t>m</m:t>
                    </m:r>
                    <m:sSup>
                      <m:e>
                        <m:r>
                          <a:rPr lang="en-US" sz="192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L</m:t>
                        </m:r>
                      </m:e>
                      <m:sup>
                        <m:r>
                          <a:rPr lang="en-US" sz="192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— the table's last row follows from the parallel-axis theorem.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8" name="Rectangle 37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Mass Moment of Inertia</a:t>
            </a:r>
          </a:p>
        </p:txBody>
      </p:sp>
      <p:pic>
        <p:nvPicPr>
          <p:cNvPr id="40" name="Picture 39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428750"/>
            <a:ext cx="38100" cy="118169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riam_fig6_4_fbd_kine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7550" y="1428750"/>
            <a:ext cx="4476750" cy="34014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Two equations used together — one for translation, one for rotation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257425" y="1485900"/>
                <a:ext cx="4057650" cy="486073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∑</m:t>
                      </m:r>
                      <m:r>
                        <m:rPr>
                          <m:sty m:val="bi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lang="en-US" sz="239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6" name="TextBox 5"/>
          <p:cNvSpPr txBox="1"/>
          <p:nvPr/>
        </p:nvSpPr>
        <p:spPr>
          <a:xfrm>
            <a:off x="447675" y="1533525"/>
            <a:ext cx="1809750" cy="48607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Translation</a:t>
            </a:r>
            <a:endParaRPr lang="en-US" sz="1575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257425" y="2067223"/>
                <a:ext cx="4057650" cy="486073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∑</m:t>
                      </m:r>
                      <m:sSub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α</m:t>
                      </m:r>
                    </m:oMath>
                  </m:oMathPara>
                </a14:m>
                <a:endParaRPr lang="en-US" sz="239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8" name="TextBox 7"/>
          <p:cNvSpPr txBox="1"/>
          <p:nvPr/>
        </p:nvSpPr>
        <p:spPr>
          <a:xfrm>
            <a:off x="447675" y="2114848"/>
            <a:ext cx="1809750" cy="48607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Rotation</a:t>
            </a:r>
            <a:endParaRPr lang="en-US" sz="1575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9075" y="2762845"/>
            <a:ext cx="6096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Plane motion: three scalar equations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19075" y="3090416"/>
                <a:ext cx="6096000" cy="41910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∑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F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∑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F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∑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α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TextBox 10"/>
          <p:cNvSpPr txBox="1"/>
          <p:nvPr/>
        </p:nvSpPr>
        <p:spPr>
          <a:xfrm>
            <a:off x="219075" y="3585716"/>
            <a:ext cx="6096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Fixed-axis rotation about O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219075" y="3913287"/>
                <a:ext cx="6096000" cy="41910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∑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O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O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α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19075" y="4427637"/>
                <a:ext cx="61150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Procedure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FBD ≡ kinetic diagram → kinematic link (e.g.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R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α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) → solve.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6638925" y="4887367"/>
                <a:ext cx="5334000" cy="38382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:r>
                  <a:rPr lang="en-US" sz="1200" dirty="0">
                    <a:solidFill>
                      <a:srgbClr val="404040"/>
                    </a:solidFill>
                    <a:latin typeface="Arial"/>
                    <a:ea typeface="Malgun Gothic"/>
                    <a:cs typeface="Arial"/>
                  </a:rPr>
                  <a:t>Meriam &amp; Kraige, Fig. 6/4 — forces on the FBD ≡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280" dirty="0">
                        <a:solidFill>
                          <a:srgbClr val="404040"/>
                        </a:solidFill>
                        <a:latin typeface="Cambria Math"/>
                      </a:rPr>
                      <m:t>m</m:t>
                    </m:r>
                    <m:acc>
                      <m:accPr>
                        <m:chr m:val="‾"/>
                      </m:accPr>
                      <m:e>
                        <m:r>
                          <m:rPr>
                            <m:sty m:val="bi"/>
                          </m:rPr>
                          <a:rPr lang="en-US" sz="1280" dirty="0">
                            <a:solidFill>
                              <a:srgbClr val="404040"/>
                            </a:solidFill>
                            <a:latin typeface="Cambria Math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sz="1200" dirty="0">
                    <a:solidFill>
                      <a:srgbClr val="404040"/>
                    </a:solidFill>
                    <a:latin typeface="Arial"/>
                    <a:ea typeface="Malgun Gothic"/>
                    <a:cs typeface="Arial"/>
                  </a:rPr>
                  <a:t> and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acc>
                      <m:accPr>
                        <m:chr m:val="‾"/>
                      </m:accPr>
                      <m:e>
                        <m:r>
                          <a:rPr lang="en-US" sz="1280" dirty="0">
                            <a:solidFill>
                              <a:srgbClr val="404040"/>
                            </a:solidFill>
                            <a:latin typeface="Cambria Math"/>
                          </a:rPr>
                          <m:t>I</m:t>
                        </m:r>
                      </m:e>
                    </m:acc>
                    <m:r>
                      <a:rPr lang="en-US" sz="1280" dirty="0">
                        <a:solidFill>
                          <a:srgbClr val="404040"/>
                        </a:solidFill>
                        <a:latin typeface="Cambria Math"/>
                      </a:rPr>
                      <m:t>α</m:t>
                    </m:r>
                  </m:oMath>
                </a14:m>
                <a:r>
                  <a:rPr lang="en-US" sz="1200" dirty="0">
                    <a:solidFill>
                      <a:srgbClr val="404040"/>
                    </a:solidFill>
                    <a:latin typeface="Arial"/>
                    <a:ea typeface="Malgun Gothic"/>
                    <a:cs typeface="Arial"/>
                  </a:rPr>
                  <a:t> on the kinetic diagram</a:t>
                </a:r>
                <a:endParaRPr lang="en-US" sz="1200" dirty="0">
                  <a:solidFill>
                    <a:srgbClr val="40404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5" name="TextBox 14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Starting point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almost every rigid-body kinetics problem starts from these two equations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Rigid Body Kinetics: Force–Acceleration</a:t>
            </a:r>
          </a:p>
        </p:txBody>
      </p:sp>
      <p:pic>
        <p:nvPicPr>
          <p:cNvPr id="18" name="Picture 17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428750"/>
            <a:ext cx="38100" cy="60573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Kinetic energy has two parts: translation of G and rotation about G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47675" y="1541115"/>
                <a:ext cx="11525250" cy="38100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½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sSubSup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  <m:sup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nor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½</m:t>
                      </m:r>
                      <m:sSub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p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ω</m:t>
                          </m:r>
                        </m:e>
                        <m:sup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sSub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U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→</m:t>
                          </m:r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39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19075" y="2186880"/>
                <a:ext cx="1175385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Example: solid disk rolling from rest down a height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h</m:t>
                    </m:r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2543026"/>
                <a:ext cx="11753850" cy="367754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½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nor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½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nor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½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</m:t>
                          </m:r>
                          <m:sSup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lin"/>
                                </m:fPr>
                                <m:num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v</m:t>
                                  </m:r>
                                </m:num>
                                <m:den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R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¾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19075" y="2986980"/>
                <a:ext cx="11753850" cy="50646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g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h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¾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r>
                            <m:rPr>
                              <m:nor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⁴⁄₃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 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h</m:t>
                          </m:r>
                        </m:e>
                      </m:rad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sliding block: 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=</m:t>
                          </m:r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h</m:t>
                              </m:r>
                            </m:e>
                          </m:rad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9075" y="5703094"/>
                <a:ext cx="11753850" cy="31521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Rolling recipe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T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nor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½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m</m:t>
                    </m:r>
                    <m:sSub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  <m:sup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+</m:t>
                    </m:r>
                    <m:r>
                      <m:rPr>
                        <m:nor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½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  <m:s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ω</m:t>
                        </m:r>
                      </m:e>
                      <m:sup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together with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R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ω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solves most rolling problems.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9" name="TextBox 8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Interpretation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rotation stores part of the energy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, so the rolling disk arrives slower than a frictionless sliding block.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Rigid Body Work–Energy</a:t>
            </a:r>
          </a:p>
        </p:txBody>
      </p:sp>
      <p:pic>
        <p:nvPicPr>
          <p:cNvPr id="12" name="Picture 11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428750"/>
            <a:ext cx="38100" cy="1578769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Rigid bodies need both linear and angular momentum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2257425" y="1485900"/>
                <a:ext cx="9715500" cy="67508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∫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∑</m:t>
                      </m:r>
                      <m:r>
                        <m:rPr>
                          <m:sty m:val="bi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F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d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39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5" name="TextBox 4"/>
          <p:cNvSpPr txBox="1"/>
          <p:nvPr/>
        </p:nvSpPr>
        <p:spPr>
          <a:xfrm>
            <a:off x="447675" y="1533525"/>
            <a:ext cx="1809750" cy="6750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Linear</a:t>
            </a:r>
            <a:endParaRPr lang="en-US" sz="1575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257425" y="2275284"/>
                <a:ext cx="9715500" cy="67508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ω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∫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∑</m:t>
                      </m:r>
                      <m:sSub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d</m:t>
                      </m:r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32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ω</m:t>
                          </m:r>
                        </m:e>
                        <m:sub>
                          <m:r>
                            <a:rPr lang="en-US" sz="232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39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7" name="TextBox 6"/>
          <p:cNvSpPr txBox="1"/>
          <p:nvPr/>
        </p:nvSpPr>
        <p:spPr>
          <a:xfrm>
            <a:off x="447675" y="2322909"/>
            <a:ext cx="1809750" cy="6750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Angular (G)</a:t>
            </a:r>
            <a:endParaRPr lang="en-US" sz="1575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9075" y="3159919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No external moment impulse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19075" y="3487489"/>
                <a:ext cx="57150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ω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ω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19075" y="3878014"/>
                <a:ext cx="5715000" cy="3062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A spinning skater pulls in the arms: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I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drops, so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ω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rises.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TextBox 10"/>
          <p:cNvSpPr txBox="1"/>
          <p:nvPr/>
        </p:nvSpPr>
        <p:spPr>
          <a:xfrm>
            <a:off x="6257925" y="3159919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Typical uses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57925" y="3487489"/>
            <a:ext cx="5715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Impacts on bars and pendulums, spinning bodies that change shape, coupled rotors.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Conservation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with no external moment impulse,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angular momentum is conserved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— even when energy is not.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Rigid Body Impulse–Momentum</a:t>
            </a:r>
          </a:p>
        </p:txBody>
      </p:sp>
      <p:pic>
        <p:nvPicPr>
          <p:cNvPr id="16" name="Picture 15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790254"/>
            <a:ext cx="4324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43425" y="1790254"/>
            <a:ext cx="29908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34275" y="1790254"/>
            <a:ext cx="44386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075" y="2211586"/>
            <a:ext cx="4324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43425" y="2211586"/>
            <a:ext cx="2990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34275" y="2211586"/>
            <a:ext cx="44386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075" y="2618631"/>
            <a:ext cx="4324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43425" y="2618631"/>
            <a:ext cx="2990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34275" y="2618631"/>
            <a:ext cx="44386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075" y="3025676"/>
            <a:ext cx="4324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43425" y="3025676"/>
            <a:ext cx="2990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4275" y="3025676"/>
            <a:ext cx="44386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075" y="3432721"/>
            <a:ext cx="4324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43425" y="3432721"/>
            <a:ext cx="2990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34275" y="3432721"/>
            <a:ext cx="44386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9075" y="3848100"/>
            <a:ext cx="4324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43425" y="3848100"/>
            <a:ext cx="2990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34275" y="3848100"/>
            <a:ext cx="44386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075" y="4255145"/>
            <a:ext cx="4324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43425" y="4255145"/>
            <a:ext cx="2990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34275" y="4255145"/>
            <a:ext cx="44386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Pick the method before searching for a formula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9075" y="1495425"/>
            <a:ext cx="41910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What the problem gives or asks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43425" y="1495425"/>
            <a:ext cx="28575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Method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34275" y="1495425"/>
            <a:ext cx="43053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Start from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075" y="1885504"/>
            <a:ext cx="419100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Position, velocity, acceleration versus time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43425" y="1885504"/>
            <a:ext cx="285750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Kinematics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7534275" y="1885504"/>
                <a:ext cx="4305300" cy="25940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d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/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d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d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/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d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0" name="TextBox 29"/>
          <p:cNvSpPr txBox="1"/>
          <p:nvPr/>
        </p:nvSpPr>
        <p:spPr>
          <a:xfrm>
            <a:off x="219075" y="2297311"/>
            <a:ext cx="41910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Forces linked directly to acceleration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43425" y="2297311"/>
            <a:ext cx="28575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Force–Acceleration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7534275" y="2297311"/>
                <a:ext cx="43053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∑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∑</m:t>
                      </m:r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α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3" name="TextBox 32"/>
          <p:cNvSpPr txBox="1"/>
          <p:nvPr/>
        </p:nvSpPr>
        <p:spPr>
          <a:xfrm>
            <a:off x="219075" y="2704356"/>
            <a:ext cx="41910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Position ↔ speed, time not needed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43425" y="2704356"/>
            <a:ext cx="28575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Work–Energy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7534275" y="2704356"/>
                <a:ext cx="43053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U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→</m:t>
                          </m:r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6" name="TextBox 35"/>
          <p:cNvSpPr txBox="1"/>
          <p:nvPr/>
        </p:nvSpPr>
        <p:spPr>
          <a:xfrm>
            <a:off x="219075" y="3111401"/>
            <a:ext cx="41910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Impact, collision, large force over short time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43425" y="3111401"/>
            <a:ext cx="28575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Impulse–Momentum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7534275" y="3111401"/>
                <a:ext cx="43053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∫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F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d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9" name="TextBox 38"/>
          <p:cNvSpPr txBox="1"/>
          <p:nvPr/>
        </p:nvSpPr>
        <p:spPr>
          <a:xfrm>
            <a:off x="219075" y="3518446"/>
            <a:ext cx="4191000" cy="26297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Velocities of several points on a rigid body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543425" y="3518446"/>
            <a:ext cx="2857500" cy="26297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Relative velocity / IC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/>
              <p:cNvSpPr txBox="1"/>
              <p:nvPr/>
            </p:nvSpPr>
            <p:spPr>
              <a:xfrm>
                <a:off x="7534275" y="3518446"/>
                <a:ext cx="4305300" cy="262979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bi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/</m:t>
                          </m:r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42" name="TextBox 41"/>
          <p:cNvSpPr txBox="1"/>
          <p:nvPr/>
        </p:nvSpPr>
        <p:spPr>
          <a:xfrm>
            <a:off x="219075" y="3933825"/>
            <a:ext cx="41910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Rolling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543425" y="3933825"/>
            <a:ext cx="28575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Rolling constraint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/>
              <p:cNvSpPr txBox="1"/>
              <p:nvPr/>
            </p:nvSpPr>
            <p:spPr>
              <a:xfrm>
                <a:off x="7534275" y="3933825"/>
                <a:ext cx="43053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45" name="TextBox 44"/>
          <p:cNvSpPr txBox="1"/>
          <p:nvPr/>
        </p:nvSpPr>
        <p:spPr>
          <a:xfrm>
            <a:off x="219075" y="4340870"/>
            <a:ext cx="4191000" cy="2561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Energy of a rigid body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543425" y="4340870"/>
            <a:ext cx="2857500" cy="2561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Rigid-body KE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/>
              <p:cNvSpPr txBox="1"/>
              <p:nvPr/>
            </p:nvSpPr>
            <p:spPr>
              <a:xfrm>
                <a:off x="7534275" y="4340870"/>
                <a:ext cx="4305300" cy="256133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nor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½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sSubSup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  <m:sup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nor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½</m:t>
                      </m:r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sSup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ω</m:t>
                          </m:r>
                        </m:e>
                        <m:sup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48" name="TextBox 47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Core skill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choosing the method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matters more than recalling formulas — the right choice often removes an unknown entirely.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Choosing the Method</a:t>
            </a:r>
          </a:p>
        </p:txBody>
      </p:sp>
      <p:pic>
        <p:nvPicPr>
          <p:cNvPr id="51" name="Picture 50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901130"/>
            <a:ext cx="5117753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7828" y="1901130"/>
            <a:ext cx="6255097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075" y="2628602"/>
            <a:ext cx="5117753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7828" y="2628602"/>
            <a:ext cx="6255097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075" y="3243858"/>
            <a:ext cx="5117753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7828" y="3243858"/>
            <a:ext cx="6255097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075" y="3714452"/>
            <a:ext cx="5117753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7828" y="3714452"/>
            <a:ext cx="6255097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9075" y="4196358"/>
            <a:ext cx="5117753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7828" y="4196358"/>
            <a:ext cx="6255097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The minimum set to have ready before an exam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9075" y="1560165"/>
            <a:ext cx="3238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1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6275" y="1556296"/>
            <a:ext cx="1714500" cy="217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710"/>
              </a:lnSpc>
              <a:buNone/>
            </a:pPr>
            <a:r>
              <a:rPr lang="en-US" sz="1425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Newton's 2nd law</a:t>
            </a:r>
            <a:endParaRPr lang="en-US" sz="1425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2524125" y="1526530"/>
                <a:ext cx="915591" cy="27667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∑</m:t>
                      </m:r>
                      <m: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</m:oMath>
                  </m:oMathPara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6" name="TextBox 15"/>
          <p:cNvSpPr txBox="1"/>
          <p:nvPr/>
        </p:nvSpPr>
        <p:spPr>
          <a:xfrm>
            <a:off x="5717828" y="1560165"/>
            <a:ext cx="3238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6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75028" y="1556296"/>
            <a:ext cx="1714500" cy="217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710"/>
              </a:lnSpc>
              <a:buNone/>
            </a:pPr>
            <a:r>
              <a:rPr lang="en-US" sz="1425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Relative acceleration</a:t>
            </a:r>
            <a:endParaRPr lang="en-US" sz="1425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8022878" y="1514475"/>
                <a:ext cx="3199805" cy="30093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α</m:t>
                      </m:r>
                      <m:r>
                        <m:rPr>
                          <m:sty m:val="p"/>
                        </m:rP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sSub>
                        <m:e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/</m:t>
                          </m:r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sSub>
                        <m:e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/</m:t>
                          </m:r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9" name="TextBox 18"/>
          <p:cNvSpPr txBox="1"/>
          <p:nvPr/>
        </p:nvSpPr>
        <p:spPr>
          <a:xfrm>
            <a:off x="219075" y="2164854"/>
            <a:ext cx="3238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2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6275" y="2160984"/>
            <a:ext cx="1714500" cy="217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710"/>
              </a:lnSpc>
              <a:buNone/>
            </a:pPr>
            <a:r>
              <a:rPr lang="en-US" sz="1425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Normal acceleration</a:t>
            </a:r>
            <a:endParaRPr lang="en-US" sz="1425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2524125" y="1996380"/>
                <a:ext cx="723602" cy="54649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p>
                            <m:e>
                              <m:r>
                                <a:rPr lang="en-US" sz="176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v</m:t>
                              </m:r>
                            </m:e>
                            <m:sup>
                              <m:r>
                                <a:rPr lang="en-US" sz="176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ρ</m:t>
                          </m:r>
                        </m:den>
                      </m:f>
                    </m:oMath>
                  </m:oMathPara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2" name="TextBox 21"/>
          <p:cNvSpPr txBox="1"/>
          <p:nvPr/>
        </p:nvSpPr>
        <p:spPr>
          <a:xfrm>
            <a:off x="5717828" y="2164854"/>
            <a:ext cx="3238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7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75028" y="2160984"/>
            <a:ext cx="1714500" cy="217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710"/>
              </a:lnSpc>
              <a:buNone/>
            </a:pPr>
            <a:r>
              <a:rPr lang="en-US" sz="1425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Rolling</a:t>
            </a:r>
            <a:endParaRPr lang="en-US" sz="1425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8022878" y="2131368"/>
                <a:ext cx="802035" cy="276523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</m:oMath>
                  </m:oMathPara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5" name="TextBox 24"/>
          <p:cNvSpPr txBox="1"/>
          <p:nvPr/>
        </p:nvSpPr>
        <p:spPr>
          <a:xfrm>
            <a:off x="219075" y="2836218"/>
            <a:ext cx="3238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3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6275" y="2832348"/>
            <a:ext cx="1714500" cy="217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710"/>
              </a:lnSpc>
              <a:buNone/>
            </a:pPr>
            <a:r>
              <a:rPr lang="en-US" sz="1425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Work–energy</a:t>
            </a:r>
            <a:endParaRPr lang="en-US" sz="1425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2524125" y="2802731"/>
                <a:ext cx="1432768" cy="276523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e>
                        <m:sub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U</m:t>
                          </m:r>
                        </m:e>
                        <m:sub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→</m:t>
                          </m:r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e>
                        <m:sub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8" name="TextBox 27"/>
          <p:cNvSpPr txBox="1"/>
          <p:nvPr/>
        </p:nvSpPr>
        <p:spPr>
          <a:xfrm>
            <a:off x="5717828" y="2836218"/>
            <a:ext cx="3238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8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75028" y="2723852"/>
            <a:ext cx="1733550" cy="434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1710"/>
              </a:lnSpc>
              <a:buNone/>
            </a:pPr>
            <a:r>
              <a:rPr lang="en-US" sz="1425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Rigid body, translation</a:t>
            </a:r>
            <a:endParaRPr lang="en-US" sz="1425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8022878" y="2802582"/>
                <a:ext cx="1043732" cy="27667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∑</m:t>
                      </m:r>
                      <m: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sSub>
                        <m:e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1" name="TextBox 30"/>
          <p:cNvSpPr txBox="1"/>
          <p:nvPr/>
        </p:nvSpPr>
        <p:spPr>
          <a:xfrm>
            <a:off x="219075" y="3379143"/>
            <a:ext cx="3238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4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76275" y="3375273"/>
            <a:ext cx="1714500" cy="217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710"/>
              </a:lnSpc>
              <a:buNone/>
            </a:pPr>
            <a:r>
              <a:rPr lang="en-US" sz="1425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Impulse–momentum</a:t>
            </a:r>
            <a:endParaRPr lang="en-US" sz="1425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2524125" y="3339108"/>
                <a:ext cx="1750219" cy="28962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sSub>
                        <m:e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∫</m:t>
                      </m:r>
                      <m: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F</m:t>
                      </m:r>
                      <m: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d</m:t>
                      </m:r>
                      <m: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sSub>
                        <m:e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4" name="TextBox 33"/>
          <p:cNvSpPr txBox="1"/>
          <p:nvPr/>
        </p:nvSpPr>
        <p:spPr>
          <a:xfrm>
            <a:off x="5717828" y="3379143"/>
            <a:ext cx="3238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9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175028" y="3375273"/>
            <a:ext cx="1714500" cy="217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710"/>
              </a:lnSpc>
              <a:buNone/>
            </a:pPr>
            <a:r>
              <a:rPr lang="en-US" sz="1425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Rigid body, rotation</a:t>
            </a:r>
            <a:endParaRPr lang="en-US" sz="1425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8022878" y="3345507"/>
                <a:ext cx="1107579" cy="27667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∑</m:t>
                      </m:r>
                      <m:sSub>
                        <m:e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</m:t>
                          </m:r>
                        </m:e>
                        <m:sub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α</m:t>
                      </m:r>
                    </m:oMath>
                  </m:oMathPara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7" name="TextBox 36"/>
          <p:cNvSpPr txBox="1"/>
          <p:nvPr/>
        </p:nvSpPr>
        <p:spPr>
          <a:xfrm>
            <a:off x="219075" y="3855393"/>
            <a:ext cx="3238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5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76275" y="3851523"/>
            <a:ext cx="1714500" cy="217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710"/>
              </a:lnSpc>
              <a:buNone/>
            </a:pPr>
            <a:r>
              <a:rPr lang="en-US" sz="1425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Relative velocity</a:t>
            </a:r>
            <a:endParaRPr lang="en-US" sz="1425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/>
              <p:cNvSpPr txBox="1"/>
              <p:nvPr/>
            </p:nvSpPr>
            <p:spPr>
              <a:xfrm>
                <a:off x="2524125" y="3809702"/>
                <a:ext cx="1678632" cy="30093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sSub>
                        <m:e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/</m:t>
                          </m:r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sub>
                      </m:sSub>
                    </m:oMath>
                  </m:oMathPara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40" name="TextBox 39"/>
          <p:cNvSpPr txBox="1"/>
          <p:nvPr/>
        </p:nvSpPr>
        <p:spPr>
          <a:xfrm>
            <a:off x="5717828" y="3855393"/>
            <a:ext cx="3238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10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175028" y="3851523"/>
            <a:ext cx="1714500" cy="217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710"/>
              </a:lnSpc>
              <a:buNone/>
            </a:pPr>
            <a:r>
              <a:rPr lang="en-US" sz="1425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Rigid-body KE</a:t>
            </a:r>
            <a:endParaRPr lang="en-US" sz="1425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/>
              <p:cNvSpPr txBox="1"/>
              <p:nvPr/>
            </p:nvSpPr>
            <p:spPr>
              <a:xfrm>
                <a:off x="8022878" y="3810893"/>
                <a:ext cx="1787575" cy="29854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½</m:t>
                      </m:r>
                      <m: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sSubSup>
                        <m:e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  <m:sup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nor/>
                        </m:rPr>
                        <a:rPr lang="en-US" sz="1761" dirty="0">
                          <a:solidFill>
                            <a:srgbClr val="000000"/>
                          </a:solidFill>
                          <a:latin typeface="Cambria Math"/>
                        </a:rPr>
                        <m:t>½</m:t>
                      </m:r>
                      <m:sSub>
                        <m:e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sSup>
                        <m:e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ω</m:t>
                          </m:r>
                        </m:e>
                        <m:sup>
                          <m:r>
                            <a:rPr lang="en-US" sz="176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43" name="TextBox 42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Pattern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1–4 are particle tools; 5–10 add rotation to the same ideas.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Ten Equations to Remember</a:t>
            </a:r>
          </a:p>
        </p:txBody>
      </p:sp>
      <p:pic>
        <p:nvPicPr>
          <p:cNvPr id="46" name="Picture 45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8125" y="1438275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7675" y="1438275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Kinematics describes motion; kinetics explains it through forces and moments 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/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6725" y="1812875"/>
            <a:ext cx="2667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→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375" y="1812875"/>
            <a:ext cx="112585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Choose coordinates to fit the path: Cartesian, n–t, or r–θ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8125" y="2231975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7675" y="2231975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Three kinetics methods for a particle 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/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6725" y="2596902"/>
            <a:ext cx="2667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→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4375" y="2596902"/>
                <a:ext cx="11258550" cy="38472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∑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F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m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·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+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U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→</m:t>
                        </m:r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·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m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+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∫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F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 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d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t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m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198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0" name="TextBox 9"/>
          <p:cNvSpPr txBox="1"/>
          <p:nvPr/>
        </p:nvSpPr>
        <p:spPr>
          <a:xfrm>
            <a:off x="238125" y="3045470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447675" y="3045470"/>
                <a:ext cx="11525250" cy="35227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Rigid-body dynamics adds </a:t>
                </a:r>
                <a:r>
                  <a:rPr lang="en-US" sz="20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rotation</a:t>
                </a: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ω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α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I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and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∑</m:t>
                    </m:r>
                    <m:sSub>
                      <m:e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M</m:t>
                        </m:r>
                      </m:e>
                      <m:sub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sSub>
                      <m:e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α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</a:t>
                </a: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/>
                </a:r>
                <a:endParaRPr lang="en-US" sz="20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2" name="TextBox 11"/>
          <p:cNvSpPr txBox="1"/>
          <p:nvPr/>
        </p:nvSpPr>
        <p:spPr>
          <a:xfrm>
            <a:off x="466725" y="3429595"/>
            <a:ext cx="2667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→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4375" y="3429595"/>
                <a:ext cx="11258550" cy="3178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Kinematics: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m:rPr>
                            <m:sty m:val="bi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B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sSub>
                      <m:e>
                        <m:r>
                          <m:rPr>
                            <m:sty m:val="bi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A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+</m:t>
                    </m:r>
                    <m:r>
                      <m:rPr>
                        <m:sty m:val="bi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ω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×</m:t>
                    </m:r>
                    <m:sSub>
                      <m:e>
                        <m:r>
                          <m:rPr>
                            <m:sty m:val="bi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r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/</m:t>
                        </m:r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IC, rolling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R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ω</m:t>
                    </m:r>
                  </m:oMath>
                </a14:m>
                <a:endParaRPr lang="en-US" sz="198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4" name="TextBox 13"/>
          <p:cNvSpPr txBox="1"/>
          <p:nvPr/>
        </p:nvSpPr>
        <p:spPr>
          <a:xfrm>
            <a:off x="466725" y="3772198"/>
            <a:ext cx="2667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→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714375" y="3772198"/>
                <a:ext cx="11258550" cy="458539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Energy and momentum each gain a rotational term: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nor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½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  <m:s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ω</m:t>
                        </m:r>
                      </m:e>
                      <m:sup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 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ω</m:t>
                    </m:r>
                  </m:oMath>
                </a14:m>
                <a:endParaRPr lang="en-US" sz="198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6" name="TextBox 15"/>
          <p:cNvSpPr txBox="1"/>
          <p:nvPr/>
        </p:nvSpPr>
        <p:spPr>
          <a:xfrm>
            <a:off x="238125" y="4253210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7675" y="4253210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Decide the method first, then write the equation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460921" y="933450"/>
                <a:ext cx="11350079" cy="33531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Particle dynamics is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F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m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</m:oMath>
                </a14:m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seen through motion, energy and momentum</a:t>
                </a:r>
                <a:endParaRPr lang="en-US" sz="2000" b="1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9" name="Rectangle 18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Summary</a:t>
            </a:r>
          </a:p>
        </p:txBody>
      </p:sp>
      <p:pic>
        <p:nvPicPr>
          <p:cNvPr id="21" name="Picture 20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2026-09-06T07:57:28Z</dcterms:created>
  <dcterms:modified xsi:type="dcterms:W3CDTF">2026-09-06T07:57:28Z</dcterms:modified>
</cp:coreProperties>
</file>