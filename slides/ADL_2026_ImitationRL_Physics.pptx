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138" y="562928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8138" y="6321742"/>
            <a:ext cx="11515725" cy="7858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mwu-mark-whit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246995" y="4390072"/>
            <a:ext cx="1314450" cy="131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1026" y="2291060"/>
            <a:ext cx="8639473" cy="10102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Learning to Push: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  <a:p>
            <a:pPr algn="ctr" marL="0" indent="0">
              <a:lnSpc>
                <a:spcPts val="3978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Imitation Learning and RL on PushT</a:t>
            </a:r>
            <a:endParaRPr lang="en-US" sz="39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8138" y="3990975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Department of Mechanical Engineering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138" y="4345186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2026.10.07 (Wed)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8138" y="4699397"/>
            <a:ext cx="9144000" cy="3351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/>
                <a:ea typeface="Malgun Gothic"/>
                <a:cs typeface="Pretendard"/>
              </a:rPr>
              <a:t>Joo Yong Sim</a:t>
            </a:r>
            <a:endParaRPr lang="en-US" sz="2400" b="1" dirty="0">
              <a:solidFill>
                <a:srgbClr val="FFFFFF"/>
              </a:solidFill>
              <a:latin typeface="Pretendard"/>
              <a:ea typeface="Malgun Gothic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138" y="5715000"/>
            <a:ext cx="9525000" cy="2699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Extended edition: contact physics derived and compared line by line with the tutorial code</a:t>
            </a:r>
            <a:endParaRPr lang="en-US" sz="1575" dirty="0">
              <a:solidFill>
                <a:srgbClr val="FFFFFF"/>
              </a:solidFill>
              <a:latin typeface="Arial"/>
              <a:ea typeface="Malgun Gothic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4305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7645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907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PushT simulator from the dynamics lecture becomes a training ground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5479" y="1719114"/>
            <a:ext cx="95994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 · friction · walls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62660" y="1719114"/>
            <a:ext cx="19328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09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human or scripted expert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33766" y="1719114"/>
            <a:ext cx="105801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Imitation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24625" y="2042964"/>
            <a:ext cx="2095500" cy="4670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MLP-BC · Diffusion Policy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38556" y="1835795"/>
            <a:ext cx="171583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RL fine-tuning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14284" y="2159645"/>
            <a:ext cx="196438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PPO, started from BC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320040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questions answered with experiments in this lecture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527971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Q1 — Data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how many demonstrations do we need to collect?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967609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Q2 — Model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which network should learn from them — a regressor or a generative model?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4407247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Q3 — Beyond imitation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can reinforcement learning do better, from scratch or starting from the imitation policy?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6151662"/>
                <a:ext cx="1175385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Pipeline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demonstrations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{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dataset →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closed-loop success rate on unseen tasks</a:t>
                </a:r>
                <a:endParaRPr lang="en-US" sz="1800" dirty="0">
                  <a:solidFill>
                    <a:srgbClr val="FF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Goals: From Physics to Policy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81175" y="1790254"/>
            <a:ext cx="3771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075" y="2211586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81175" y="2211586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85630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1175" y="2856309"/>
            <a:ext cx="3771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3805238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random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428750"/>
            <a:ext cx="6000750" cy="2698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seed fixes the initial T pose, the goal pose and the pusher position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075" y="1495425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What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81175" y="1495425"/>
            <a:ext cx="3638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Distribution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885504"/>
            <a:ext cx="14287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 start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781175" y="1885504"/>
                <a:ext cx="36385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π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2297311"/>
            <a:ext cx="1428750" cy="49232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pose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781175" y="2297311"/>
                <a:ext cx="3657600" cy="49232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same; redrawn if too easy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 and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&lt;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219075" y="2942034"/>
            <a:ext cx="14287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781175" y="2942034"/>
                <a:ext cx="36385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uniform in the arena,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≥</m:t>
                    </m:r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1.6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the 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219075" y="3477667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Success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47675" y="3910012"/>
                <a:ext cx="51054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0.15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and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∘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4489698"/>
            <a:ext cx="5353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demos use 100000+ (expert) and 200000+ (human);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evaluation uses 0, 1, 2, …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tasks never seen in training.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92813" y="4184600"/>
            <a:ext cx="4264223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Blue: T start · green dashed: goal · orange: pusher (seeds 0–7)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The PushT Task: Random Start, Random Goal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924919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57925" y="2533352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10525" y="2533352"/>
            <a:ext cx="1371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82125" y="2533352"/>
            <a:ext cx="2590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57925" y="295468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10525" y="2954685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82125" y="2954685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7925" y="3361730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10525" y="3361730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82125" y="3361730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7925" y="3761333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525" y="3761333"/>
            <a:ext cx="1371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82125" y="3761333"/>
            <a:ext cx="2590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policy moves the pusher's target at 10 Hz; the physics runs 20 substeps in between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State (8 numbers — what a human sees)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56321"/>
                <a:ext cx="5715000" cy="70767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pusher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θ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lim>
                          </m:limLow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limLow>
                            <m:e>
                              <m:limLow>
                                <m:e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 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θ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goal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19075" y="2597348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3029694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 pusher target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219075" y="3601194"/>
            <a:ext cx="573405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PD controller pulls the pusher toward the target; contact with the T is the impulse model of the dynamics lecture.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One episode, saved to .npz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6257925" y="1756321"/>
                <a:ext cx="5715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257925" y="2238524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Array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0525" y="2238524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Shape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382125" y="2238524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Meaning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57925" y="2628602"/>
            <a:ext cx="1619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10525" y="2628602"/>
            <a:ext cx="1238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8)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9382125" y="2628602"/>
                <a:ext cx="24574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257925" y="304041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actions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10525" y="3040410"/>
            <a:ext cx="1238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(N, 2)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382125" y="3040410"/>
                <a:ext cx="24574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target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257925" y="344745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episode_ends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10525" y="3447455"/>
            <a:ext cx="1238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82125" y="3447455"/>
            <a:ext cx="2457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where each episode ends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3847058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seeds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10525" y="3847058"/>
            <a:ext cx="1238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(E,)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382125" y="3847058"/>
            <a:ext cx="2457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re-creates the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successful episodes are saved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imitating a failure teaches failure (filtered behavior cloning). Same format as the Diffusion Policy / LeRobot PushT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Control Loop and Demonstration Data</a:t>
            </a:r>
          </a:p>
        </p:txBody>
      </p:sp>
      <p:pic>
        <p:nvPicPr>
          <p:cNvPr id="41" name="Picture 4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765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16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8665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91700" y="1485900"/>
            <a:ext cx="1828800" cy="952500"/>
          </a:xfrm>
          <a:prstGeom prst="roundRect">
            <a:avLst>
              <a:gd name="adj" fmla="val 14000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193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44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2945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4500" y="1924050"/>
            <a:ext cx="2667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4009281"/>
            <a:ext cx="38100" cy="942529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9675" y="2667000"/>
            <a:ext cx="38100" cy="2505521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765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49815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728662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591675" y="18383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env.step() = 0.1 s = 20 substeps of 5 ms, each with a 3-pass contact solver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7281" y="1666131"/>
            <a:ext cx="75723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Target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11275" y="1989981"/>
                <a:ext cx="114925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sSup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0" name="TextBox 19"/>
          <p:cNvSpPr txBox="1"/>
          <p:nvPr/>
        </p:nvSpPr>
        <p:spPr>
          <a:xfrm>
            <a:off x="3156049" y="1666131"/>
            <a:ext cx="126980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PD pusher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3476179" y="1989981"/>
                <a:ext cx="62954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2" name="TextBox 21"/>
          <p:cNvSpPr txBox="1"/>
          <p:nvPr/>
        </p:nvSpPr>
        <p:spPr>
          <a:xfrm>
            <a:off x="5623322" y="1666131"/>
            <a:ext cx="94520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Contact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446365" y="1989981"/>
                <a:ext cx="1299121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point,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depth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7921228" y="1666131"/>
            <a:ext cx="95949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Impulse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8192244" y="1989981"/>
                <a:ext cx="417463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10170170" y="1532037"/>
            <a:ext cx="107186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T motion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9925050" y="1855887"/>
                <a:ext cx="1562100" cy="5363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707" dirty="0">
                              <a:solidFill>
                                <a:srgbClr val="111111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1707" dirty="0">
                          <a:solidFill>
                            <a:srgbClr val="11111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219075" y="266700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 steps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219075" y="2994571"/>
                <a:ext cx="4476750" cy="61093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ctrl</m:t>
                                  </m:r>
                                </m:sub>
                              </m:sSub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Δ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phys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0.005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20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0" name="TextBox 29"/>
          <p:cNvSpPr txBox="1"/>
          <p:nvPr/>
        </p:nvSpPr>
        <p:spPr>
          <a:xfrm>
            <a:off x="219075" y="368171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Average contact force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447675" y="4114056"/>
                <a:ext cx="4248150" cy="73297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ctrl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substeps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∫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5191125" y="266700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PushTEnv.step · pusht_keyboard_sim.py : advance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91125" y="292596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step(self, action):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191125" y="312673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self.sim.target = np.clip(action, [x_min, y_min], [x_max, y_max])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91125" y="332749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self.sim.advance(self.control_dt)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0.1 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91125" y="352826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self.t += 1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91125" y="392980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advance(self, frame_dt):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91125" y="4130576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 = max(1, int(round(frame_dt / self.physics_dt)))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191125" y="4331345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self._j_sum[:] = 0.0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191125" y="453211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_ in range(n):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191125" y="473288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self.substep(self.physics_dt)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5 ms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191125" y="493365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 = self._j_sum / (n * self.physics_dt)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impulse / time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Physics Inside One Control Step</a:t>
            </a:r>
          </a:p>
        </p:txBody>
      </p:sp>
      <p:pic>
        <p:nvPicPr>
          <p:cNvPr id="45" name="Picture 4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56321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2907060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pusher is a controlled kinematic body; the T coasts and slows down by floor friction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1. PD control of the pusher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861096"/>
                <a:ext cx="4533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440781"/>
                <a:ext cx="4781550" cy="93077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80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18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damping ratio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ζ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</m:radPr>
                      <m:deg/>
                      <m:e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K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p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fast, no overshoot. Speed limited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m/s.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3504902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Floor friction as exponential decay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832473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ω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4222998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3. Semi-implicit Euler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219075" y="4550569"/>
                <a:ext cx="47625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KeyboardPushT.substep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1. pusher PD control toward the target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acc = self.kp * (self.target - P.pos) - self.kd * P.vel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P.vel += acc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speed = np.linalg.norm(P.vel)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speed &gt; self.max_speed: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P.vel *= self.max_speed / speed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P.pos += P.vel * dt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new velocity first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2. damping  3. integrate the 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T.vel *= math.exp(-self.linear_damping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T.omega *= math.exp(-self.angular_damping * dt)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T.pos += T.vel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T.angle += T.omega * dt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5833616"/>
                <a:ext cx="11753850" cy="62433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Consequence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released at speed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the T slides another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</m:naryPr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∞</m:t>
                        </m:r>
                      </m: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</m:nary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sSub>
                          <m:e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en-US" sz="192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v</m:t>
                            </m:r>
                          </m:sub>
                        </m:s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p>
                    </m:sSup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the expert slows down near the goal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this reason.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Substep: PD Pusher, Damping, Integration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735312"/>
            <a:ext cx="38100" cy="84534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4102001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33675" y="4102001"/>
            <a:ext cx="23431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452333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33675" y="4523333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4930378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33675" y="4930378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5329982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33675" y="5329982"/>
            <a:ext cx="23431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675" y="1428750"/>
            <a:ext cx="38100" cy="350936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Composite body: two rectangles, each shifted to the T's centre of mass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1428750"/>
            <a:ext cx="4857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Centre of mass (mass ∝ area)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19075" y="1756321"/>
                <a:ext cx="4857750" cy="57522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‾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219075" y="2407741"/>
            <a:ext cx="4857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Rectangle + parallel-axis theorem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447675" y="2840087"/>
                <a:ext cx="4629150" cy="63579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f>
                                <m:fPr>
                                  <m:type m:val="lin"/>
                                </m:fPr>
                                <m:num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m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 </m:t>
                              </m:r>
                              <m:sSub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3799731"/>
                <a:ext cx="23812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Value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m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8" name="TextBox 17"/>
          <p:cNvSpPr txBox="1"/>
          <p:nvPr/>
        </p:nvSpPr>
        <p:spPr>
          <a:xfrm>
            <a:off x="2733675" y="3799731"/>
            <a:ext cx="2209800" cy="254645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4197251"/>
            <a:ext cx="23812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top bar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733675" y="4197251"/>
                <a:ext cx="22098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1.8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0.5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219075" y="4609058"/>
            <a:ext cx="2381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stem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733675" y="4609058"/>
                <a:ext cx="22098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0.5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1.3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219075" y="5016103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COM below the top edge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33675" y="5016103"/>
            <a:ext cx="22098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0.627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5415707"/>
                <a:ext cx="23812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2733675" y="5415707"/>
            <a:ext cx="22098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0.434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72125" y="1428750"/>
            <a:ext cx="6400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make_T_geometry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572125" y="168771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top_area = W * top_t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72125" y="1888480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stem_h = H - top_t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72125" y="2089249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stem_area = stem_w * stem_h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72125" y="2290018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total_area = top_area + stem_area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72125" y="2691557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y_top, y_stem = H / 2 - top_t / 2, -top_t /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72125" y="2892326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y_com = (top_area * y_top + stem_area * y_stem)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72125" y="3293864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m_top = mass * top_area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72125" y="3494633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m_stem = mass * stem_area / total_area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72125" y="3695402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own centre + parallel-axis shift to the COM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72125" y="389617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I_top = m_top * (W**2 + top_t**2) / 12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572125" y="4096941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m_top * (y_top - y_com) **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72125" y="4297710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I_stem = m_stem * (stem_w**2 + stem_h**2) / 12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72125" y="4498479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m_stem * (y_stem - y_com) ** 2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72125" y="4699248"/>
            <a:ext cx="6400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vertices[:, 1] -= y_com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body origin = COM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 Geometry: Mass Moment of Inertia</a:t>
            </a:r>
          </a:p>
        </p:txBody>
      </p:sp>
      <p:pic>
        <p:nvPicPr>
          <p:cNvPr id="44" name="Picture 43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4068514"/>
            <a:ext cx="38100" cy="99536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371013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Work in the T's own frame: closest point on the 8 edges, then inside / outside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World → body frame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46846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Closest point on edge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i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502991"/>
                <a:ext cx="4953000" cy="61882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sSup>
                                <m:e>
                                  <m:d>
                                    <m:dPr>
                                      <m:begChr m:val="‖"/>
                                      <m:sepChr m:val=""/>
                                      <m:endChr m:val="‖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m:rPr>
                                              <m:sty m:val="bi"/>
                                            </m:rP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a</m:t>
                                          </m:r>
                                        </m:e>
                                        <m:sub>
                                          <m:r>
                                            <a:rPr lang="en-US" sz="200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98019"/>
                <a:ext cx="4953000" cy="43815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q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arg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712369"/>
                <a:ext cx="4953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Penetration (pusher radius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ρ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4173289"/>
                <a:ext cx="4724400" cy="78581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d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outside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ρ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d</m:t>
                                </m:r>
                              </m:e>
                              <m:e>
                                <m:r>
                                  <m:rPr>
                                    <m:nor/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inside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local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circle_vs_T_fast (all edges at once)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 = rotation_matrix(body_angle)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c = R.T @ (circle_pos - body_pos)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world -&gt; 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 = vertices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AB = np.roll(vertices, -1, axis=0) - 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 = np.clip(((c - A) * AB).sum(1) / (AB * AB).sum(1), 0, 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Q = A + t[:, None] * AB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closest points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d2 = ((Q - c) ** 2).sum(1)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 = int(np.argmin(d2))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 = math.sqrt(d2[i])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inside = ...     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ray casting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not inside and d &gt;= radius: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7375" y="389617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None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direction = (Q[i] - c) / d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n_local, pen = (-direction, radius + d) if inside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7375" y="449847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else (direction, radius - d)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375" y="469924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n = R @ n_local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67375" y="490001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return body_pos + R @ Q[i], n, pen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Speed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numpy version replaces an 8-iteration Python loop — identical results on 2000 random cases, checked in the tutorial.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Detection: Circle vs T</a:t>
            </a:r>
          </a:p>
        </p:txBody>
      </p:sp>
      <p:pic>
        <p:nvPicPr>
          <p:cNvPr id="33" name="Picture 3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73127"/>
            <a:ext cx="38100" cy="142488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3107829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Relative velocity says whether the bodies approach; an impulse stops them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Velocity of the contact point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953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55031"/>
                <a:ext cx="49530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approaching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545556"/>
            <a:ext cx="4953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Normal impulse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977902"/>
                <a:ext cx="4724400" cy="60945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47675" y="3663553"/>
                <a:ext cx="4724400" cy="529679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resolve_impulse (part 1)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point, n, pen = contact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 = point - body.pos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v_rel = body.vel + omega_cross_r(body.omega, r) - other_vel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29001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v_n = float(np.dot(v_rel, n))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if v_n &lt; 0:            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approaching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K_n = 1.0 / body.mass + cross2(r, n) ** 2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j_n = -(1.0 + restitution) * v_n / K_n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J = j_n * 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body.vel += J / body.mass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7375" y="3695402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body.omega += cross2(r, J)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7375" y="409694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cross2(a, b):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2D cross product, z only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375" y="429771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a[0] * b[1] - a[1] * b[0]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Kinematic pusher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so only the T's terms remain in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PushT uses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after impact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Contact Velocity and Normal Impulse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402681"/>
            <a:ext cx="38100" cy="80218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2771626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7227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5812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43975" y="2771626"/>
            <a:ext cx="1085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29825" y="2771626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95925" y="3185517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7227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5812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43975" y="3185517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29825" y="3185517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95925" y="3585121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7227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5812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43975" y="3585121"/>
            <a:ext cx="1085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29825" y="3585121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same push at a different height splits into translation and rotation differently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142875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Derivation: normal velocity change at C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1756321"/>
                <a:ext cx="11753850" cy="57016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×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447675" y="2507456"/>
                <a:ext cx="4724400" cy="59263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3357265"/>
                <a:ext cx="4953000" cy="6125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Stem's left face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0.25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r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I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495925" y="2469356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Height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203864"/>
                        </a:solidFill>
                        <a:latin typeface="Cambria Math"/>
                      </a:rPr>
                      <m:t>y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677227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785812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8943975" y="2469356"/>
                <a:ext cx="9525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203864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10029825" y="2469356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b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203864"/>
                          </a:solidFill>
                          <a:latin typeface="Cambria Math"/>
                        </a:rPr>
                        <m:t>ω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8" name="TextBox 27"/>
          <p:cNvSpPr txBox="1"/>
          <p:nvPr/>
        </p:nvSpPr>
        <p:spPr>
          <a:xfrm>
            <a:off x="5495925" y="2866876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(COM)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7227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5812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43975" y="2866876"/>
            <a:ext cx="952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29825" y="2866876"/>
            <a:ext cx="1809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95925" y="3271242"/>
            <a:ext cx="1143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−0.5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7227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1.576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5812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0.634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43975" y="3271242"/>
            <a:ext cx="952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0.634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29825" y="3271242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0.731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95925" y="3670846"/>
            <a:ext cx="1143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−1.0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7227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3.305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5812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0.303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43975" y="3670846"/>
            <a:ext cx="952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0.303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29825" y="3670846"/>
            <a:ext cx="1809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0.697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95925" y="4065687"/>
            <a:ext cx="647700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Output of resolve_impulse() — pusht_mini_sim.py, section 8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19075" y="5405735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At the COM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pure translation.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Far from the COM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smaller impulse, mostly rotation.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This is PushT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choosing the contact point chooses the motion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exactly what the scripted expert and the learned policies must do.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Contact Height Matters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4041725"/>
            <a:ext cx="38100" cy="548878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Cancel the sliding velocity at the contact, but never beyond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j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sub>
                    </m:sSub>
                  </m:oMath>
                </a14:m>
                <a:endParaRPr lang="en-US" sz="22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" name="TextBox 4"/>
          <p:cNvSpPr txBox="1"/>
          <p:nvPr/>
        </p:nvSpPr>
        <p:spPr>
          <a:xfrm>
            <a:off x="219075" y="1428750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Tangent direction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762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2155031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Impulse that stops sliding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482602"/>
                <a:ext cx="4762500" cy="57016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rel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28962"/>
                <a:ext cx="4762500" cy="5089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3714155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Coulomb limit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4146500"/>
                <a:ext cx="45339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Sup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*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j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0.4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2" name="TextBox 11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resolve_impulse (part 2)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friction, using the velocity after the normal impulse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t = np.array([-n[1], n[0]])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v_rel = body.vel + omega_cross_r(body.omega, r) - other_vel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v_t = float(np.dot(v_rel, t))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K_t = 1.0 / body.mass + cross2(r, t) ** 2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2691557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j_t = float(np.clip(-v_t / K_t,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-friction * j_n, friction * j_n))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Jt = j_t * 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body.vel += Jt / body.mass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body.omega += cross2(r, Jt) / body.inertia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Effect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with friction the pusher can drag the T sideways and rotate it;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it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slips along the surface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(try F in the keyboard demo).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Rectangle 2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Coulomb Friction Impulse</a:t>
            </a:r>
          </a:p>
        </p:txBody>
      </p:sp>
      <p:pic>
        <p:nvPicPr>
          <p:cNvPr id="26" name="Picture 2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193405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509367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wall is a kinematic body with zero velocity — the same impulse function handles it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47625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Wall = pusher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b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4762500" cy="5651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other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wall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426196"/>
                <a:ext cx="47625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Left wall: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&gt;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 </m:t>
                    </m:r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98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65834"/>
            <a:ext cx="47625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Penetration correction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3298180"/>
                <a:ext cx="45339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0.8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69680"/>
                <a:ext cx="4781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Discrete time jumps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t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leave overlaps that impulses alone cannot remove.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pusht_keyboard_sim.py : wall_contacts · substep (step 4)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world = body.pos + body.vertices @ rotation_matrix(body.angle).T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p in world: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depth, n in ((x_min - p[0], (1.0, 0.0)), ...):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if depth &gt; 0: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contacts.append((p.copy(), np.array(n), depth))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4. contact solver: pusher-T and wall-T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_ in range(3):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 = circle_vs_T(P.pos, P.radius, T.pos, T.angle, T.vertices)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c is not None: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jn, jt = resolve_impulse(T, P.vel, c, e, mu)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w in wall_contacts(T):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76875" y="409694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resolve_impulse(T, np.zeros(2), w, e, mu)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76875" y="449847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end of resolve_impulse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76875" y="469924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body.pos += 0.8 * max(pen - 1e-4, 0.0) * n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Walls and Penetration Correction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992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39025" y="1790254"/>
            <a:ext cx="45339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9925" y="2211586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39025" y="2211586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2592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9925" y="262592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39025" y="262592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3296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9925" y="303296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9025" y="303296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4001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9925" y="344001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39025" y="344001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84705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9925" y="384705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39025" y="384705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" y="4254103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9925" y="4254103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39025" y="4254103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" y="466114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9925" y="46611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39025" y="4661148"/>
            <a:ext cx="45339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Every line of the simulator is an equation from the dynamics lecture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4954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Lecture idea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0992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Equation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39025" y="1495425"/>
            <a:ext cx="44005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Code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1885504"/>
            <a:ext cx="2857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PD control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3209925" y="1885504"/>
                <a:ext cx="409575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7439025" y="1885504"/>
            <a:ext cx="440055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substep, step 1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297311"/>
            <a:ext cx="2857500" cy="261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Parallel-axis theorem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209925" y="2297311"/>
                <a:ext cx="4095750" cy="26193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f>
                            <m:fPr>
                              <m:type m:val="lin"/>
                            </m:fPr>
                            <m:num>
                              <m:sSub>
                                <m:e>
                                  <m:r>
                                    <a:rPr lang="en-US" sz="1560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1560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sSubSup>
                            <m:e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en-US" sz="1560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5" name="TextBox 34"/>
          <p:cNvSpPr txBox="1"/>
          <p:nvPr/>
        </p:nvSpPr>
        <p:spPr>
          <a:xfrm>
            <a:off x="7439025" y="2297311"/>
            <a:ext cx="4400550" cy="2619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make_T_geometry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271164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Relative velocity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3209925" y="271164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TextBox 37"/>
          <p:cNvSpPr txBox="1"/>
          <p:nvPr/>
        </p:nvSpPr>
        <p:spPr>
          <a:xfrm>
            <a:off x="7439025" y="271164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omega_cross_r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3118693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Restitution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209925" y="3118693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7439025" y="3118693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j_n = -(1+e) v_n / K_n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075" y="352573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Linear impulse–momentum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3209925" y="352573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m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4" name="TextBox 43"/>
          <p:cNvSpPr txBox="1"/>
          <p:nvPr/>
        </p:nvSpPr>
        <p:spPr>
          <a:xfrm>
            <a:off x="7439025" y="352573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body.vel += J / 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3932783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Angular impulse–momentum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/>
              <p:cNvSpPr txBox="1"/>
              <p:nvPr/>
            </p:nvSpPr>
            <p:spPr>
              <a:xfrm>
                <a:off x="3209925" y="3932783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7" name="TextBox 46"/>
          <p:cNvSpPr txBox="1"/>
          <p:nvPr/>
        </p:nvSpPr>
        <p:spPr>
          <a:xfrm>
            <a:off x="7439025" y="3932783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body.omega += cross2(r, J) / I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4339828"/>
            <a:ext cx="2857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Coulomb friction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/>
              <p:cNvSpPr txBox="1"/>
              <p:nvPr/>
            </p:nvSpPr>
            <p:spPr>
              <a:xfrm>
                <a:off x="3209925" y="4339828"/>
                <a:ext cx="4095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≤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μ</m:t>
                      </m:r>
                      <m:sSub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j</m:t>
                          </m:r>
                        </m:e>
                        <m:sub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0" name="TextBox 49"/>
          <p:cNvSpPr txBox="1"/>
          <p:nvPr/>
        </p:nvSpPr>
        <p:spPr>
          <a:xfrm>
            <a:off x="7439025" y="4339828"/>
            <a:ext cx="44005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np.clip(-v_t / K_t, ...)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075" y="4746873"/>
            <a:ext cx="2857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Impulse = force × time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3209925" y="4746873"/>
                <a:ext cx="409575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∑</m:t>
                      </m:r>
                      <m:r>
                        <m:rPr>
                          <m:sty m:val="bi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t</m:t>
                      </m:r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53" name="TextBox 52"/>
          <p:cNvSpPr txBox="1"/>
          <p:nvPr/>
        </p:nvSpPr>
        <p:spPr>
          <a:xfrm>
            <a:off x="7439025" y="4746873"/>
            <a:ext cx="440055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advance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Files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derivations in pusht_mini_sim.py · real-time version in pusht_keyboard_sim.py · random tasks in pusht_imitation.py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Physics Summary: Equation ↔ Code</a:t>
            </a:r>
          </a:p>
        </p:txBody>
      </p:sp>
      <p:pic>
        <p:nvPicPr>
          <p:cNvPr id="57" name="Picture 56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ec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096000" cy="34136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pusht_imitation.py collect — the keyboard simulator with a recorder added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4899571"/>
            <a:ext cx="6115050" cy="365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Recorder window: arrows / WASD or mouse drag move the target; reaching the goal auto-saves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38925" y="1428750"/>
            <a:ext cx="5334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Three rules for clean data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638925" y="1756321"/>
                <a:ext cx="533400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Fixed 10 Hz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screen draws at 20 fps, but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recorded every 0.1 s — one human step = one env.step().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6638925" y="2808536"/>
            <a:ext cx="5334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Idle start trimmed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time spent thinking before the first move is not recorded, so the policy never learns to stand still.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38925" y="3860750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fixed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friction / restitution switches are off — same state, same consequence.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4606677"/>
            <a:ext cx="5334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Keys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 new task · R restart · Backspace delete last · Space pause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human demo takes 15–30 s, so 200 demos take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1.5–2 hours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→ we also need an automatic demonstrator.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Collecting Human Demonstrations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370832"/>
            <a:ext cx="38100" cy="81394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expert_roll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23" y="3685580"/>
            <a:ext cx="6609755" cy="1952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"virtual human" that chooses where to push with the lecture's impulse equations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58102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(1) Where to push — unit impulse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 at candidate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5810250" cy="5097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v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×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475607"/>
                <a:ext cx="5581650" cy="6043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arg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353175" y="1428750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Candidates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8 edges × 3 points;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bi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d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desired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y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L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= its effect.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6353175" y="2174677"/>
            <a:ext cx="56197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(2) Approach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go to a standoff point; orbit around the T if the straight path is blocked.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353175" y="2920603"/>
                <a:ext cx="56197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(3) Push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along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n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slowing in proportion to the remaining error (the T slides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≈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after release).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3055441" y="5695355"/>
            <a:ext cx="6080968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Expert rollouts (orange: pusher path, colour: time) — success ≈ 88–91 % on random tasks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Expert: Impulse–Momentum as a Policy</a:t>
            </a:r>
          </a:p>
        </p:txBody>
      </p:sp>
      <p:pic>
        <p:nvPicPr>
          <p:cNvPr id="14" name="Picture 13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3470077"/>
            <a:ext cx="38100" cy="81394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4925" y="1428750"/>
            <a:ext cx="38100" cy="3910905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Score each candidate push by how well its impulse response points toward the goal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28750"/>
                <a:ext cx="4572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Desired change (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L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0.8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650" b="1" dirty="0">
                  <a:solidFill>
                    <a:srgbClr val="203864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84896"/>
                <a:ext cx="45720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200424"/>
                <a:ext cx="4572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Response to a unit impulse at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C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556570"/>
                <a:ext cx="4572000" cy="5097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×</m:t>
                              </m:r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219075" y="3142506"/>
            <a:ext cx="4572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Cosine score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447675" y="3574852"/>
                <a:ext cx="4343400" cy="604391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⋅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num>
                        <m:den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d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219075" y="4436418"/>
            <a:ext cx="4591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Penalty for pushing into a touching wall; +0.1 for keeping the same contact.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86375" y="1428750"/>
            <a:ext cx="6686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ScriptedExpert.act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86375" y="168771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e = sim.goal_pos - T.pos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86375" y="1888480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 = np.array([e[0], e[1],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86375" y="2089249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self.L * wrap_angle(sim.goal_angle - T.angle)])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86375" y="229001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k, (c_local, out_local) in enumerate(self.cands):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86375" y="249078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cw, out = T.pos + R @ c_local, R @ out_local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86375" y="2691557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n_in, r = -out, cw - T.pos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86375" y="2892326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 = np.array([n_in[0] / T.mass, n_in[1] / T.mass,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86375" y="3093095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self.L * cross2(r, n_in) / T.inertia])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86375" y="3293864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score = c @ d / (np.linalg.norm(c) * d_norm + 1e-9)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86375" y="3494633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n_wall in walls: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6375" y="3695402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if n_in @ np.array(n_wall) &lt; -0.3: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86375" y="389617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score -= 0.6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into that wall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86375" y="4096941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k == self.cur: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86375" y="4297710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score += 0.1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hysteresis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86375" y="4699248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push: slower when close to the goal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86375" y="4900017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step = float(np.clip(0.3 * d_norm, 0.04, 0.12))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86375" y="5100786"/>
            <a:ext cx="6686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return P.pos - out * (step + 0.04)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Expert: Equation ↔ Code</a:t>
            </a:r>
          </a:p>
        </p:txBody>
      </p:sp>
      <p:pic>
        <p:nvPicPr>
          <p:cNvPr id="32" name="Picture 3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2425" y="1790254"/>
            <a:ext cx="4229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91525" y="1790254"/>
            <a:ext cx="3581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04145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62425" y="2204145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91525" y="2204145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03748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2425" y="2603748"/>
            <a:ext cx="4229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91525" y="2603748"/>
            <a:ext cx="3581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925788"/>
            <a:ext cx="2514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36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5775" y="3925788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7875" y="3925788"/>
            <a:ext cx="6115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075" y="4339679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336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5775" y="4339679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7875" y="4339679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" y="4739283"/>
            <a:ext cx="2514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336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5775" y="4739283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7875" y="4739283"/>
            <a:ext cx="6115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Published PushT and manipulation work uses 50–200 demonstrations per task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1495425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Source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62425" y="1495425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Task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91525" y="1495425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Demonstrations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1885504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(Chi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62425" y="1885504"/>
            <a:ext cx="4095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PushT,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fixed goal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random start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1525" y="1885504"/>
            <a:ext cx="3448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200 human (≈ 25k steps)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9075" y="2289870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LeRobot pusht dataset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62425" y="2289870"/>
            <a:ext cx="4095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91525" y="2289870"/>
            <a:ext cx="3448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206 episodes, 25,650 frames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2689473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/ ALOHA (Zhao et al., 2023)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2425" y="2689473"/>
            <a:ext cx="4095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bimanual robot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91525" y="2689473"/>
            <a:ext cx="3448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 per task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075" y="3236714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Suggested plan for human demonstrations (15–30 s each)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9075" y="3630960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Stage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336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Demos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95775" y="3630960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57875" y="3630960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Purpose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075" y="4021038"/>
            <a:ext cx="2381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Pipeline check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336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10–20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95775" y="4021038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57875" y="4021038"/>
            <a:ext cx="5981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save / load / train runs, loss goes down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4425404"/>
            <a:ext cx="2381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First results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336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50–100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5775" y="4425404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30–60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857875" y="4425404"/>
            <a:ext cx="59817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successes start; study the failures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9075" y="4825008"/>
            <a:ext cx="2381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Usable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7336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≥ 200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95775" y="4825008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1.5–2 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857875" y="4825008"/>
            <a:ext cx="5981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 paper scale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important than the count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spread-out initial conditions,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 consistent strategy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discarded failures. Our goal is random too — harder than the original PushT.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Reference Points</a:t>
            </a:r>
          </a:p>
        </p:txBody>
      </p:sp>
      <p:pic>
        <p:nvPicPr>
          <p:cNvPr id="56" name="Picture 5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3305770"/>
            <a:ext cx="3943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2425" y="3305770"/>
            <a:ext cx="1562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24525" y="3305770"/>
            <a:ext cx="15430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719661"/>
            <a:ext cx="3943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2425" y="3719661"/>
            <a:ext cx="1562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24525" y="3719661"/>
            <a:ext cx="15430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l_goa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779" y="1428750"/>
            <a:ext cx="3950791" cy="3333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Ride along with the goal — the same idea as relative motion in rigid-body kinematics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447675" y="1533525"/>
                <a:ext cx="68199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acc>
                        <m:accPr>
                          <m:chr m:val="̃"/>
                        </m:accPr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219075" y="2113211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cos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sin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19075" y="2528739"/>
                <a:ext cx="7048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3010942"/>
            <a:ext cx="3810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Action representation (goal frame)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62425" y="3010942"/>
            <a:ext cx="1428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24525" y="3010942"/>
            <a:ext cx="14097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3401020"/>
            <a:ext cx="3810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absolute target position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62425" y="3401020"/>
            <a:ext cx="1428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24525" y="3401020"/>
            <a:ext cx="14097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20 %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805386"/>
            <a:ext cx="3810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offset from the current pusher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62425" y="3805386"/>
            <a:ext cx="1428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24525" y="3805386"/>
            <a:ext cx="14097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46 %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79172" y="4819650"/>
            <a:ext cx="2805857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One training sample: goal at the origin, 0°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Without the goal frame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 for both models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a good representation saves data.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Goal Frame: Relative Motion Removes the Random Goal</a:t>
            </a:r>
          </a:p>
        </p:txBody>
      </p:sp>
      <p:pic>
        <p:nvPicPr>
          <p:cNvPr id="27" name="Picture 26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8382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5425" y="1428750"/>
            <a:ext cx="38100" cy="330859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 rotation and a translation — written out by hand so it works on any batch shape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453390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</m:t>
                                </m:r>
                              </m:e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s</m:t>
                                </m:r>
                              </m:e>
                              <m:e>
                                <m:r>
                                  <a:rPr lang="en-US" sz="2001" dirty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c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2419350"/>
                <a:ext cx="476250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acc>
                                <m:accPr>
                                  <m:chr m:val="̃"/>
                                </m:accPr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cos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sin</m:t>
                          </m:r>
                          <m:acc>
                            <m:accPr>
                              <m:chr m:val="̃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θ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834878"/>
                <a:ext cx="47625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acc>
                        <m:accPr>
                          <m:chr m:val="̃"/>
                        </m:accPr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233589"/>
                <a:ext cx="47815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State layout: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P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x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y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indices 0–7.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9" name="TextBox 8"/>
          <p:cNvSpPr txBox="1"/>
          <p:nvPr/>
        </p:nvSpPr>
        <p:spPr>
          <a:xfrm>
            <a:off x="5476875" y="1428750"/>
            <a:ext cx="64960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to_goal_frame · make_obs · action_to_model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76875" y="168771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to_goal_frame(points, state, origin=None):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76875" y="188848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c, s = math.cos(state[7]), math.sin(state[7])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76875" y="208924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v = points - (state[5:7] if origin is None else origin)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76875" y="229001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np.stack([ c * v[..., 0] + s * v[..., 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6875" y="2490788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-s * v[..., 0] + c * v[..., 1]], -1)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76875" y="2892326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make_obs(state):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875" y="3093095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p = to_goal_frame(state[0:2], state)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6875" y="3293864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T = to_goal_frame(state[2:4], state)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76875" y="3494633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dth = state[4] - state[7]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76875" y="3695402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np.array([p[0], p[1], T[0], T[1],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76875" y="3896171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math.cos(dth), math.sin(dth)])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76875" y="4297710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action_to_model(actions, state):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76875" y="4498479"/>
            <a:ext cx="64960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to_goal_frame(actions, state, origin=state[0:2])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Goal Frame: Equation ↔ Code</a:t>
            </a:r>
          </a:p>
        </p:txBody>
      </p:sp>
      <p:pic>
        <p:nvPicPr>
          <p:cNvPr id="25" name="Picture 24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38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75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4F4E4"/>
          </a:solidFill>
          <a:ln w="38100">
            <a:solidFill>
              <a:srgbClr val="3D8C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912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4975" y="1524000"/>
            <a:ext cx="2343150" cy="1143000"/>
          </a:xfrm>
          <a:prstGeom prst="roundRect">
            <a:avLst>
              <a:gd name="adj" fmla="val 11666"/>
            </a:avLst>
          </a:prstGeom>
          <a:solidFill>
            <a:srgbClr val="EADCF5"/>
          </a:solidFill>
          <a:ln w="38100">
            <a:solidFill>
              <a:srgbClr val="6D23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60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97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53475" y="2057400"/>
            <a:ext cx="3810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575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1912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124950" y="197167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See two frames, plan eight actions, execute four, then re-plan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7202" y="1799481"/>
            <a:ext cx="101634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Observe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962025" y="2123331"/>
                <a:ext cx="1466850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,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 </m:t>
                    </m:r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o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2</m:t>
                    </m:r>
                  </m:oMath>
                </a14:m>
                <a:endParaRPr lang="en-US" sz="176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5" name="TextBox 14"/>
          <p:cNvSpPr txBox="1"/>
          <p:nvPr/>
        </p:nvSpPr>
        <p:spPr>
          <a:xfrm>
            <a:off x="4198739" y="1799481"/>
            <a:ext cx="860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Predict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775918" y="2123331"/>
                <a:ext cx="1706314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m:rPr>
                            <m:sty m:val="bi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H</m:t>
                    </m:r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8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(0.8 s)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7" name="TextBox 16"/>
          <p:cNvSpPr txBox="1"/>
          <p:nvPr/>
        </p:nvSpPr>
        <p:spPr>
          <a:xfrm>
            <a:off x="7075884" y="1799481"/>
            <a:ext cx="97393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Execute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732984" y="2123331"/>
                <a:ext cx="1659582" cy="2681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a:rPr lang="en-US" sz="1707" dirty="0">
                            <a:solidFill>
                              <a:srgbClr val="11111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=</m:t>
                    </m:r>
                    <m:r>
                      <a:rPr lang="en-US" sz="1707" dirty="0">
                        <a:solidFill>
                          <a:srgbClr val="111111"/>
                        </a:solidFill>
                        <a:latin typeface="Cambria Math"/>
                      </a:rPr>
                      <m:t>4</m:t>
                    </m:r>
                  </m:oMath>
                </a14:m>
                <a:r>
                  <a:rPr lang="en-US" sz="1600" dirty="0">
                    <a:solidFill>
                      <a:srgbClr val="111111"/>
                    </a:solidFill>
                    <a:latin typeface="Arial"/>
                    <a:ea typeface="Malgun Gothic"/>
                    <a:cs typeface="Arial"/>
                  </a:rPr>
                  <a:t> actions</a:t>
                </a:r>
                <a:endParaRPr lang="en-US" sz="1600" dirty="0">
                  <a:solidFill>
                    <a:srgbClr val="111111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9" name="TextBox 18"/>
          <p:cNvSpPr txBox="1"/>
          <p:nvPr/>
        </p:nvSpPr>
        <p:spPr>
          <a:xfrm>
            <a:off x="10031016" y="1816745"/>
            <a:ext cx="93106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Re-plan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45414" y="2140595"/>
            <a:ext cx="1502122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receding horizon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075" y="2971800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frames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difference gives velocity — is the T still sliding?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075" y="371772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one-step predictions change every 0.1 s and jitter; a chunk commits to a motion for a moment.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257925" y="2971800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Normalize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z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x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μ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/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statistics from the training set only.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4" name="TextBox 23"/>
          <p:cNvSpPr txBox="1"/>
          <p:nvPr/>
        </p:nvSpPr>
        <p:spPr>
          <a:xfrm>
            <a:off x="6257925" y="3717727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Split by episode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neighbouring steps are nearly identical — a step-wise split leaks data into validation.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Trade-off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4 steps run open-loop, so an unexpected slide is corrected only at the next re-plan.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Observation History and Action Chunks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71824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l_t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299395"/>
            <a:ext cx="10287000" cy="3107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MSE learns the average action — the average of two good actions can be bad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447675" y="1533525"/>
                <a:ext cx="11525250" cy="50869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∼</m:t>
                          </m:r>
                          <m:r>
                            <m:rPr>
                              <m:scr m:val="script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p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∣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431578" y="5464522"/>
                <a:ext cx="9328696" cy="20106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ctr" marL="0" indent="0">
                  <a:lnSpc>
                    <a:spcPct val="100000"/>
                  </a:lnSpc>
                  <a:buNone/>
                </a:pPr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Toy problem: demonstrations avoid an obstacle up or down (50/50). MLP-BC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≈</m:t>
                    </m:r>
                    <m:r>
                      <a:rPr lang="en-US" sz="1280" dirty="0">
                        <a:solidFill>
                          <a:srgbClr val="40404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rgbClr val="404040"/>
                    </a:solidFill>
                    <a:latin typeface="Arial"/>
                    <a:ea typeface="Malgun Gothic"/>
                    <a:cs typeface="Arial"/>
                  </a:rPr>
                  <a:t> — straight into it; Diffusion samples both modes.</a:t>
                </a:r>
                <a:endParaRPr lang="en-US" sz="1200" dirty="0">
                  <a:solidFill>
                    <a:srgbClr val="40404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In PushT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"go around the left or the right side of the T?"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MLP-BC hesitates in between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human demos are even more multimodal.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Which Model? The Multimodality Problem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3181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425" y="1790254"/>
            <a:ext cx="2800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00775" y="1790254"/>
            <a:ext cx="1752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3375" y="1790254"/>
            <a:ext cx="4019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2204145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2204145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00775" y="2204145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3375" y="2204145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9075" y="2611189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0425" y="2611189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0775" y="2611189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3375" y="2611189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018234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0425" y="3018234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0775" y="3018234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3375" y="3018234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" y="3417838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0425" y="3417838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0775" y="3417838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3375" y="3417838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" y="3817441"/>
            <a:ext cx="3181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00425" y="3817441"/>
            <a:ext cx="2800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0775" y="3817441"/>
            <a:ext cx="1752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3375" y="3817441"/>
            <a:ext cx="4019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60921" y="933450"/>
                <a:ext cx="11350079" cy="33531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Learn a distribution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instead of a single average action</a:t>
                </a:r>
                <a:endParaRPr lang="en-US" sz="2000" b="1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219075" y="1495425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Model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00425" y="1495425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Output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00775" y="1495425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Multimodal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3375" y="1495425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Notes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1885504"/>
            <a:ext cx="3048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(MSE)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00425" y="1885504"/>
            <a:ext cx="2667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point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00775" y="1885504"/>
            <a:ext cx="1619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(mean)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53375" y="1885504"/>
            <a:ext cx="3886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fastest, simplest — baseline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2289870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+ action 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3400425" y="2289870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H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points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7" name="TextBox 36"/>
          <p:cNvSpPr txBox="1"/>
          <p:nvPr/>
        </p:nvSpPr>
        <p:spPr>
          <a:xfrm>
            <a:off x="6200775" y="2289870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953375" y="2289870"/>
            <a:ext cx="3886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temporally consistent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2696914"/>
            <a:ext cx="3048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GMM / MDN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/>
              <p:cNvSpPr txBox="1"/>
              <p:nvPr/>
            </p:nvSpPr>
            <p:spPr>
              <a:xfrm>
                <a:off x="3400425" y="2696914"/>
                <a:ext cx="2667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Gaussians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1" name="TextBox 40"/>
          <p:cNvSpPr txBox="1"/>
          <p:nvPr/>
        </p:nvSpPr>
        <p:spPr>
          <a:xfrm>
            <a:off x="6200775" y="2696914"/>
            <a:ext cx="16192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partly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7953375" y="2696914"/>
                <a:ext cx="3886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number of modes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fixed in advance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3" name="TextBox 42"/>
          <p:cNvSpPr txBox="1"/>
          <p:nvPr/>
        </p:nvSpPr>
        <p:spPr>
          <a:xfrm>
            <a:off x="219075" y="3103959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VQ-BeT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00425" y="3103959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discrete code + offset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00775" y="3103959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953375" y="3103959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Transformer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9075" y="3503563"/>
            <a:ext cx="3048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 (CVAE + Transformer)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00425" y="3503563"/>
            <a:ext cx="26670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00775" y="3503563"/>
            <a:ext cx="1619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953375" y="3503563"/>
            <a:ext cx="38862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real robot, 50 demos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19075" y="3903166"/>
            <a:ext cx="3048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Policy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400425" y="3903166"/>
            <a:ext cx="26670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chunk, sampled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00775" y="3903166"/>
            <a:ext cx="1619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yes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953375" y="3903166"/>
            <a:ext cx="38862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standard PushT baseline, stable training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Our choice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MLP-BC as the baseline, Diffusion Policy as the main model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same MLP trunk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(3 layers, width 512, Mish).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So the only difference is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learning the mean vs. learning the distribution.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Policy Model Candidates</a:t>
            </a:r>
          </a:p>
        </p:txBody>
      </p:sp>
      <p:pic>
        <p:nvPicPr>
          <p:cNvPr id="59" name="Picture 5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2991"/>
            <a:ext cx="38100" cy="577304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Learn to remove noise from action chunks; at run time, denoise noise into actions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219075" y="1428750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1. Forward process: mix noise into a clean chunk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0</m:t>
                        </m:r>
                      </m:sup>
                    </m:sSup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84896"/>
                <a:ext cx="117538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∼</m:t>
                      </m:r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m:rPr>
                          <m:sty m:val="b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…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542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2. Training: predict the noise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7766"/>
                <a:ext cx="11525250" cy="367754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cr m:val="double-struck"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∥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ϵ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∥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232696"/>
                <a:ext cx="1175385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3. Sampling: start from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m:rPr>
                            <m:sty m:val="bi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K</m:t>
                        </m:r>
                      </m:sup>
                    </m:sSup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∼</m:t>
                    </m:r>
                    <m:r>
                      <m:rPr>
                        <m:scr m:val="script"/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b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I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, step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…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588841"/>
                <a:ext cx="11753850" cy="6438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den>
                      </m:f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5845373"/>
                <a:ext cx="117538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Why it is multimodal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each run starts from different noise → a different sample → </a:t>
                </a:r>
                <a:r>
                  <a:rPr lang="en-US" sz="18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different modes of the demonstrations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 Cosine schedule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β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K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50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 Policy (DDPM) in Three Steps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146846"/>
            <a:ext cx="38100" cy="532061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19675" y="1428750"/>
            <a:ext cx="38100" cy="3710136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Training is one line of noise mixing; sampling is a loop of K = 50 denoising steps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α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rad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ϵ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251621"/>
                <a:ext cx="424815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m:rPr>
                          <m:scr m:val="script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ϵ</m:t>
                                  </m:r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ϕ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sSup>
                                <m:e>
                                  <m:r>
                                    <m:rPr>
                                      <m:sty m:val="bi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o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</m:d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831306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Sampling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158877"/>
                <a:ext cx="4476750" cy="64383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ϵ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sSub>
                                <m:e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878907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μ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σ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z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191125" y="142875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pusht_imitation.py : DiffusionPolicy.loss · predict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1125" y="168771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loss(self, x, y):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1125" y="188848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a0 = self.ny(y)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1125" y="208924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k = torch.randint(0, self.K, (len(a0),))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1125" y="229001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eps = torch.randn_like(a0)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91125" y="249078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ab = self.abar[k][:, None]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1125" y="269155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a_k = ab.sqrt() * a0 + (1 - ab).sqrt() * eps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1125" y="2892326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((self.eps_hat(a_k, k, self.nx(x)) - eps)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1125" y="329386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predict(self, x):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1125" y="349463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 = torch.randn(len(xn), self.d_act)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a^K ~ N(0, I)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91125" y="369540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for k in reversed(range(self.K)):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1125" y="389617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ab = self.abar[k]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91125" y="409694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a0 = (a - (1 - ab).sqrt() * self.eps_hat(a, kk, xn)) / ab.sqrt()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1125" y="429771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mean = (ab_prev.sqrt() * self.betas[k] / (1 - ab)) * a0 \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91125" y="449847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+ (self.alphas[k].sqrt() * (1 - ab_prev) / (1 - ab)) * a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91125" y="469924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var = self.betas[k] * (1 - ab_prev) / (1 - ab)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91125" y="490001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a = mean + var.sqrt() * torch.randn_like(a)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 Policy: Equation ↔ Code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790254"/>
            <a:ext cx="6229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48425" y="1790254"/>
            <a:ext cx="2228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77275" y="1790254"/>
            <a:ext cx="32956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221158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48425" y="221158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77275" y="221158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075" y="261863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8425" y="261863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77275" y="261863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075" y="3025676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8425" y="3025676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77275" y="3025676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9075" y="3432721"/>
            <a:ext cx="6229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8425" y="3432721"/>
            <a:ext cx="2228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77275" y="3432721"/>
            <a:ext cx="32956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9075" y="3996928"/>
            <a:ext cx="38100" cy="52387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needs more capacity or more steps than MLP-BC before it pays off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075" y="1495425"/>
            <a:ext cx="60960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Setting (180 expert demos, unseen tasks)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8425" y="1495425"/>
            <a:ext cx="2095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MLP-BC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77275" y="1495425"/>
            <a:ext cx="31623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Diffusion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219075" y="1885504"/>
                <a:ext cx="6096000" cy="25940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no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3" name="TextBox 22"/>
          <p:cNvSpPr txBox="1"/>
          <p:nvPr/>
        </p:nvSpPr>
        <p:spPr>
          <a:xfrm>
            <a:off x="6448425" y="1885504"/>
            <a:ext cx="20955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77275" y="1885504"/>
            <a:ext cx="3162300" cy="25940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219075" y="229731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6" name="TextBox 25"/>
          <p:cNvSpPr txBox="1"/>
          <p:nvPr/>
        </p:nvSpPr>
        <p:spPr>
          <a:xfrm>
            <a:off x="6448425" y="229731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36–46 %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77275" y="229731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18–42 %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19075" y="2704356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256,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80k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9" name="TextBox 28"/>
          <p:cNvSpPr txBox="1"/>
          <p:nvPr/>
        </p:nvSpPr>
        <p:spPr>
          <a:xfrm>
            <a:off x="6448425" y="2704356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77275" y="2704356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219075" y="3111401"/>
                <a:ext cx="6096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30k steps (</a:t>
                </a:r>
                <a:r>
                  <a:rPr lang="en-US" sz="1462" b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default</a:t>
                </a: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)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448425" y="3111401"/>
            <a:ext cx="20955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38–59 %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77275" y="3111401"/>
            <a:ext cx="31623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54–63 %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219075" y="3518446"/>
                <a:ext cx="6096000" cy="249882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width 512,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560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+ EMA, 50k steps</a:t>
                </a:r>
                <a:endParaRPr lang="en-US" sz="14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5" name="TextBox 34"/>
          <p:cNvSpPr txBox="1"/>
          <p:nvPr/>
        </p:nvSpPr>
        <p:spPr>
          <a:xfrm>
            <a:off x="6448425" y="3518446"/>
            <a:ext cx="20955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—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77275" y="3518446"/>
            <a:ext cx="3162300" cy="24988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69 %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447675" y="4101703"/>
                <a:ext cx="5486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←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0.999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EMA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0.001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ϕ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8" name="TextBox 37"/>
          <p:cNvSpPr txBox="1"/>
          <p:nvPr/>
        </p:nvSpPr>
        <p:spPr>
          <a:xfrm>
            <a:off x="6257925" y="3996928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Batch 256, AdamW, cosine lr decay; about 1 min per model on GPU, 4 min on CPU.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Caution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re-running the same setting moves success by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±10 %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validation loss does not predict success (0.116 → 0.132 while 62 % → 69 %).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Settings Found by Experiment</a:t>
            </a:r>
          </a:p>
        </p:txBody>
      </p:sp>
      <p:pic>
        <p:nvPicPr>
          <p:cNvPr id="42" name="Picture 4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7" y="1428750"/>
            <a:ext cx="5565428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 reaches most of its performance at about 100 demonstrations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6257925" y="1756321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400 expert demos → train on the first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→ width 512, 30k steps → </a:t>
                </a: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100 unseen tasks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closed loop.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6257925" y="2502247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Reading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6257925" y="2829818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Diffusion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is ahead at every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most clearly with little data.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6257925" y="3575745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needs about 3× more demos for the same success.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4321671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demos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aim for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at least 100, ideally 200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Reproduce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tools/imitation_experiments/full/run_scale512.sh (10 jobs, about 15 min)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How Many Demonstrations? Measured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ollouts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620000" cy="1743075"/>
          </a:xfrm>
          <a:prstGeom prst="rect">
            <a:avLst/>
          </a:prstGeom>
        </p:spPr>
      </p:pic>
      <p:pic>
        <p:nvPicPr>
          <p:cNvPr id="3" name="Picture 2" descr="il_rollouts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3526036"/>
            <a:ext cx="7620000" cy="1743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learned policies stay below the expert that taught them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72680" y="3228975"/>
            <a:ext cx="231264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MLP-BC rollouts on unseen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7703" y="5326261"/>
            <a:ext cx="290274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Diffusion Policy rollouts on the same seeds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62925" y="1428750"/>
            <a:ext cx="3810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stalls or jitters beside the T — it averages between strategies.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62925" y="2174677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Diffusion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commits to one strategy; fails at the final 0.15 m / 10° alignment or after one big mistake.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62925" y="3226891"/>
            <a:ext cx="38100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covariate shift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— their own errors lead to states never seen in the demos.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Default run (180 demos)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expert 88 % · MLP-BC 38–59 % · Diffusion 54–63 %. Remedy: DAgger — record human corrections.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Closed-Loop Rollouts and Failure Modes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428750"/>
            <a:ext cx="38100" cy="8382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075" y="2780854"/>
            <a:ext cx="28956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14675" y="2780854"/>
            <a:ext cx="29908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05525" y="2780854"/>
            <a:ext cx="58674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075" y="3194745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4675" y="3194745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05525" y="3194745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3594348"/>
            <a:ext cx="28956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4675" y="3594348"/>
            <a:ext cx="29908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05525" y="3594348"/>
            <a:ext cx="58674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needs no demonstrations — only a reward and a great deal of trial and error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47675" y="1533525"/>
                <a:ext cx="11525250" cy="62865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limUp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→</m:t>
                          </m:r>
                        </m:e>
                        <m:lim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physics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</m:lim>
                      </m:limUp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max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ϕ</m:t>
                          </m:r>
                        </m:sub>
                      </m:sSub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 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​</m:t>
                              </m:r>
                            </m:sup>
                            <m:e>
                              <m:sSup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nary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4" name="TextBox 13"/>
          <p:cNvSpPr txBox="1"/>
          <p:nvPr/>
        </p:nvSpPr>
        <p:spPr>
          <a:xfrm>
            <a:off x="219075" y="2486025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Experiment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14675" y="2486025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Starting point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5525" y="2486025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Result (50 unseen tasks, no exploration noise)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075" y="2876104"/>
            <a:ext cx="27622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A. RL from scratch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14675" y="2876104"/>
            <a:ext cx="28575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random network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05525" y="2876104"/>
            <a:ext cx="57340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 steps (2.5 h): </a:t>
            </a:r>
            <a:r>
              <a:rPr lang="en-US" sz="1462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endParaRPr lang="en-US" sz="1462" dirty="0">
              <a:solidFill>
                <a:srgbClr val="FF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075" y="3280470"/>
            <a:ext cx="27622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14675" y="3280470"/>
            <a:ext cx="285750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MLP-BC policy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05525" y="3280470"/>
            <a:ext cx="57340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42 % → 74 % (3M)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80 %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(6M, 80 min)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075" y="3680073"/>
            <a:ext cx="27622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Scripted expert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14675" y="3680073"/>
            <a:ext cx="285750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hand-written rules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05525" y="3680073"/>
            <a:ext cx="57340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88 %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5405735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A fails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needs a long sequence — choose a contact, go around, push, align. Random motion almost never completes it, so the success bonus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never observed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(the exploration problem).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Why B works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imitation already succeeds about half the time; RL only has to polish behaviour that works.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From Imitation to Reinforcement Learning</a:t>
            </a:r>
          </a:p>
        </p:txBody>
      </p:sp>
      <p:pic>
        <p:nvPicPr>
          <p:cNvPr id="30" name="Picture 29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501652"/>
            <a:ext cx="38100" cy="885527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Turn "how far is the task from done" into one number, and reward every step of progress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428750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Remaining cost (1 rad ≈ 0.3 m)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756321"/>
                <a:ext cx="1175385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0.3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6" name="TextBox 5"/>
          <p:cNvSpPr txBox="1"/>
          <p:nvPr/>
        </p:nvSpPr>
        <p:spPr>
          <a:xfrm>
            <a:off x="219075" y="2174081"/>
            <a:ext cx="117538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per step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606427"/>
                <a:ext cx="11525250" cy="6759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(</m:t>
                                  </m:r>
                                  <m:sSub>
                                    <m:e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progress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begChr m:val="‖"/>
                                  <m:sepChr m:val=""/>
                                  <m:endChr m:val="‖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bi"/>
                                        </m:rP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2001" dirty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G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far from T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0.01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time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limLow>
                        <m:e>
                          <m:limLow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⋅</m:t>
                              </m:r>
                              <m:r>
                                <m:rPr>
                                  <m:scr m:val="double-struck"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[</m:t>
                              </m:r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success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]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bonus</m:t>
                          </m:r>
                        </m:lim>
                      </m:limLow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3539579"/>
                <a:ext cx="5734050" cy="9188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Potential-based shaping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the progress term sums to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10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 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— a signal every step, without changing the optimal policy.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6257925" y="3539579"/>
                <a:ext cx="571500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Episode end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success is terminal; at 300 steps it is truncated and bootstrapped with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V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Side effect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the time penalty makes RL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finish faster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than the expert, which has no such pressure.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 Design</a:t>
            </a:r>
          </a:p>
        </p:txBody>
      </p:sp>
      <p:pic>
        <p:nvPicPr>
          <p:cNvPr id="13" name="Picture 12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1875086"/>
            <a:ext cx="38100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95925" y="1428750"/>
            <a:ext cx="38100" cy="230475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Two short functions — the RL training loop calls them once per environment step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19075" y="1476375"/>
                <a:ext cx="4953000" cy="3225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0.3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θ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g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7675" y="1979861"/>
                <a:ext cx="4724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Δ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0.02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max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d>
                        <m:dPr>
                          <m:begChr m:val="‖"/>
                          <m:sepChr m:val=""/>
                          <m:endChr m:val="‖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G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47675" y="2370386"/>
                <a:ext cx="472440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 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0.01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10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⋅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[</m:t>
                      </m:r>
                      <m:r>
                        <m:rPr>
                          <m:nor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success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19075" y="2941886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Δ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c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positive when the T moved closer to the goal pose.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19075" y="3687812"/>
                <a:ext cx="4972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wrap_angle keeps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θ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θ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g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in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π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so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359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counts as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5667375" y="1428750"/>
            <a:ext cx="630555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task_cost · reward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7375" y="1687711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task_cost(sim):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67375" y="1888480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float(np.linalg.norm(sim.T.pos - sim.goal_pos)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375" y="2089249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+ 0.3 * abs(wrap_angle(sim.T.angle - sim.goal_angle)))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7375" y="2490788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def reward(c_before, c_after, sim, success):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7375" y="2691557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dist_pt = float(np.linalg.norm(sim.pusher.pos - sim.T.pos))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7375" y="2892326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return (10.0 * (c_before - c_after)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7375" y="3093095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- 0.02 * max(dist_pt - 1.0, 0.0)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375" y="3293864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- 0.01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7375" y="3494633"/>
            <a:ext cx="630555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+ (10.0 if success else 0.0))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Reward: Equation ↔ Code</a:t>
            </a:r>
          </a:p>
        </p:txBody>
      </p:sp>
      <p:pic>
        <p:nvPicPr>
          <p:cNvPr id="22" name="Picture 21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63304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38925" y="1790254"/>
            <a:ext cx="12763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15275" y="1790254"/>
            <a:ext cx="1943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58375" y="1790254"/>
            <a:ext cx="211455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38925" y="2204145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15275" y="2204145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58375" y="2204145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8925" y="2611189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15275" y="2611189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58375" y="2611189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38925" y="3018234"/>
            <a:ext cx="12763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5275" y="3018234"/>
            <a:ext cx="1943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58375" y="3018234"/>
            <a:ext cx="211455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Collect 8,192 steps, estimate advantages, update for 10 epochs — repeat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219075" y="1428750"/>
                <a:ext cx="6096000" cy="27994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Advantage (GAE),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γ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0.99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,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 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λ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0.95</m:t>
                    </m:r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19075" y="1784896"/>
                <a:ext cx="6096000" cy="641003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≥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</m:e>
                      </m:nary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p>
                      </m:sSup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219075" y="2502098"/>
                <a:ext cx="6096000" cy="28500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650" b="1" dirty="0">
                    <a:solidFill>
                      <a:srgbClr val="203864"/>
                    </a:solidFill>
                    <a:latin typeface="Arial"/>
                    <a:ea typeface="Malgun Gothic"/>
                    <a:cs typeface="Arial"/>
                  </a:rPr>
                  <a:t>Clipped objective,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ρ</m:t>
                    </m:r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=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761" dirty="0">
                        <a:solidFill>
                          <a:srgbClr val="203864"/>
                        </a:solidFill>
                        <a:latin typeface="Cambria Math"/>
                      </a:rPr>
                      <m:t>/</m:t>
                    </m:r>
                    <m:sSub>
                      <m:e>
                        <m: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a:rPr lang="en-US" sz="1761" dirty="0">
                            <a:solidFill>
                              <a:srgbClr val="203864"/>
                            </a:solidFill>
                            <a:latin typeface="Cambria Math"/>
                          </a:rPr>
                          <m:t>old</m:t>
                        </m:r>
                      </m:sub>
                    </m:sSub>
                  </m:oMath>
                </a14:m>
                <a:endParaRPr lang="en-US" sz="1815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47675" y="2968079"/>
                <a:ext cx="586740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 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ρ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0.8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1.2</m:t>
                              </m:r>
                              <m:r>
                                <m:rPr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)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en-US" sz="2001" dirty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A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19075" y="3564880"/>
                <a:ext cx="6115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Gaussian policy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script"/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s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σ</m:t>
                        </m:r>
                      </m:e>
                      <m:sup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: sample while training, use the mean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sSub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μ</m:t>
                        </m:r>
                      </m:e>
                      <m:sub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ϕ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for evaluation.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1" name="TextBox 20"/>
          <p:cNvSpPr txBox="1"/>
          <p:nvPr/>
        </p:nvSpPr>
        <p:spPr>
          <a:xfrm>
            <a:off x="7915275" y="1495425"/>
            <a:ext cx="1809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A. scratch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58375" y="1495425"/>
            <a:ext cx="198120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B. BC → RL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38925" y="1885504"/>
            <a:ext cx="11430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5275" y="1885504"/>
            <a:ext cx="1809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 × 256 tanh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58375" y="1885504"/>
            <a:ext cx="198120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the MLP-BC net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6638925" y="2289870"/>
                <a:ext cx="11430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Initial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27" name="TextBox 26"/>
          <p:cNvSpPr txBox="1"/>
          <p:nvPr/>
        </p:nvSpPr>
        <p:spPr>
          <a:xfrm>
            <a:off x="7915275" y="2289870"/>
            <a:ext cx="180975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858375" y="2289870"/>
            <a:ext cx="19812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0.03 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925" y="2696914"/>
            <a:ext cx="1143000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Actor lr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7915275" y="2696914"/>
                <a:ext cx="1809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9858375" y="2696914"/>
                <a:ext cx="198120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sz="1560" dirty="0">
                          <a:solidFill>
                            <a:srgbClr val="000000"/>
                          </a:solidFill>
                          <a:latin typeface="Cambria Math"/>
                        </a:rPr>
                        <m:t>×</m:t>
                      </m:r>
                      <m:sSup>
                        <m:e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560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2" name="TextBox 31"/>
          <p:cNvSpPr txBox="1"/>
          <p:nvPr/>
        </p:nvSpPr>
        <p:spPr>
          <a:xfrm>
            <a:off x="6638925" y="3103959"/>
            <a:ext cx="114300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Critic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15275" y="3103959"/>
            <a:ext cx="1809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58375" y="3103959"/>
            <a:ext cx="2000250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new, 10 warm-up updates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For B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clipping, a small learning rate and small noise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protect the working BC policy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from being destroyed early on.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PPO: Small, Clipped Policy Updates</a:t>
            </a:r>
          </a:p>
        </p:txBody>
      </p:sp>
      <p:pic>
        <p:nvPicPr>
          <p:cNvPr id="38" name="Picture 3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075" y="2865239"/>
            <a:ext cx="38100" cy="549176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19675" y="1428750"/>
            <a:ext cx="38100" cy="330859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GAE runs backwards through the rollout; the clipped loss is one line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1428750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Advantage, backwards in time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1756321"/>
                <a:ext cx="4476750" cy="314325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19075" y="2146846"/>
                <a:ext cx="4476750" cy="314623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δ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γ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λ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sSub>
                        <m:e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d</m:t>
                          </m:r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8" name="TextBox 7"/>
          <p:cNvSpPr txBox="1"/>
          <p:nvPr/>
        </p:nvSpPr>
        <p:spPr>
          <a:xfrm>
            <a:off x="219075" y="2537668"/>
            <a:ext cx="447675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Clipped surrogate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970014"/>
                <a:ext cx="4248150" cy="33962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cr m:val="double-struck"/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min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 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ρ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0.8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1.2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acc>
                            <m:accPr>
                              <m:chr m:val="̂"/>
                            </m:accPr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A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219075" y="3566815"/>
                <a:ext cx="4476750" cy="33932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  <m: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ρ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1" dirty="0">
                          <a:solidFill>
                            <a:srgbClr val="000000"/>
                          </a:solidFill>
                          <a:latin typeface="Cambria Math"/>
                        </a:rPr>
                        <m:t>exp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log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log</m:t>
                          </m:r>
                          <m:sSub>
                            <m:e>
                              <m: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π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a:rPr lang="en-US" sz="200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old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∣</m:t>
                          </m:r>
                          <m: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en-US" sz="200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62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5191125" y="1428750"/>
            <a:ext cx="6781800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774B8"/>
                </a:solidFill>
                <a:latin typeface="Arial"/>
                <a:ea typeface="Malgun Gothic"/>
                <a:cs typeface="Arial"/>
              </a:rPr>
              <a:t>pusht_rl.py : train loop</a:t>
            </a:r>
            <a:endParaRPr lang="en-US" sz="1200" b="1" dirty="0">
              <a:solidFill>
                <a:srgbClr val="2774B8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91125" y="168771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t in reversed(range(n_steps)):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GAE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91125" y="188848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nv = v_next if t == n_steps - 1 else V[t + 1]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91125" y="208924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delta = R[t] + gamma * nv * (1 - DONE[t]) - V[t]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1125" y="229001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g = delta + gamma * lam * (1 - DONE[t]) *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91125" y="2490788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adv[t] = g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1125" y="2691557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RET = ADV + torch.cat(V)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critic target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91125" y="3093095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for _ in range(10):                      </a:t>
            </a:r>
            <a:r>
              <a:rPr lang="en-US" sz="1162" dirty="0">
                <a:solidFill>
                  <a:srgbClr val="3D8C54"/>
                </a:solidFill>
                <a:latin typeface="Consolas"/>
                <a:ea typeface="Malgun Gothic"/>
                <a:cs typeface="Consolas"/>
              </a:rPr>
              <a:t># PPO epochs</a:t>
            </a:r>
            <a:endParaRPr lang="en-US" sz="1162" dirty="0">
              <a:solidFill>
                <a:srgbClr val="3D8C5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91125" y="3293864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...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91125" y="3494633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lv = ((model.value(Ob[idx]) - RET[idx]) ** 2).mean()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91125" y="3695402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if it &gt;= critic_warmup: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91125" y="389617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ratio = (policy_dist(model, Ob[idx]).log_prob(Ab[idx])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91125" y="4096941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.sum(-1) - LPb[idx]).exp()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91125" y="4297710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la = -torch.min(ratio * ADV[idx],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91125" y="4498479"/>
            <a:ext cx="6781800" cy="20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581"/>
              </a:lnSpc>
              <a:buNone/>
            </a:pPr>
            <a:r>
              <a:rPr lang="en-US" sz="1162" dirty="0">
                <a:solidFill>
                  <a:srgbClr val="111111"/>
                </a:solidFill>
                <a:latin typeface="Consolas"/>
                <a:ea typeface="Malgun Gothic"/>
                <a:cs typeface="Consolas"/>
              </a:rPr>
              <a:t>                        ratio.clamp(0.8, 1.2) * ADV[idx]).mean()</a:t>
            </a:r>
            <a:endParaRPr lang="en-US" sz="1162" dirty="0">
              <a:solidFill>
                <a:srgbClr val="111111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PPO: Equation ↔ Code</a:t>
            </a:r>
          </a:p>
        </p:txBody>
      </p:sp>
      <p:pic>
        <p:nvPicPr>
          <p:cNvPr id="28" name="Picture 27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4312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D9EEFC"/>
          </a:solidFill>
          <a:ln w="38100">
            <a:solidFill>
              <a:srgbClr val="277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67475" y="1485900"/>
            <a:ext cx="3581400" cy="1028700"/>
          </a:xfrm>
          <a:prstGeom prst="roundRect">
            <a:avLst>
              <a:gd name="adj" fmla="val 12962"/>
            </a:avLst>
          </a:prstGeom>
          <a:solidFill>
            <a:srgbClr val="FFEBC9"/>
          </a:solidFill>
          <a:ln w="38100">
            <a:solidFill>
              <a:srgbClr val="E97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43575" y="1962150"/>
            <a:ext cx="533400" cy="76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075" y="3494187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07072" y="3494187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075" y="3893790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07072" y="3893790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" y="4293394"/>
            <a:ext cx="2787997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7072" y="4293394"/>
            <a:ext cx="2927003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7925" y="347037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82025" y="3470374"/>
            <a:ext cx="1181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63125" y="3470374"/>
            <a:ext cx="22098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7925" y="388426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82025" y="3884265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63125" y="3884265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7925" y="4283869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82025" y="4283869"/>
            <a:ext cx="1181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63125" y="4283869"/>
            <a:ext cx="22098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267450" y="1876425"/>
            <a:ext cx="161925" cy="247650"/>
          </a:xfrm>
          <a:custGeom>
            <a:avLst/>
            <a:gdLst/>
            <a:ahLst/>
            <a:cxnLst/>
            <a:rect l="l" t="t" r="r" b="b"/>
            <a:pathLst>
              <a:path w="161925" h="247650">
                <a:moveTo>
                  <a:pt x="0" y="0"/>
                </a:moveTo>
                <a:lnTo>
                  <a:pt x="1619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Pure-Python physics is slow, so 64 environments run at once on 16 CPU processes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22414" y="1721495"/>
            <a:ext cx="16228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Main process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20541" y="2045345"/>
            <a:ext cx="3026569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policy for 64 observations at once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54751" y="1721495"/>
            <a:ext cx="2406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16 workers × 4 envs</a:t>
            </a:r>
            <a:endParaRPr lang="en-US" sz="2000" b="1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0251" y="2045345"/>
            <a:ext cx="2495848" cy="233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84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Arial"/>
                <a:ea typeface="Malgun Gothic"/>
                <a:cs typeface="Arial"/>
              </a:rPr>
              <a:t>physics, auto-reset on done</a:t>
            </a:r>
            <a:endParaRPr lang="en-US" sz="1600" dirty="0">
              <a:solidFill>
                <a:srgbClr val="111111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07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Benchmark (idle CPU, 20 cores)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075" y="3185071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Steps per PPO iteration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07072" y="3185071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64 × 128 = 8,192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075" y="3579912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Rollout (physics 3.09 s)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07072" y="3579912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3.79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075" y="3979515"/>
            <a:ext cx="2654647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PPO update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07072" y="3979515"/>
            <a:ext cx="2793653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1.91 s (33 %)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075" y="4379119"/>
            <a:ext cx="2654647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Env steps / s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07072" y="4379119"/>
            <a:ext cx="2793653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2,159 rollout ·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1,437</a:t>
            </a: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total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57925" y="278130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Training wall-clock (from logs)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57925" y="3175546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82025" y="3175546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Steps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63125" y="3175546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Time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57925" y="356562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82025" y="3565624"/>
            <a:ext cx="1047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16.4M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763125" y="3565624"/>
            <a:ext cx="20764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147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57925" y="396999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582025" y="3969990"/>
            <a:ext cx="1047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 → 6M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63125" y="3969990"/>
            <a:ext cx="20764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57925" y="4369594"/>
            <a:ext cx="2190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BC+PPO resumed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582025" y="4369594"/>
            <a:ext cx="10477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 → 12M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63125" y="4369594"/>
            <a:ext cx="2076450" cy="2424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 min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9075" y="5845373"/>
            <a:ext cx="117538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Backend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CPU multiprocessing (fork + Pipe); the network also runs on the CPU. One environment alone would be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≈ 64× slower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Parallel Simulation</a:t>
            </a:r>
          </a:p>
        </p:txBody>
      </p:sp>
      <p:pic>
        <p:nvPicPr>
          <p:cNvPr id="51" name="Picture 50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l_r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667500" cy="40759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Starting from imitation turns an unsolvable exploration problem into fine-tuning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6696" y="5561856"/>
            <a:ext cx="521225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Training success with exploration noise (tutorial/checkpoints/rl/*/train_log*.txt)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0425" y="1428750"/>
            <a:ext cx="4762500" cy="918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From scratch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return improved −14 → −2.4, the T moves toward the goal, but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0 % success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; exploration noise collapsed 0.6 → 0.03.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0425" y="2480965"/>
            <a:ext cx="47625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RL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0.44 → 0.88 in 6M steps, then a plateau at 0.87–0.90.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demonstrations solve exploration; RL then optimizes what imitation cannot — the reward itself.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RL from Scratch vs BC → RL</a:t>
            </a:r>
          </a:p>
        </p:txBody>
      </p:sp>
      <p:pic>
        <p:nvPicPr>
          <p:cNvPr id="10" name="Picture 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15175" y="1790254"/>
            <a:ext cx="2324100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39275" y="1790254"/>
            <a:ext cx="9429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82250" y="1790254"/>
            <a:ext cx="1590675" cy="1905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5175" y="220414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39275" y="220414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82250" y="220414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15175" y="2603748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39275" y="2603748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82250" y="2603748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15175" y="3003352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39275" y="3003352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82250" y="3003352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15175" y="3402955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39275" y="3402955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82250" y="3402955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15175" y="3810000"/>
            <a:ext cx="2324100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9275" y="3810000"/>
            <a:ext cx="9429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82250" y="3810000"/>
            <a:ext cx="1590675" cy="9525"/>
          </a:xfrm>
          <a:prstGeom prst="rect">
            <a:avLst/>
          </a:prstGeom>
          <a:solidFill>
            <a:srgbClr val="E7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l_pa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6572250" cy="26375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Same 100 unseen tasks, same start, 300 steps, deterministic actions for every policy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10308" y="4123432"/>
            <a:ext cx="3989784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pusht_rl_eval.py → tutorial/eval_results/paired_*.csv / .json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15175" y="1495425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Scripted vs BC+PPO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39275" y="1495425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6M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82250" y="1495425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b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12M</a:t>
            </a:r>
            <a:endParaRPr lang="en-US" sz="1462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5175" y="1885504"/>
            <a:ext cx="2190750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succeed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39275" y="1885504"/>
            <a:ext cx="8096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382250" y="1885504"/>
            <a:ext cx="1457325" cy="2519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70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5175" y="2289870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scripted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39275" y="2289870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382250" y="2289870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115175" y="2689473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only BC+PPO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39275" y="2689473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82250" y="2689473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7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15175" y="3089077"/>
            <a:ext cx="2190750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both fail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439275" y="3089077"/>
            <a:ext cx="8096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5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82250" y="3089077"/>
            <a:ext cx="1457325" cy="2472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7115175" y="3488680"/>
                <a:ext cx="2190750" cy="254645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462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McNemar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560" dirty="0">
                        <a:solidFill>
                          <a:srgbClr val="000000"/>
                        </a:solidFill>
                        <a:latin typeface="Cambria Math"/>
                      </a:rPr>
                      <m:t>p</m:t>
                    </m:r>
                  </m:oMath>
                </a14:m>
                <a:endParaRPr lang="en-US" sz="1609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39" name="TextBox 38"/>
          <p:cNvSpPr txBox="1"/>
          <p:nvPr/>
        </p:nvSpPr>
        <p:spPr>
          <a:xfrm>
            <a:off x="9439275" y="3488680"/>
            <a:ext cx="8096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0.38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382250" y="3488680"/>
            <a:ext cx="1457325" cy="2546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0.064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15175" y="3895725"/>
            <a:ext cx="2190750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median steps*</a:t>
            </a:r>
            <a:endParaRPr lang="en-US" sz="1462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39275" y="3895725"/>
            <a:ext cx="828675" cy="48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136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107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82250" y="3895725"/>
            <a:ext cx="1457325" cy="4801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 marL="0" indent="0">
              <a:lnSpc>
                <a:spcPts val="1872"/>
              </a:lnSpc>
              <a:buNone/>
            </a:pPr>
            <a:r>
              <a:rPr lang="en-US" sz="1462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139 → </a:t>
            </a:r>
            <a:r>
              <a:rPr lang="en-US" sz="1462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104</a:t>
            </a:r>
            <a:endParaRPr lang="en-US" sz="1462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15175" y="4528245"/>
            <a:ext cx="4857750" cy="22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7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* on seeds both solved: scripted → BC+PPO</a:t>
            </a:r>
            <a:endParaRPr lang="en-US" sz="1425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Result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is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statistically tied with the expert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, and BC+PPO is about 3–4 s faster on the same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Paired Evaluation on Seeds 0–99</a:t>
            </a:r>
          </a:p>
        </p:txBody>
      </p:sp>
      <p:pic>
        <p:nvPicPr>
          <p:cNvPr id="48" name="Picture 47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More training made the policy faster, not more successful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07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Measured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075" y="1756321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Within noise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at 82 %, one standard error is about ±4 points with 100 tasks.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9075" y="2502247"/>
            <a:ext cx="573405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6M → 12M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success 82 % → 77 %, mean time 12.0 s → 11.1 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9075" y="3248174"/>
                <a:ext cx="5734050" cy="6125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Plateau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training success stayed at 0.87–0.90 with noise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→</m:t>
                    </m:r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0.005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7" name="TextBox 6"/>
          <p:cNvSpPr txBox="1"/>
          <p:nvPr/>
        </p:nvSpPr>
        <p:spPr>
          <a:xfrm>
            <a:off x="219075" y="3994100"/>
            <a:ext cx="571500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Best checkpoint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6M, not the newest 12M.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57925" y="1428750"/>
            <a:ext cx="5715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Likely structural limits (not yet tested)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57925" y="1756321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Less information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12 inputs vs. the expert's full state and memory.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257925" y="2502247"/>
                <a:ext cx="5715000" cy="306288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1800" b="1" i="1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Conservative updates</a:t>
                </a:r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: lr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3</m:t>
                    </m:r>
                    <m:r>
                      <m:rPr>
                        <m:sty m:val="p"/>
                      </m:rP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×</m:t>
                    </m:r>
                    <m:sSup>
                      <m:e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92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, clipping, small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a:rPr lang="en-US" sz="1921" dirty="0">
                        <a:solidFill>
                          <a:srgbClr val="000000"/>
                        </a:solidFill>
                        <a:latin typeface="Cambria Math"/>
                      </a:rPr>
                      <m:t>σ</m:t>
                    </m:r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.</a:t>
                </a:r>
                <a:endParaRPr lang="en-US" sz="18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1" name="TextBox 10"/>
          <p:cNvSpPr txBox="1"/>
          <p:nvPr/>
        </p:nvSpPr>
        <p:spPr>
          <a:xfrm>
            <a:off x="6257925" y="2941886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Reward ≠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angle weighted 0.3; success needs 0.15 m </a:t>
            </a:r>
            <a:r>
              <a:rPr lang="en-US" sz="1800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10°.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57925" y="3687812"/>
            <a:ext cx="5715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One step at a time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BC drops 54 % → 34 % without chunks.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9075" y="6151662"/>
            <a:ext cx="11753850" cy="306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Not a ceiling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RL optimizes the reward, not imitation —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Malgun Gothic"/>
                <a:cs typeface="Arial"/>
              </a:rPr>
              <a:t>align the reward with the success test</a:t>
            </a: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to push further.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Why BC+PPO Stops Near the Expert</a:t>
            </a:r>
          </a:p>
        </p:txBody>
      </p:sp>
      <p:pic>
        <p:nvPicPr>
          <p:cNvPr id="16" name="Picture 15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81925" y="1756321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81925" y="2086719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81925" y="2417118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81925" y="2747516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81925" y="3077914"/>
            <a:ext cx="38100" cy="273248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_rea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428750"/>
            <a:ext cx="7239000" cy="42192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python pusht_rl_realtime.py — every panel replays the same random task live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62211" y="5705177"/>
            <a:ext cx="5152579" cy="1827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Seed 30: script 8.7 s · BC→RL 6.4 / 6.2 s · BC and RL-from-scratch time out</a:t>
            </a:r>
            <a:endParaRPr lang="en-US" sz="1200" dirty="0">
              <a:solidFill>
                <a:srgbClr val="40404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81925" y="1428750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Run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6225" y="1775371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cd tutorial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96225" y="2105769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6225" y="2436168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pusht_rl_realtime.py script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96225" y="2766566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pusht_rl.py eval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96225" y="3096964"/>
            <a:ext cx="4076700" cy="2351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852"/>
              </a:lnSpc>
              <a:buNone/>
            </a:pPr>
            <a:r>
              <a:rPr lang="en-US" sz="1425" dirty="0">
                <a:solidFill>
                  <a:srgbClr val="203864"/>
                </a:solidFill>
                <a:latin typeface="Consolas"/>
                <a:ea typeface="Malgun Gothic"/>
                <a:cs typeface="Consolas"/>
              </a:rPr>
              <a:t>python pusht_rl_eval.py</a:t>
            </a:r>
            <a:endParaRPr lang="en-US" sz="1425" dirty="0">
              <a:solidFill>
                <a:srgbClr val="203864"/>
              </a:solidFill>
              <a:latin typeface="Consolas"/>
              <a:ea typeface="Malgun Gothic"/>
              <a:cs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81925" y="3484513"/>
            <a:ext cx="4191000" cy="25137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Keys</a:t>
            </a:r>
            <a:endParaRPr lang="en-US" sz="1650" b="1" dirty="0">
              <a:solidFill>
                <a:srgbClr val="203864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81925" y="3812084"/>
            <a:ext cx="4191000" cy="6125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marL="0" indent="0">
              <a:lnSpc>
                <a:spcPts val="241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Space pause · N next task · + / − speed · Q quit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Real-Time Demo: Five Policies, One Task</a:t>
            </a:r>
          </a:p>
        </p:txBody>
      </p:sp>
      <p:pic>
        <p:nvPicPr>
          <p:cNvPr id="20" name="Picture 19" descr="smwu-mark-blue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47675" y="1438275"/>
                <a:ext cx="11525250" cy="35927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Imitation learning = supervised learning on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(</m:t>
                    </m:r>
                    <m:sSub>
                      <m:e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o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,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134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from successful demonstrations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4" name="TextBox 3"/>
          <p:cNvSpPr txBox="1"/>
          <p:nvPr/>
        </p:nvSpPr>
        <p:spPr>
          <a:xfrm>
            <a:off x="466725" y="1831925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4375" y="1831925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Goal frame (relative motion) and action offsets matter as much as the model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25102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25102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Data: about 100 demos for Diffusion Policy; collect 100–200 human demos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0182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47675" y="2701826"/>
                <a:ext cx="11525250" cy="304800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Model: MSE learns </a:t>
                </a:r>
                <a14:m>
                  <m:oMath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r>
                      <m:rPr>
                        <m:scr m:val="double-struck"/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E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[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a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∣</m:t>
                    </m:r>
                    <m: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o</m:t>
                    </m:r>
                    <m:r>
                      <m:rPr>
                        <m:sty m:val="p"/>
                      </m:rPr>
                      <a:rPr lang="en-US" sz="2134" dirty="0">
                        <a:solidFill>
                          <a:srgbClr val="000000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; </a:t>
                </a:r>
                <a:r>
                  <a:rPr lang="en-US" sz="2000" dirty="0">
                    <a:solidFill>
                      <a:srgbClr val="FF0000"/>
                    </a:solidFill>
                    <a:latin typeface="Arial"/>
                    <a:ea typeface="Malgun Gothic"/>
                    <a:cs typeface="Arial"/>
                  </a:rPr>
                  <a:t>Diffusion learns the distribution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> and handles multimodality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Malgun Gothic"/>
                    <a:cs typeface="Arial"/>
                  </a:rPr>
                  <a:t/>
                </a:r>
                <a:endParaRPr lang="en-US" sz="2000" dirty="0">
                  <a:solidFill>
                    <a:srgbClr val="000000"/>
                  </a:solidFill>
                  <a:latin typeface="Arial"/>
                  <a:ea typeface="Malgun Gothic"/>
                  <a:cs typeface="Arial"/>
                </a:endParaRPr>
              </a:p>
            </p:txBody>
          </p:sp>
        </mc:Choice>
      </mc:AlternateContent>
      <p:sp>
        <p:nvSpPr>
          <p:cNvPr id="10" name="TextBox 9"/>
          <p:cNvSpPr txBox="1"/>
          <p:nvPr/>
        </p:nvSpPr>
        <p:spPr>
          <a:xfrm>
            <a:off x="466725" y="3095476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75" y="3095476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Measured: Diffusion 20–68 % vs MLP-BC 9–59 % (25–360 demos)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5145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5145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 from scratch: 0 % after 16M steps — the exploration problem 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/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725" y="3889177"/>
            <a:ext cx="2667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→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4375" y="3889177"/>
            <a:ext cx="112585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2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BC → PPO: 54 % → 82 % on seeds 0–99, tied with the expert (87 %) and 3–4 s faster</a:t>
            </a:r>
            <a:endParaRPr lang="en-US" sz="18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Physics gives the data, imitation gives the start, RL gives the polish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Summary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8125" y="14382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675" y="14382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Human data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collect 50, then 100 demos — does the Diffusion vs MLP-BC gap grow?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8125" y="1889075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7675" y="1889075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No goal frame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train in world coordinates — how much success is lost?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8125" y="23398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675" y="23398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Chunks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vary the prediction / execution horizons (1, 4, 8, 16)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2790676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7675" y="2790676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History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one observation frame — which mistakes appear without velocity?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8125" y="32414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675" y="32414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DAgger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record your corrections in the viewer and retrain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36922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7675" y="36922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Robustness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evaluate with friction 0.2 instead of 0.4 — think domain randomization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8125" y="4143077"/>
            <a:ext cx="228600" cy="317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•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7675" y="4143077"/>
            <a:ext cx="115252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RL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 : put the 0.15 m / 10° test into the reward — does BC+PPO pass the expert?</a:t>
            </a:r>
            <a:endParaRPr lang="en-US" sz="2000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0921" y="933450"/>
            <a:ext cx="11350079" cy="292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 marL="0" indent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Malgun Gothic"/>
                <a:cs typeface="Arial"/>
              </a:rPr>
              <a:t>Exercises with the tutorial code</a:t>
            </a:r>
            <a:endParaRPr lang="en-US" sz="2000" b="1" dirty="0">
              <a:solidFill>
                <a:srgbClr val="000000"/>
              </a:solidFill>
              <a:latin typeface="Arial"/>
              <a:ea typeface="Malgun Gothic"/>
              <a:cs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9072" y="128588"/>
            <a:ext cx="93345" cy="603885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150" y="128588"/>
            <a:ext cx="10915650" cy="60388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2800" b="1" dirty="0" spc="-28">
                <a:solidFill>
                  <a:srgbClr val="203864"/>
                </a:solidFill>
                <a:latin typeface="Arial"/>
                <a:ea typeface="Malgun Gothic"/>
                <a:cs typeface="Arial"/>
              </a:rPr>
              <a:t>Try It Yourself</a:t>
            </a:r>
          </a:p>
        </p:txBody>
      </p:sp>
      <p:pic>
        <p:nvPicPr>
          <p:cNvPr id="19" name="Picture 18" descr="smwu-mark-blu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17618" y="137160"/>
            <a:ext cx="590550" cy="5905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612255"/>
            <a:ext cx="12192000" cy="252412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3510" y="6612255"/>
            <a:ext cx="3158490" cy="252412"/>
          </a:xfrm>
          <a:prstGeom prst="rect">
            <a:avLst/>
          </a:prstGeom>
          <a:solidFill>
            <a:srgbClr val="B4C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6612255"/>
            <a:ext cx="496062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200" b="1" i="1" dirty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Sookmyung Women’s Univ. Autonomous Mechanical Systems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3348" y="6612255"/>
            <a:ext cx="678180" cy="25241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en-US" sz="1800" b="1" dirty="0">
                <a:solidFill>
                  <a:srgbClr val="404040"/>
                </a:solidFill>
                <a:latin typeface="Arial"/>
                <a:ea typeface="Malgun Gothic"/>
                <a:cs typeface="Arial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2026-09-06T07:57:28Z</dcterms:created>
  <dcterms:modified xsi:type="dcterms:W3CDTF">2026-09-06T07:57:28Z</dcterms:modified>
</cp:coreProperties>
</file>