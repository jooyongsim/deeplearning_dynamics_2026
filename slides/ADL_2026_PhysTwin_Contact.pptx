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138" y="562928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138" y="6321742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wu-mark-whit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246995" y="4390072"/>
            <a:ext cx="1314450" cy="131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6525" y="2291060"/>
            <a:ext cx="10188327" cy="10102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Simulating a Digital Twin: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Spring–Mass Model and Frictional Contact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138" y="3990975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Department of Mechanical Engineering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8" y="4345186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Advanced Deep Learning 2026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8" y="4699397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Joo Yong Sim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8" y="5715000"/>
            <a:ext cx="9525000" cy="269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PhysTwin and real2sim-eval read line by line — with measurements from our own experiments on a rope</a:t>
            </a:r>
            <a:endParaRPr lang="en-US" sz="1575" dirty="0">
              <a:solidFill>
                <a:srgbClr val="FFFFFF"/>
              </a:solidFill>
              <a:latin typeface="Arial"/>
              <a:ea typeface="Malgun 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digital twin is a physics model that a robot can push, grasp and learn 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4584" y="1835795"/>
            <a:ext cx="14815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Observation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5733" y="2159645"/>
            <a:ext cx="1659434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3 RGB-D cameras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99768" y="1835795"/>
            <a:ext cx="105876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Particles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76836" y="2159645"/>
            <a:ext cx="130447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+ spring graph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2879" y="1719114"/>
            <a:ext cx="9599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46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springs · contact · ground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0754" y="1719114"/>
            <a:ext cx="179144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Robot learning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583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teleop · RL · evaluation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320040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questions for this lecture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527971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Q1 — Simulation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how does a cloud of particles behave like a rope? (springs, dashpots, drag, integrator)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967609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Q2 — Contact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how do the ground, the rope itself and a robot gripper push back — and how is friction written?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4713536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Q3 — Cost and consequences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what makes it slow, and what does contact do to repeatability and learning?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Sources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PhysTwin (arXiv 2503.17973) · real2sim-eval (arXiv 2511.04665) ·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our projects 13–21 on the released rope twin</a:t>
            </a:r>
            <a:endParaRPr lang="en-US" sz="1800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Goals: From Video to a Simulator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2895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1467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43775" y="1790254"/>
            <a:ext cx="4629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14675" y="2204145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43775" y="2204145"/>
            <a:ext cx="4629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03748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14675" y="26037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43775" y="2603748"/>
            <a:ext cx="4629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03352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4675" y="3003352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3775" y="3003352"/>
            <a:ext cx="4629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02955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14675" y="3402955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43775" y="3402955"/>
            <a:ext cx="4629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02559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14675" y="3802559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43775" y="3802559"/>
            <a:ext cx="4629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09604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14675" y="4209604"/>
            <a:ext cx="88582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particles and springs; they differ in how the hand or gripper touches the object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1467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PhysTwin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43775" y="1495425"/>
            <a:ext cx="44958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real2sim-eval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1885504"/>
            <a:ext cx="2762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Purpose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14675" y="1885504"/>
            <a:ext cx="4095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fit physics to a video (system ID)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43775" y="1885504"/>
            <a:ext cx="44958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evaluate robot policies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075" y="2289870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Hand / gripper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14675" y="2289870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control points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welded by springs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3775" y="2289870"/>
            <a:ext cx="4495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finger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triangle mesh, frictional contact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2689473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Can the object slip or drop?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14675" y="2689473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— the springs never release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43775" y="2689473"/>
            <a:ext cx="4495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 — held only by friction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9075" y="3089077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Gradients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114675" y="3089077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differentiable (Warp tape)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3775" y="3089077"/>
            <a:ext cx="4495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forward only, overwritten in place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3488680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Self-collision distance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14675" y="3488680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0.02 m (off for real data)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43775" y="3488680"/>
            <a:ext cx="4495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0.005 m (on)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9075" y="3888284"/>
            <a:ext cx="2762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Time step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3114675" y="3888284"/>
                <a:ext cx="87249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667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substeps per 30 fps frame (both)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2" name="TextBox 41"/>
          <p:cNvSpPr txBox="1"/>
          <p:nvPr/>
        </p:nvSpPr>
        <p:spPr>
          <a:xfrm>
            <a:off x="219075" y="4295329"/>
            <a:ext cx="2762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Rope twin (rope_0001)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14675" y="4295329"/>
            <a:ext cx="87249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2,002 particles · 17,048 object springs · 514 mm long · 31.5 mm across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real2sim-eval §III-C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“we avoid the common but unrealistic practice of fixing object nodes to the gripper.”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Everything about contact in this lecture follows from that choice.</a:t>
            </a:r>
            <a:endParaRPr lang="en-US" sz="1800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Two Simulators, One Spring Network</a:t>
            </a:r>
          </a:p>
        </p:txBody>
      </p:sp>
      <p:pic>
        <p:nvPicPr>
          <p:cNvPr id="47" name="Picture 4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228529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4274493"/>
            <a:ext cx="2609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28925" y="4274493"/>
            <a:ext cx="2343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688384"/>
            <a:ext cx="2609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28925" y="4688384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5087987"/>
            <a:ext cx="2609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28925" y="5087987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95925" y="1428750"/>
            <a:ext cx="38100" cy="3107829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Every particle has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springs join neighbours found at frame 0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Neighbour search (KD-tree)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1756321"/>
                <a:ext cx="4953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: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kNN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155031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Defaults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0.02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the released rope uses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27.4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mm,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16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2900958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Rest length — frozen at frame 0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7675" y="3333304"/>
                <a:ext cx="4724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&gt;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219075" y="3979664"/>
            <a:ext cx="2476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Rope particles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8925" y="3979664"/>
            <a:ext cx="22098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Count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075" y="4369743"/>
            <a:ext cx="2476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tracked (from video)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28925" y="4369743"/>
            <a:ext cx="22098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1,495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4774109"/>
            <a:ext cx="2476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surface + interior (filled)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28925" y="4774109"/>
            <a:ext cx="2209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288 + 219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5173712"/>
            <a:ext cx="2476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median spacing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28925" y="5173712"/>
            <a:ext cx="22098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3.06 mm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PhysTwin qqtt/engine/trainer_warp.py : spring construction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pcd_tree = o3d.geometry.KDTreeFlann(object_pcd)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i in range(len(points)):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[k, idx, _] = pcd_tree.search_hybrid_vector_3d(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points[i], object_radius, object_max_neighbours)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j in idx[1:]: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rest = np.linalg.norm(points[i] - points[j])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if (i, j) not in seen and rest &gt; 1e-4: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springs.append([i, j])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rest_lengths.append(rest)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masses = np.ones(len(points))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all particles m = 1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repeat 2 (projects 17, 21): 4,004 particles,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  34,090 springs; scaling tests up to 100,100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State and the Spring Graph</a:t>
            </a:r>
          </a:p>
        </p:txBody>
      </p:sp>
      <p:pic>
        <p:nvPicPr>
          <p:cNvPr id="39" name="Picture 3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788295"/>
            <a:ext cx="38100" cy="54887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107829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Hooke's law on strain plus a dashpot along the spring — equal and opposite on the two ends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Unit direction and strain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762500" cy="62820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460724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Spring + axial dashpot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675" y="2893070"/>
                <a:ext cx="45339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ε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</m: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489573"/>
                <a:ext cx="4762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88284"/>
                <a:ext cx="4781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multiplies a </a:t>
                </a:r>
                <a:r>
                  <a:rPr lang="en-US" sz="1800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strain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so it acts like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not N/m. Dashpot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100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real2sim-eval sim/physics/spring_mass_warp.py : eval_springs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tid = wp.tid()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one thread per spring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wp.exp(spring_Y[tid]) &gt; spring_Y_min: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dis = x2 - x1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dis_len = wp.length(dis)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 = dis / wp.max(dis_len, 1e-6)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spring_force = (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wp.clamp(wp.exp(spring_Y[tid]),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low=spring_Y_min, high=spring_Y_max)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* (dis_len / rest - 1.0) * d)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v_rel = wp.dot(v2 - v1, d)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dashpot_forces = dashpot_damping * v_rel * d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overall_force = spring_force + dashpot_forces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wp.atomic_add(f, idx1, overall_force)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6875" y="429771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wp.atomic_sub(f, idx2, overall_force)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Note the atomics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many springs add into the same particle in parallel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the summation order is not fixed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(we return to this at the end).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Spring–Dashpot Force on Each Edge</a:t>
            </a:r>
          </a:p>
        </p:txBody>
      </p:sp>
      <p:pic>
        <p:nvPicPr>
          <p:cNvPr id="29" name="Picture 2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939403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2125266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9525" y="2125266"/>
            <a:ext cx="4343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76925" y="2539157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9525" y="2539157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6925" y="2938760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9525" y="2938760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76925" y="3338364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9525" y="3338364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6925" y="3737967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9525" y="3737967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stiffness per spring, optimised in log space and clamped to a range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07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Parameterisation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7675" y="1861096"/>
                <a:ext cx="51054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s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min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47675" y="2276624"/>
                <a:ext cx="5105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2848124"/>
                <a:ext cx="5353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log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free, and a gradient step changes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by a </a:t>
                </a:r>
                <a:r>
                  <a:rPr lang="en-US" sz="1800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ratio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not an amount. Initial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075" y="3900339"/>
                <a:ext cx="5353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Trap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:r>
                  <a:rPr lang="en-US" sz="18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case.spring_Y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linear, </a:t>
                </a:r>
                <a:r>
                  <a:rPr lang="en-US" sz="18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sim.wp_spring_Y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its log — exponentiate the wrong one and every spring sits at the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clamp.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19075" y="4952554"/>
                <a:ext cx="5353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float32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d>
                      <m:dPr>
                        <m:begChr m:val="‖"/>
                        <m:sepChr m:val=""/>
                        <m:endChr m:val="‖"/>
                        <m:grow/>
                      </m:dPr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cancels near 1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2.3 %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force error vs float64.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5876925" y="1428750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Fitted stiffness, rope_0001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76925" y="1822996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Quantile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629525" y="1822996"/>
                <a:ext cx="42100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5876925" y="2220516"/>
            <a:ext cx="1619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9525" y="2220516"/>
            <a:ext cx="4210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11.5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76925" y="2624882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p10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29525" y="2624882"/>
            <a:ext cx="4210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1,821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76925" y="302448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median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9525" y="3024485"/>
            <a:ext cx="4210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43,785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76925" y="3424089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p90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29525" y="3424089"/>
            <a:ext cx="4210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100,797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76925" y="3823692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max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29525" y="3823692"/>
            <a:ext cx="4210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102,244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76925" y="4218533"/>
            <a:ext cx="6096000" cy="452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p10–p90 spread </a:t>
            </a:r>
            <a:r>
              <a:rPr lang="en-US" sz="1425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55×</a:t>
            </a: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 here vs 1.05× in PhysTwin's single_push_rope — many springs ride the upper clamp.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Stiffness Is Stored as a Logarithm</a:t>
            </a:r>
          </a:p>
        </p:txBody>
      </p:sp>
      <p:pic>
        <p:nvPicPr>
          <p:cNvPr id="36" name="Picture 3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74845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2706291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Velocity first from forces, then position from the new (contact-corrected) velocity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1. Velocity from force, then drag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861096"/>
                <a:ext cx="4724400" cy="5389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</m: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drag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657177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drag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exponential decay, never overshoots zero.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403104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2. Contacts modify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37592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3. Position (symplectic Euler)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4086820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4477345"/>
                <a:ext cx="4953000" cy="57522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667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spring_mass_warp.py : update_vel_from_force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tid = wp.tid()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one thread per particle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v0 = v[tid]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f0 = f[tid]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m0 = masses[tid]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drag_damping_factor = wp.exp(-dt * drag_damping)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all_force = f0 + m0 * wp.vec3(0.0, 0.0, -9.8)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* reverse_factor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PhysTwin: z down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 = all_force / m0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v1 = v0 + a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v2 = v1 * drag_damping_factor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389617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v_new[tid] = v2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Upstream quirk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with a mesh present, mesh_collision already writes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the ground kernel advances again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free fall measured at 2.002× analytic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The released parameters were fitted with it.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Gravity, Drag and Semi-Implicit Euler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04815"/>
            <a:ext cx="38100" cy="84861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2125266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67525" y="2125266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43875" y="2125266"/>
            <a:ext cx="3829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95925" y="2539157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67525" y="2539157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3875" y="2539157"/>
            <a:ext cx="3829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95925" y="2938760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67525" y="2938760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3875" y="2938760"/>
            <a:ext cx="3829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95925" y="3338364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67525" y="3338364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3875" y="3338364"/>
            <a:ext cx="3829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925" y="3737967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7525" y="3737967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875" y="3737967"/>
            <a:ext cx="3829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 explicit integrator must resolve the fastest spring — the stiffest, shortest one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19075" y="1428750"/>
                <a:ext cx="4953000" cy="28932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One spring, one mass: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sSub>
                          <m:e>
                            <m:r>
                              <a:rPr lang="en-US" sz="1761" dirty="0">
                                <a:solidFill>
                                  <a:srgbClr val="203864"/>
                                </a:solidFill>
                                <a:latin typeface="Cambria Math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a:rPr lang="en-US" sz="1761" dirty="0">
                                <a:solidFill>
                                  <a:srgbClr val="203864"/>
                                </a:solidFill>
                                <a:latin typeface="Cambria Math"/>
                              </a:rPr>
                              <m:t>eff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m</m:t>
                        </m:r>
                      </m:e>
                    </m:rad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1794272"/>
                <a:ext cx="4953000" cy="57819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eff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force per metre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19075" y="2448669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Symplectic Euler is stable for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Δ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&lt;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47675" y="2909590"/>
                <a:ext cx="4724400" cy="639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 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126.7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19075" y="3805833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shortest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0.40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mm. The dashpot limit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ms is far looser.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9075" y="4551759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Released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50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 sits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within 1.7×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of the spring limit.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5495925" y="1428750"/>
            <a:ext cx="6477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Measured on the rope (projects 13, 21)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95925" y="1822996"/>
            <a:ext cx="12382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Substeps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867525" y="1822996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Δ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(µs)</a:t>
                </a:r>
                <a:endParaRPr lang="en-US" sz="1462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8143875" y="1822996"/>
            <a:ext cx="369570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95925" y="2220516"/>
            <a:ext cx="1238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667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67525" y="2220516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43875" y="2220516"/>
            <a:ext cx="3695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reference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95925" y="2624882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67525" y="2624882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43875" y="2624882"/>
            <a:ext cx="3695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stable, 13.3 mm rms · 1.21×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95925" y="302448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444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67525" y="3024485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43875" y="3024485"/>
            <a:ext cx="3695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stable, 8.3 mm drift · 1.49×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95925" y="3424089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67525" y="3424089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43875" y="3424089"/>
            <a:ext cx="3695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stable, 18.2 mm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95925" y="3823692"/>
            <a:ext cx="1238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334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67525" y="3823692"/>
            <a:ext cx="1143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43875" y="3823692"/>
            <a:ext cx="3695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diverges (NaN)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95925" y="4218533"/>
            <a:ext cx="647700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Rerun spread of the reference itself is 16.6 mm, so 500 substeps is “free”.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667 Substeps: Explicit Stability</a:t>
            </a:r>
          </a:p>
        </p:txBody>
      </p:sp>
      <p:pic>
        <p:nvPicPr>
          <p:cNvPr id="47" name="Picture 4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556099"/>
            <a:ext cx="38100" cy="7746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05475" y="176584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15025" y="1765846"/>
            <a:ext cx="605790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soft Dirichlet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condition: prescribed motion through a compliant spring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05475" y="253409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15025" y="2534096"/>
            <a:ext cx="6057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Pulls as hard as it pushes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05475" y="298489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5025" y="2984897"/>
            <a:ext cx="6057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Never releases, never slips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5475" y="343569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15025" y="3435697"/>
            <a:ext cx="605790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Sparse: in single_push_rope only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 of 30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hand points are within 40 mm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Tracked hand points are kinematic; springs tie them to nearby object particles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075" y="142875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Hand points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756321"/>
            <a:ext cx="51625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Grounded-SAM2 hand masks + CoTracker → lifted to 3D → farthest-point sampled.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075" y="2502247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Attachment (frame 0, never changes)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9075" y="2829818"/>
                <a:ext cx="5143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0.04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50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per point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219075" y="3228529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Inside a frame: linear interpolation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47675" y="3660874"/>
                <a:ext cx="4914900" cy="5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prev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target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prev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sub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5686425" y="1428750"/>
            <a:ext cx="6286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 this boundary condition means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6425" y="4194423"/>
            <a:ext cx="6286500" cy="452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Code note: </a:t>
            </a: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wp_control_v</a:t>
            </a: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 is never written, so the dashpot on control springs sees a control velocity of 0.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Good for fitting a video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wrong for robot grasping: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 policy could “lift” the rope without ever squeezing it.</a:t>
            </a:r>
            <a:endParaRPr lang="en-US" sz="1800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PhysTwin Control: Points Welded by Springs</a:t>
            </a:r>
          </a:p>
        </p:txBody>
      </p:sp>
      <p:pic>
        <p:nvPicPr>
          <p:cNvPr id="23" name="Picture 2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52525" y="1485900"/>
            <a:ext cx="2114550" cy="952500"/>
          </a:xfrm>
          <a:prstGeom prst="roundRect">
            <a:avLst>
              <a:gd name="adj" fmla="val 14000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43325" y="1485900"/>
            <a:ext cx="211455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1485900"/>
            <a:ext cx="211455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24925" y="1485900"/>
            <a:ext cx="211455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86125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6925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67725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2994571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54330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13410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72490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475" y="300409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15025" y="3004096"/>
            <a:ext cx="6057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Read normal “force” on fixed finger faces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05475" y="345489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15025" y="3454896"/>
            <a:ext cx="605790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Latch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when both fingers exceed a threshold (3×10⁴; 4,386 after our recalibration)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05475" y="422314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15025" y="4223147"/>
            <a:ext cx="6057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Release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when both drop below a low threshold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Finger meshes and static scenery are one triangle mesh with a BVH, refit every substep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31305" y="1683395"/>
            <a:ext cx="115699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EEF pose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75073" y="2007245"/>
            <a:ext cx="869454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per frame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51561" y="1683395"/>
            <a:ext cx="129793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Interpolate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49464" y="2007245"/>
            <a:ext cx="150212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667 finger poses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3143" y="1683395"/>
            <a:ext cx="163651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One wp.Mesh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33580" y="2007245"/>
            <a:ext cx="131549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fingers + static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38977" y="1683395"/>
            <a:ext cx="10862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BVH refit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49829" y="2007245"/>
            <a:ext cx="1264741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every substep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075" y="266700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velocity of a finger point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447675" y="3099346"/>
                <a:ext cx="4914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finger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eef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075" y="3679031"/>
            <a:ext cx="51625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xArm fingers: 88 triangles, 48 vertices. </a:t>
            </a:r>
            <a:r>
              <a:rPr lang="en-US" sz="18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mesh_map[face]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= 0 / 1 for the fingers, &lt; 0 for static meshes.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6425" y="2667000"/>
            <a:ext cx="6286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Grasp is a force latch, not a weld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real2sim-eval: Gripper as a Moving Mesh</a:t>
            </a:r>
          </a:p>
        </p:txBody>
      </p:sp>
      <p:pic>
        <p:nvPicPr>
          <p:cNvPr id="34" name="Picture 3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278237"/>
            <a:ext cx="38100" cy="82837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2146399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9525" y="2146399"/>
            <a:ext cx="4343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76925" y="2567732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9525" y="2567732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6925" y="2974777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9525" y="2974777"/>
            <a:ext cx="4343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Ground, self- and mesh contact all edit the velocity — no penalty springs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1428750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Split relative velocity along the normal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n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1784896"/>
                <a:ext cx="5334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2175421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Restitution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[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31566"/>
                <a:ext cx="5334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2922091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Coulomb: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Δ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≤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μ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Δ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|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7675" y="3383012"/>
                <a:ext cx="5105400" cy="61882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max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|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|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|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|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876925" y="1428750"/>
                <a:ext cx="6096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Reading the scale factor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a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5876925" y="1851571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Case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9525" y="1851571"/>
            <a:ext cx="4210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Meaning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876925" y="2241649"/>
                <a:ext cx="16192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7629525" y="2241649"/>
            <a:ext cx="42100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stick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: friction impulse can stop all sliding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876925" y="2653457"/>
                <a:ext cx="16192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629525" y="2653457"/>
                <a:ext cx="42100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slip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slide slowed by exactly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⋅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normal impulse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876925" y="3060502"/>
                <a:ext cx="16192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629525" y="3060502"/>
                <a:ext cx="42100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grazing,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≪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5876925" y="3577084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Clamps in the kernels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5876925" y="3904655"/>
                <a:ext cx="6096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idea as the PushT impulse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but applied per particle, per substep, with unit mass and no rotation.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One Contact Law: Restitution and Coulomb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474416"/>
            <a:ext cx="38100" cy="71854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107829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If the next step would cross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z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while moving down, apply the law and split the step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Trigger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and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146846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 of impact, then two half-moves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675" y="2579191"/>
                <a:ext cx="4533900" cy="5089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z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z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345359"/>
                <a:ext cx="47625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Resting particle,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701504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4092029"/>
                <a:ext cx="47815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Gravity re-supplies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g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of normal speed each substep → constant deceleration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g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textbook sliding friction.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spring_mass_warp.py : integrate_ground_collision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normal = wp.vec3(0.0, 0.0, 1.0) * reverse_factor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next_x_z = (x_z + v_z * dt) * reverse_factor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next_x_z &lt; 0.0 and v_z * reverse_factor &lt; -1e-4: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v_normal = wp.dot(v0, normal) * normal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v_tao = v0 - v_normal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v_normal_new = -clamp_collide_elas * v_normal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 = wp.max(0.0, 1.0 - clamp_collide_fric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* (1.0 + clamp_collide_elas)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* v_normal_length / v_tao_length)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v1 = v_normal_new + a * v_tao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toi = -(x_z - ground_height) / v_z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else: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v1 = v0;  toi = 0.0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76875" y="429771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x_new[tid] = x0 + v0 * toi + v1 * (dt - toi)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Ground Contact with Time of Impact</a:t>
            </a:r>
          </a:p>
        </p:txBody>
      </p:sp>
      <p:pic>
        <p:nvPicPr>
          <p:cNvPr id="29" name="Picture 2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534817"/>
            <a:ext cx="38100" cy="86379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2117824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20025" y="2117824"/>
            <a:ext cx="4152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76925" y="2539157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20025" y="2539157"/>
            <a:ext cx="4152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6925" y="2946202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20025" y="2946202"/>
            <a:ext cx="4152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Particles of different parts that approach closer than 5 mm exchange an impulse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Broad phase (once per frame)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1756321"/>
                <a:ext cx="5353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wp.HashGrid, cell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keep pairs with different masks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d>
                      <m:dPr>
                        <m:begChr m:val="‖"/>
                        <m:sepChr m:val=""/>
                        <m:endChr m:val="‖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bi"/>
                              </m:rP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bi"/>
                              </m:rP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(≤ 500 per particle). Pairs already close at frame 0 are excluded.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219075" y="2808536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Narrow phase: approaching pairs only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3136106"/>
                <a:ext cx="5334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47675" y="3639592"/>
                <a:ext cx="5105400" cy="65424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rel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rel</m:t>
                              </m:r>
                            </m:sup>
                          </m:sSub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9075" y="4551015"/>
                <a:ext cx="5334000" cy="5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bar>
                        <m:barPr>
                          <m:pos m:val="top"/>
                        </m:bar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</m:ba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mean over contacts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5876925" y="1428750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Parameters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20025" y="1822996"/>
            <a:ext cx="4019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Value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876925" y="2213074"/>
                <a:ext cx="18097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7820025" y="2213074"/>
            <a:ext cx="40195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0.005 m (PhysTwin 0.02)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876925" y="2624882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7820025" y="2624882"/>
            <a:ext cx="4019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clamped to [0,1], [0,2]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76925" y="3031927"/>
            <a:ext cx="1809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averaging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20025" y="3031927"/>
            <a:ext cx="4019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Jacobi-style mean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76925" y="3541068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 we found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76925" y="3868638"/>
            <a:ext cx="6096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 our project-13 bridge, </a:t>
            </a:r>
            <a:r>
              <a:rPr lang="en-US" sz="18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update_collision_graph()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was never called: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the kernel ran 667×/frame and looped zero times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 Upstream's driver does call it.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Self-Collision: Hash Grid, Then Impulses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220343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3910905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Every particle asks the BVH: “will I be inside a finger or the table next step?”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1. Predict and query (signed distance)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err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46846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inside/outside by winding number; margin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5 mm (finger), 1 mm (static).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92772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If err &lt; 0: law in the finger's frame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325118"/>
                <a:ext cx="4724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rel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rel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904804"/>
                <a:ext cx="4953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Fingers: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1.0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Static: ground values.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4344442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3. Project out, read force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4672012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err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face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3" name="TextBox 12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spring_mass_warp.py : mesh_collision (condensed)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next_x = x0 + v0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query = wp.mesh_query_point_sign_winding_number(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mesh, next_x, max_dist=0.02,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accuracy=3.0, threshold=0.6)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 = wp.mesh_eval_position(mesh, query.face, ...)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err = wp.length(next_x - p) * query.sign - margin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err &lt; 0.0: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normal = wp.normalize(next_x - p) * query.sign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real_dynamic_velocity = dynamic_velocity[k]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wp.cross(dynamic_omega[0], x0 - center)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v0 = v0 - real_dynamic_velocity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7375" y="389617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... restitution + Coulomb scale a ...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next_v = v_normal_new + a * v_tao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+ real_dynamic_velocity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375" y="449847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finger: re-predict, query again, push out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7375" y="469924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next_x = next_x - normal * err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7375" y="490001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wp.atomic_add(collision_forces, face,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7375" y="510078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delta_v_normal /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Mesh Contact: Query, Respond, Project</a:t>
            </a:r>
          </a:p>
        </p:txBody>
      </p:sp>
      <p:pic>
        <p:nvPicPr>
          <p:cNvPr id="34" name="Picture 3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t_grasp_r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28750"/>
            <a:ext cx="11239500" cy="3718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Approach, close, lift: the rope rises only through the friction its own squeeze creates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6901" y="5204222"/>
            <a:ext cx="939819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Project 13: orange = finger meshes, blue = rope particles. Right: centre-of-mass rise (+62.9 mm), jaw opening (dashed), contact force (red).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Read the plot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force spikes when the jaw closes, then settles at the value that holds the rope's weight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grip force ×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μ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 ≥ weight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or it slips.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Rectangle 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Frictional Grasp: Lifted Without a Weld</a:t>
            </a:r>
          </a:p>
        </p:txBody>
      </p:sp>
      <p:pic>
        <p:nvPicPr>
          <p:cNvPr id="8" name="Picture 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8125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60811" y="1485900"/>
            <a:ext cx="1379637" cy="1009650"/>
          </a:xfrm>
          <a:prstGeom prst="roundRect">
            <a:avLst>
              <a:gd name="adj" fmla="val 13207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83347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6033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28718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1404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74089" y="1485900"/>
            <a:ext cx="1379786" cy="1009650"/>
          </a:xfrm>
          <a:prstGeom prst="roundRect">
            <a:avLst>
              <a:gd name="adj" fmla="val 13207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36961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9497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2183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04868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27554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50239" y="1952625"/>
            <a:ext cx="1333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760786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483322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206008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928693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651379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374064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" y="309934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7675" y="3099346"/>
            <a:ext cx="512445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Once: hash grid, 667 interpolated finger poses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8125" y="386759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7675" y="3867596"/>
            <a:ext cx="5105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667 × (6 kernels + 1 refit) ≈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4,000 launches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8125" y="431839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7675" y="4318397"/>
            <a:ext cx="512445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All kernels: one thread per spring or per particle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Six GPU kernels and one BVH refit — repeated 667 times for each 33 ms video frame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1478" y="1694706"/>
            <a:ext cx="59308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clear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97706" y="2018556"/>
                <a:ext cx="46062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2089" y="1711970"/>
            <a:ext cx="91707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springs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8936" y="2035820"/>
            <a:ext cx="903387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per spring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00339" y="1694706"/>
            <a:ext cx="94565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velocity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4053632" y="2018556"/>
                <a:ext cx="639217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g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drag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4" name="TextBox 33"/>
          <p:cNvSpPr txBox="1"/>
          <p:nvPr/>
        </p:nvSpPr>
        <p:spPr>
          <a:xfrm>
            <a:off x="5877074" y="1711970"/>
            <a:ext cx="43755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self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95057" y="2035820"/>
            <a:ext cx="801737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78775" y="1711970"/>
            <a:ext cx="47967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refit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27404" y="2035820"/>
            <a:ext cx="982414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finger BVH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09633" y="1711970"/>
            <a:ext cx="66332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mesh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18984" y="2035820"/>
            <a:ext cx="104462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query + law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26800" y="1694706"/>
            <a:ext cx="8743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ground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10934402" y="2018556"/>
                <a:ext cx="65901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TOI,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2" name="TextBox 41"/>
          <p:cNvSpPr txBox="1"/>
          <p:nvPr/>
        </p:nvSpPr>
        <p:spPr>
          <a:xfrm>
            <a:off x="219075" y="27622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Per frame (30 fps)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76925" y="2762250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Colour key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76925" y="3089821"/>
            <a:ext cx="6096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blue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spring–mass–damper · </a:t>
            </a:r>
            <a:r>
              <a:rPr lang="en-US" sz="1800" b="1" dirty="0">
                <a:solidFill>
                  <a:srgbClr val="E97820"/>
                </a:solidFill>
                <a:latin typeface="Arial"/>
                <a:ea typeface="Malgun Gothic"/>
                <a:cs typeface="Arial"/>
              </a:rPr>
              <a:t>orange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object contact · </a:t>
            </a:r>
            <a:r>
              <a:rPr lang="en-US" sz="1800" b="1" dirty="0">
                <a:solidFill>
                  <a:srgbClr val="6D237C"/>
                </a:solidFill>
                <a:latin typeface="Arial"/>
                <a:ea typeface="Malgun Gothic"/>
                <a:cs typeface="Arial"/>
              </a:rPr>
              <a:t>purple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gripper geometry · </a:t>
            </a:r>
            <a:r>
              <a:rPr lang="en-US" sz="1800" b="1" dirty="0">
                <a:solidFill>
                  <a:srgbClr val="3D8C54"/>
                </a:solidFill>
                <a:latin typeface="Arial"/>
                <a:ea typeface="Malgun Gothic"/>
                <a:cs typeface="Arial"/>
              </a:rPr>
              <a:t>green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ground + integration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76925" y="3835747"/>
            <a:ext cx="6096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PhysTwin: same order, no mesh stages, plus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set_control_points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first.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One Substep, Kernel by Kernel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2800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9425" y="1790254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5775" y="1790254"/>
            <a:ext cx="16383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9425" y="2204145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5775" y="2204145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03748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9425" y="2603748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5775" y="2603748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03352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9425" y="3003352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5775" y="3003352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02955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9425" y="3402955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5775" y="3402955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02559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9425" y="3802559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5775" y="3802559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02162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9425" y="4202162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5775" y="4202162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" y="4601766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9425" y="4601766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5775" y="4601766"/>
            <a:ext cx="1638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7925" y="1756321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Doubling the particles costs nothing — the simulator is launch-latency bound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075" y="1495425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Part (667 substeps)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19425" y="1495425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ms/frame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95775" y="1495425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Share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1885504"/>
            <a:ext cx="2667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BVH refit (88 triangles)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19425" y="1885504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29.5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95775" y="1885504"/>
            <a:ext cx="15049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28.0 %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9075" y="2289870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eval_springs (34,090)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9425" y="2289870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22.0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95775" y="2289870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20.8 %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2689473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mesh_collision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19425" y="2689473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14.6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5775" y="2689473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13.8 %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9075" y="3089077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object_collision (inert)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19425" y="3089077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10.7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775" y="3089077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10.2 %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9075" y="3488680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ground + integrate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19425" y="3488680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9.8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95775" y="3488680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9.3 %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9075" y="3888284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update_vel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19425" y="3888284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95775" y="3888284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8.1 %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075" y="4287887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set_mesh_points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19425" y="4287887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5775" y="4287887"/>
            <a:ext cx="1504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6.1 %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19075" y="4687491"/>
            <a:ext cx="2667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clear_forces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19425" y="4687491"/>
            <a:ext cx="1143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4.0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295775" y="4687491"/>
            <a:ext cx="15049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Fit over substep counts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6486525" y="1861096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frame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8.7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0.121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7" name="TextBox 56"/>
          <p:cNvSpPr txBox="1"/>
          <p:nvPr/>
        </p:nvSpPr>
        <p:spPr>
          <a:xfrm>
            <a:off x="6257925" y="2432596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2,002 vs 4,004 particles: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89.3 vs 88.8 ms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7925" y="2872234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Grouped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gripper contact path ≈ 46 %, springs ≈ 33 %, ground ≈ 9 %.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57925" y="3618161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Refitting a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48-vertex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mesh costs more than 34k springs — it is pure launch overhead.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Where the Time Goes (GPU, 4,004 Particles)</a:t>
            </a:r>
          </a:p>
        </p:txBody>
      </p:sp>
      <p:pic>
        <p:nvPicPr>
          <p:cNvPr id="62" name="Picture 6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47850" y="1485900"/>
            <a:ext cx="2438400" cy="1009650"/>
          </a:xfrm>
          <a:prstGeom prst="roundRect">
            <a:avLst>
              <a:gd name="adj" fmla="val 13207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800" y="1485900"/>
            <a:ext cx="2438400" cy="1009650"/>
          </a:xfrm>
          <a:prstGeom prst="roundRect">
            <a:avLst>
              <a:gd name="adj" fmla="val 13207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05750" y="1485900"/>
            <a:ext cx="2438400" cy="1009650"/>
          </a:xfrm>
          <a:prstGeom prst="roundRect">
            <a:avLst>
              <a:gd name="adj" fmla="val 13207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05300" y="1952625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34250" y="1952625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451324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3675" y="3451324"/>
            <a:ext cx="2819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865215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3675" y="3865215"/>
            <a:ext cx="2819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426481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4264819"/>
            <a:ext cx="2819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676775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705725" y="1866900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Filtering particles with the gripper's box cut queries 656× — and the frame by 1.1 %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0703" y="1711970"/>
            <a:ext cx="203269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100,100 particles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5148" y="2035820"/>
            <a:ext cx="138365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× 667 substeps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2971" y="1711970"/>
            <a:ext cx="132605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AABB gate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3775" y="2035820"/>
            <a:ext cx="178444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66.77 M → 101,796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47484" y="1711970"/>
            <a:ext cx="13547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Frame time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94936" y="2035820"/>
            <a:ext cx="166002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257.1 → 254.2 ms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27622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Cost per particle query (GPU)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156496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Case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33675" y="3156496"/>
            <a:ext cx="2686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3546574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BVH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miss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33675" y="3546574"/>
            <a:ext cx="2686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0.007 ns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395094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AABB test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33675" y="3950940"/>
            <a:ext cx="2686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0.018 ns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075" y="4350544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BVH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hit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33675" y="4350544"/>
            <a:ext cx="2686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 ns (2,933× a miss)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76925" y="2762250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76925" y="3089821"/>
            <a:ext cx="6096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BVH's first box test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already is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a broad phase. Only 3.8 % of (particle, substep) pairs are real hits, and those are what cost time.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76925" y="4142036"/>
            <a:ext cx="6096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Profile before you optimise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the textbook fix attacked a cost that did not exist.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Lesson: A Broad Phase Did Not Help</a:t>
            </a:r>
          </a:p>
        </p:txBody>
      </p:sp>
      <p:pic>
        <p:nvPicPr>
          <p:cNvPr id="36" name="Picture 3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276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95675" y="179025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57775" y="1790254"/>
            <a:ext cx="1447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3276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95675" y="2211586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57775" y="2211586"/>
            <a:ext cx="1447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1189"/>
            <a:ext cx="3276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5675" y="261118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7775" y="2611189"/>
            <a:ext cx="1447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10793"/>
            <a:ext cx="3276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5675" y="301079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7775" y="3010793"/>
            <a:ext cx="1447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10396"/>
            <a:ext cx="3276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5675" y="3410396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7775" y="3410396"/>
            <a:ext cx="1447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10000"/>
            <a:ext cx="3276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675" y="3810000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7775" y="3810000"/>
            <a:ext cx="1447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Remove launches, atomics and refits: 1.7× at 4k particles, 1.9× at 100k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1495425"/>
            <a:ext cx="3143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Change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95675" y="1495425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4,004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57775" y="1495425"/>
            <a:ext cx="1314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100,100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9075" y="1885504"/>
                <a:ext cx="31432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cache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p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sup>
                    </m:sSup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3495675" y="1885504"/>
            <a:ext cx="14287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+0.2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57775" y="1885504"/>
            <a:ext cx="13144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−5.0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2297311"/>
            <a:ext cx="3143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per-particle spring gather, no atomics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95675" y="2297311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+1.6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57775" y="2297311"/>
            <a:ext cx="1314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−57.6 ms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2696914"/>
            <a:ext cx="3143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fuse mesh contact + ground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95675" y="269691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−2.0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57775" y="2696914"/>
            <a:ext cx="1314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−5.1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3096518"/>
            <a:ext cx="3143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static finger BVH in local frame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95675" y="3096518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−11.8 ms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775" y="3096518"/>
            <a:ext cx="1314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−11.6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496121"/>
            <a:ext cx="3143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CUDA graph replay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95675" y="3496121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−12.0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57775" y="3496121"/>
            <a:ext cx="1314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−14.8 ms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895725"/>
            <a:ext cx="3143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total (with 500 substeps)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95675" y="3895725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81.6 → 48.4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57775" y="3895725"/>
            <a:ext cx="1314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264.3 → 137.8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29425" y="142875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Two key tricks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29425" y="1756321"/>
            <a:ext cx="51435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Gather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each particle sums its own springs —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6829425" y="2195959"/>
                <a:ext cx="5143500" cy="64531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 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 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u</m:t>
                              </m:r>
                            </m:e>
                          </m:d>
                        </m:e>
                      </m:nary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5" name="TextBox 44"/>
          <p:cNvSpPr txBox="1"/>
          <p:nvPr/>
        </p:nvSpPr>
        <p:spPr>
          <a:xfrm>
            <a:off x="6829425" y="2917478"/>
            <a:ext cx="51435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Local BVH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move the particle, not the mesh —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6829425" y="3357116"/>
                <a:ext cx="5143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7" name="TextBox 4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3,335 launches → 1 per frame, 2 kernels per substep, every rms inside the 22.9 mm upstream self-spread.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 Actually Made It Faster</a:t>
            </a:r>
          </a:p>
        </p:txBody>
      </p:sp>
      <p:pic>
        <p:nvPicPr>
          <p:cNvPr id="50" name="Picture 4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2267099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86174" y="1790254"/>
            <a:ext cx="1520577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6751" y="1790254"/>
            <a:ext cx="1519089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5839" y="1790254"/>
            <a:ext cx="979736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204145"/>
            <a:ext cx="226709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86174" y="2204145"/>
            <a:ext cx="152057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6751" y="2204145"/>
            <a:ext cx="151908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25839" y="2204145"/>
            <a:ext cx="979736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" y="2603748"/>
            <a:ext cx="226709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6174" y="2603748"/>
            <a:ext cx="152057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6751" y="2603748"/>
            <a:ext cx="151908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5839" y="2603748"/>
            <a:ext cx="979736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003352"/>
            <a:ext cx="226709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6174" y="3003352"/>
            <a:ext cx="152057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6751" y="3003352"/>
            <a:ext cx="151908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5839" y="3003352"/>
            <a:ext cx="979736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" y="3402955"/>
            <a:ext cx="226709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6174" y="3402955"/>
            <a:ext cx="152057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6751" y="3402955"/>
            <a:ext cx="1519089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5839" y="3402955"/>
            <a:ext cx="979736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9425" y="2117824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82025" y="2117824"/>
            <a:ext cx="990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2625" y="2117824"/>
            <a:ext cx="24003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9425" y="253171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82025" y="2531715"/>
            <a:ext cx="990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72625" y="2531715"/>
            <a:ext cx="2400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29425" y="2931319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82025" y="2931319"/>
            <a:ext cx="990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2625" y="2931319"/>
            <a:ext cx="24003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CPU: a spring solver with some contact — GPU: a contact solver with some springs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9075" y="1495425"/>
            <a:ext cx="2133749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Role (4,004 particles)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86174" y="1495425"/>
            <a:ext cx="1387227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CPU ms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06751" y="1495425"/>
            <a:ext cx="1385739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GPU ms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25839" y="1495425"/>
            <a:ext cx="846386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CPU/GPU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1885504"/>
            <a:ext cx="2133749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spring–mass–damper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86174" y="1885504"/>
            <a:ext cx="1387227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201.8 (60.5 %)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06751" y="1885504"/>
            <a:ext cx="1385739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14.9 (15.4 %)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25839" y="1885504"/>
            <a:ext cx="846386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13.5×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9075" y="2289870"/>
            <a:ext cx="213374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gripper contact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86174" y="2289870"/>
            <a:ext cx="138722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103.1 (30.9 %)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06751" y="2289870"/>
            <a:ext cx="138573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66.7 (68.9 %)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525839" y="2289870"/>
            <a:ext cx="846386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2689473"/>
            <a:ext cx="213374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integration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86174" y="2689473"/>
            <a:ext cx="138722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16.6 (5.0 %)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06751" y="2689473"/>
            <a:ext cx="138573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7.3 (7.5 %)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25839" y="2689473"/>
            <a:ext cx="846386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2.3×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3089077"/>
            <a:ext cx="213374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ground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486174" y="3089077"/>
            <a:ext cx="138722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12.2 (3.7 %)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06751" y="3089077"/>
            <a:ext cx="1385739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7.9 (8.2 %)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25839" y="3089077"/>
            <a:ext cx="846386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19075" y="3488680"/>
            <a:ext cx="2133749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BVH refit alone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86174" y="3488680"/>
            <a:ext cx="138722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06751" y="3488680"/>
            <a:ext cx="1385739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19.1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25839" y="3488680"/>
            <a:ext cx="846386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0.03×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3883521"/>
            <a:ext cx="6305550" cy="452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Warp's CPU backend is a serial loop, so it measures </a:t>
            </a:r>
            <a:r>
              <a:rPr lang="en-US" sz="1425" i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work</a:t>
            </a: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; the GPU measures latency.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29425" y="142875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Same change, two verdicts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29425" y="1822996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Change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82025" y="1822996"/>
            <a:ext cx="857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CPU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72625" y="1822996"/>
            <a:ext cx="22669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GPU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29425" y="2213074"/>
            <a:ext cx="1619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cache exp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82025" y="2213074"/>
            <a:ext cx="857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−16.2 %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572625" y="2213074"/>
            <a:ext cx="22669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−0.6 %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29425" y="2617440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local BVH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582025" y="2617440"/>
            <a:ext cx="857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+5.9 %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572625" y="2617440"/>
            <a:ext cx="22669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−16.5 %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29425" y="3017044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broad phase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82025" y="3017044"/>
            <a:ext cx="857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≈ 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572625" y="3017044"/>
            <a:ext cx="22669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≈ 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29425" y="3469035"/>
            <a:ext cx="51435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GPU speed-up grows with size: 3.2× at 2k →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24×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at 100k particles.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CPU vs GPU: The Ranking Inverts</a:t>
            </a:r>
          </a:p>
        </p:txBody>
      </p:sp>
      <p:pic>
        <p:nvPicPr>
          <p:cNvPr id="73" name="Picture 7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1756321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57925" y="3540026"/>
            <a:ext cx="2038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96275" y="3540026"/>
            <a:ext cx="3676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3953917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96275" y="3953917"/>
            <a:ext cx="3676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7925" y="4353520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96275" y="4353520"/>
            <a:ext cx="3676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Project the physics onto a few coarse modes; treat contact as a constraint, not a force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18 — latent operator, not learned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47675" y="1861096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acc>
                        <m:accPr>
                          <m:chr m:val="̈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z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acc>
                        <m:accPr>
                          <m:chr m:val="̇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z</m:t>
                          </m:r>
                        </m:e>
                      </m:acc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432596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6,006 DOF → 96.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the exact Schur complement (8e-14). A whole frame = one matvec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Φ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667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3178522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5.10×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end-to-end at 2.32 mm (0.23 %) error.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19 — reduced contact constraint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486525" y="1861096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≥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6257925" y="2432596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Coulomb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disk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solved by PGS; 4 implicit microsteps replace 667 substeps.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57925" y="3245197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Scene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96275" y="3245197"/>
            <a:ext cx="3543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Speed-up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7925" y="3635276"/>
            <a:ext cx="1905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resting / sliding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96275" y="3635276"/>
            <a:ext cx="35433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3.78× / 2.55×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57925" y="4039642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 cm drop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96275" y="4039642"/>
            <a:ext cx="35433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2.89×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57925" y="4439245"/>
            <a:ext cx="1905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gripper approach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96275" y="4439245"/>
            <a:ext cx="35433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1.18×, 90 mm worst — failure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Reduced Models: Fewer Degrees of Freedom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t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28750"/>
            <a:ext cx="10477500" cy="24055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Identical inputs, different rope: atomic float sums reorder, and contact amplifies it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87314" y="3891409"/>
            <a:ext cx="8017371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Project 15: two identical runs overlaid (red = second run). Left: quasi-static press, 0.38 mm. Right: lift and drop, 66 mm.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4264670"/>
                <a:ext cx="5734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b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≠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b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 float32. A tiny difference decides whether a particle is inside the 5 mm margin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a contact appears or not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6257925" y="4264670"/>
            <a:ext cx="5715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 replays of one nominal (RL, 17)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27.2, 30.5, 30.3, 27.7, 27.9,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50.6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30.2, 29.3 mm. The per-particle gather is bit-reproducible.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Makes the Simulator Non-Repeatable</a:t>
            </a:r>
          </a:p>
        </p:txBody>
      </p:sp>
      <p:pic>
        <p:nvPicPr>
          <p:cNvPr id="9" name="Picture 8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8925" y="1790254"/>
            <a:ext cx="2038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7275" y="1790254"/>
            <a:ext cx="3295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38925" y="2204145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77275" y="2204145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8925" y="2603748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77275" y="2603748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38925" y="3003352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7275" y="3003352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t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096000" cy="3181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Probes designed to excite one parameter also create the most noise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087" y="4667250"/>
            <a:ext cx="495582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Project 15: nine textbook probes, each with contact %, repeat noise, SNR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38925" y="1495425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Probe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77275" y="1495425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Repeat noise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38925" y="1885504"/>
            <a:ext cx="1905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quasi-static press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77275" y="1885504"/>
            <a:ext cx="31623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1.2 mm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38925" y="2289870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ring-down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77275" y="2289870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 mm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38925" y="2689473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lateral drag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77275" y="2689473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7.1 mm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38925" y="3089077"/>
            <a:ext cx="1905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lift-drop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77275" y="3089077"/>
            <a:ext cx="31623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44–99 mm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38925" y="3541068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Noise tracks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churn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(contacts forming and breaking), not contact time.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38925" y="4286994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Fisher design predicted 1.19×; actual fits: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random wins 5/5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(p ≈ 0.004).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Churn Limits What We Can Identify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675" y="1438275"/>
            <a:ext cx="1152525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Simulation model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log-stiffness springs with axial dashpots, exponential drag, symplectic Euler at 50 µs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725" y="2120801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4375" y="2120801"/>
                <a:ext cx="112585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set by the stiffest, shortest spring — 1.7× below the limit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38125" y="2565499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565499"/>
            <a:ext cx="1152525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Boundary condition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PhysTwin welds the hand with springs; real2sim-eval uses a moving mesh with friction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725" y="3257550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375" y="3257550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the second can slip, drop, and be a fair test of a grasp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8125" y="3619500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3619500"/>
                <a:ext cx="11525250" cy="42073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Contact model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Sup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Sup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ground, self and mesh</a:t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466725" y="4070300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75" y="4070300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Coulomb friction as a velocity scale factor, plus position projection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125" y="4489400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675" y="4489400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Cost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 a GPU, launches and refits dominate — not arithmetic, not the broad phase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8125" y="4940201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7675" y="4940201"/>
            <a:ext cx="11525250" cy="6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Consequence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contact turns float round-off into mm-scale divergence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budget for it in RL and system ID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rope twin is springs + one velocity-level contact law, run 667 times per frame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Summary</a:t>
            </a:r>
          </a:p>
        </p:txBody>
      </p:sp>
      <p:pic>
        <p:nvPicPr>
          <p:cNvPr id="21" name="Picture 2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47675" y="1438275"/>
                <a:ext cx="11525250" cy="32772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Stability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derive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a chain of 3 masses — when is it tighter than one spring?</a:t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" name="TextBox 3"/>
          <p:cNvSpPr txBox="1"/>
          <p:nvPr/>
        </p:nvSpPr>
        <p:spPr>
          <a:xfrm>
            <a:off x="238125" y="190812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908125"/>
                <a:ext cx="11525250" cy="3592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Friction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show that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exactly when the needed friction impulse is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≤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38125" y="23779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377976"/>
                <a:ext cx="1152525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Grasp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what squeeze force holds a 50 g rope? Compare with the latch threshold</a:t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38125" y="284782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675" y="284782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Weld vs friction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replay one trajectory in both models — where do they disagree?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8125" y="329862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75" y="329862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Determinism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run the same frame 10 times with atomics, then with the gather kernel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74942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74942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Profiling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predict the CPU and GPU ranking of each kernel before you measure it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Exercises with the simulator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Try It Yourself</a:t>
            </a:r>
          </a:p>
        </p:txBody>
      </p:sp>
      <p:pic>
        <p:nvPicPr>
          <p:cNvPr id="17" name="Picture 1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2026-09-06T07:57:28Z</dcterms:created>
  <dcterms:modified xsi:type="dcterms:W3CDTF">2026-09-06T07:57:28Z</dcterms:modified>
</cp:coreProperties>
</file>