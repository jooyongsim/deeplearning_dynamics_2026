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38138" y="562928"/>
            <a:ext cx="11515725" cy="78581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8138" y="6321742"/>
            <a:ext cx="11515725" cy="78581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wu-mark-whit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0246995" y="4390072"/>
            <a:ext cx="1314450" cy="131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81026" y="2291060"/>
            <a:ext cx="8639473" cy="10102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marL="0" indent="0">
              <a:lnSpc>
                <a:spcPts val="3978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Learning to Push:</a:t>
            </a:r>
            <a:endParaRPr lang="en-US" sz="39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  <a:p>
            <a:pPr algn="ctr" marL="0" indent="0">
              <a:lnSpc>
                <a:spcPts val="3978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Imitation Learning and RL on PushT</a:t>
            </a:r>
            <a:endParaRPr lang="en-US" sz="39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8138" y="3990975"/>
            <a:ext cx="9144000" cy="335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Department of Mechanical Engineering</a:t>
            </a:r>
            <a:endParaRPr lang="en-US" sz="24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138" y="4345186"/>
            <a:ext cx="9144000" cy="335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2026.10.07 (Wed)</a:t>
            </a:r>
            <a:endParaRPr lang="en-US" sz="24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8138" y="4699397"/>
            <a:ext cx="9144000" cy="335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Joo Yong Sim</a:t>
            </a:r>
            <a:endParaRPr lang="en-US" sz="24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8138" y="5715000"/>
            <a:ext cx="9525000" cy="2699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126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Hands-on tutorial: pusht_imitation.py · pusht_rl.py · pusht_rl_realtime.py · pusht_rl_eval.py</a:t>
            </a:r>
            <a:endParaRPr lang="en-US" sz="1575" dirty="0">
              <a:solidFill>
                <a:srgbClr val="FFFFFF"/>
              </a:solidFill>
              <a:latin typeface="Arial"/>
              <a:ea typeface="Malgun Gothic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38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75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912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49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EADCF5"/>
          </a:solidFill>
          <a:ln w="38100">
            <a:solidFill>
              <a:srgbClr val="6D2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6075" y="207645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9775" y="207645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53475" y="207645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257550" y="19907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191250" y="19907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124950" y="19907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PushT simulator from the dynamics lecture becomes a training ground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15479" y="1719114"/>
            <a:ext cx="95994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Physics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7225" y="2042964"/>
            <a:ext cx="2095500" cy="467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impulse · friction · walls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62660" y="1719114"/>
            <a:ext cx="193283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Demonstrations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90925" y="2042964"/>
            <a:ext cx="2095500" cy="467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human or scripted expert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3766" y="1719114"/>
            <a:ext cx="105801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Imitation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24625" y="2042964"/>
            <a:ext cx="2095500" cy="467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MLP-BC · Diffusion Policy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38556" y="1835795"/>
            <a:ext cx="171583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RL fine-tuning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14284" y="2159645"/>
            <a:ext cx="1964382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PPO, started from BC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075" y="3200400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Three questions answered with experiments in this lecture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9075" y="3527971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Q1 — Data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how many demonstrations do we need to collect?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075" y="3967609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Q2 — Model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which network should learn from them — a regressor or a generative model?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075" y="4407247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Q3 — Beyond imitation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can reinforcement learning do better, from scratch or starting from the imitation policy?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19075" y="6151662"/>
                <a:ext cx="1175385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Pipeline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demonstrations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cr m:val="script"/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D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{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o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→ dataset → policy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π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ϕ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∣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o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→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closed-loop success rate on unseen tasks</a:t>
                </a:r>
                <a:endParaRPr lang="en-US" sz="1800" dirty="0">
                  <a:solidFill>
                    <a:srgbClr val="FF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Lecture Goals: From Physics to Policy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781175" y="1790254"/>
            <a:ext cx="37719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075" y="2211586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81175" y="2211586"/>
            <a:ext cx="3771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2856309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1175" y="2856309"/>
            <a:ext cx="3771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3805238"/>
            <a:ext cx="38100" cy="53206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l_random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50" y="1428750"/>
            <a:ext cx="6000750" cy="2698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One seed fixes the initial T pose, the goal pose and the pusher position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9075" y="1495425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What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81175" y="1495425"/>
            <a:ext cx="36385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Distribution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075" y="1885504"/>
            <a:ext cx="14287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 start pose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781175" y="1885504"/>
                <a:ext cx="363855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∼</m:t>
                      </m:r>
                      <m:r>
                        <m:rPr>
                          <m:scr m:val="script"/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∼</m:t>
                      </m:r>
                      <m:r>
                        <m:rPr>
                          <m:scr m:val="script"/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∼</m:t>
                      </m:r>
                      <m:r>
                        <m:rPr>
                          <m:scr m:val="script"/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5" name="TextBox 14"/>
          <p:cNvSpPr txBox="1"/>
          <p:nvPr/>
        </p:nvSpPr>
        <p:spPr>
          <a:xfrm>
            <a:off x="219075" y="2297311"/>
            <a:ext cx="1428750" cy="4923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Goal pose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781175" y="2297311"/>
                <a:ext cx="3657600" cy="49232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same; redrawn if too easy (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&lt;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 and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&lt;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7" name="TextBox 16"/>
          <p:cNvSpPr txBox="1"/>
          <p:nvPr/>
        </p:nvSpPr>
        <p:spPr>
          <a:xfrm>
            <a:off x="219075" y="2942034"/>
            <a:ext cx="142875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Pusher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1781175" y="2942034"/>
                <a:ext cx="3638550" cy="24988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uniform in the arena,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≥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1.6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from the T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9" name="TextBox 18"/>
          <p:cNvSpPr txBox="1"/>
          <p:nvPr/>
        </p:nvSpPr>
        <p:spPr>
          <a:xfrm>
            <a:off x="219075" y="3477667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Success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47675" y="3910012"/>
                <a:ext cx="51054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0.15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and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1" name="TextBox 20"/>
          <p:cNvSpPr txBox="1"/>
          <p:nvPr/>
        </p:nvSpPr>
        <p:spPr>
          <a:xfrm>
            <a:off x="219075" y="4489698"/>
            <a:ext cx="535305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Seeds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demos use 100000+ (expert) and 200000+ (human);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evaluation uses 0, 1, 2, …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tasks never seen in training.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92813" y="4184600"/>
            <a:ext cx="4264223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Blue: T start · green dashed: goal · orange: pusher (seeds 0–7)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The PushT Task: Random Start, Random Goal</a:t>
            </a:r>
          </a:p>
        </p:txBody>
      </p:sp>
      <p:pic>
        <p:nvPicPr>
          <p:cNvPr id="25" name="Picture 24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924919"/>
            <a:ext cx="38100" cy="52387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57925" y="2533352"/>
            <a:ext cx="1752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10525" y="2533352"/>
            <a:ext cx="1371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82125" y="2533352"/>
            <a:ext cx="25908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57925" y="2954685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10525" y="2954685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82125" y="2954685"/>
            <a:ext cx="2590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7925" y="3361730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10525" y="3361730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82125" y="3361730"/>
            <a:ext cx="2590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7925" y="3761333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525" y="3761333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82125" y="3761333"/>
            <a:ext cx="2590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policy moves the pusher's target at 10 Hz; the physics runs 20 substeps in between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907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State (8 numbers — what a human sees)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19075" y="1756321"/>
                <a:ext cx="5715000" cy="70767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limLow>
                            <m:e>
                              <m:limLow>
                                <m:e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P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 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P</m:t>
                                      </m:r>
                                    </m:sub>
                                  </m:sSub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⏟</m:t>
                                  </m:r>
                                </m:lim>
                              </m:limLow>
                            </m:e>
                            <m:lim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pusher</m:t>
                              </m:r>
                            </m:lim>
                          </m:limLow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limLow>
                            <m:e>
                              <m:limLow>
                                <m:e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 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 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θ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⏟</m:t>
                                  </m:r>
                                </m:lim>
                              </m:limLow>
                            </m:e>
                            <m:lim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lim>
                          </m:limLow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limLow>
                            <m:e>
                              <m:limLow>
                                <m:e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 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 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⏟</m:t>
                                  </m:r>
                                </m:lim>
                              </m:limLow>
                            </m:e>
                            <m:lim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goal</m:t>
                              </m:r>
                            </m:lim>
                          </m:limLow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8" name="TextBox 17"/>
          <p:cNvSpPr txBox="1"/>
          <p:nvPr/>
        </p:nvSpPr>
        <p:spPr>
          <a:xfrm>
            <a:off x="219075" y="2597348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Action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47675" y="3029694"/>
                <a:ext cx="5486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 pusher target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0.1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0" name="TextBox 19"/>
          <p:cNvSpPr txBox="1"/>
          <p:nvPr/>
        </p:nvSpPr>
        <p:spPr>
          <a:xfrm>
            <a:off x="219075" y="3601194"/>
            <a:ext cx="573405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PD controller pulls the pusher toward the target; contact with the T is the impulse model of the dynamics lecture.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5792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One episode, saved to .npz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6257925" y="1756321"/>
                <a:ext cx="57150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τ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…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3" name="TextBox 22"/>
          <p:cNvSpPr txBox="1"/>
          <p:nvPr/>
        </p:nvSpPr>
        <p:spPr>
          <a:xfrm>
            <a:off x="6257925" y="2238524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Array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10525" y="2238524"/>
            <a:ext cx="1238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Shape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82125" y="2238524"/>
            <a:ext cx="24574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Meaning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57925" y="2628602"/>
            <a:ext cx="16192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states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10525" y="2628602"/>
            <a:ext cx="12382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(N, 8)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9382125" y="2628602"/>
                <a:ext cx="245745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9" name="TextBox 28"/>
          <p:cNvSpPr txBox="1"/>
          <p:nvPr/>
        </p:nvSpPr>
        <p:spPr>
          <a:xfrm>
            <a:off x="6257925" y="3040410"/>
            <a:ext cx="1619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actions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10525" y="3040410"/>
            <a:ext cx="1238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(N, 2)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9382125" y="3040410"/>
                <a:ext cx="24574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= target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6257925" y="3447455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episode_ends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10525" y="3447455"/>
            <a:ext cx="1238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(E,)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382125" y="3447455"/>
            <a:ext cx="24574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where each episode ends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57925" y="3847058"/>
            <a:ext cx="1619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seeds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10525" y="3847058"/>
            <a:ext cx="1238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(E,)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382125" y="3847058"/>
            <a:ext cx="24574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re-creates the start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Only successful episodes are saved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imitating a failure teaches failure (filtered behavior cloning). Same format as the Diffusion Policy / LeRobot PushT data.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Control Loop and Demonstration Data</a:t>
            </a:r>
          </a:p>
        </p:txBody>
      </p:sp>
      <p:pic>
        <p:nvPicPr>
          <p:cNvPr id="41" name="Picture 40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l_rec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6096000" cy="34136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python pusht_imitation.py collect — the keyboard simulator with a recorder added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075" y="4899571"/>
            <a:ext cx="6115050" cy="365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Recorder window: arrows / WASD or mouse drag move the target; reaching the goal auto-saves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38925" y="1428750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Three rules for clean data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638925" y="1756321"/>
                <a:ext cx="5334000" cy="9188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Fixed 10 Hz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the screen draws at 20 fps, but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is recorded every 0.1 s — one human step = one env.step().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6638925" y="2808536"/>
            <a:ext cx="53340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Idle start trimmed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time spent thinking before the first move is not recorded, so the policy never learns to stand still.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38925" y="3860750"/>
            <a:ext cx="5334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Physics fixed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friction / restitution switches are off — same state, same consequence.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38925" y="4606677"/>
            <a:ext cx="5334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Keys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N new task · R restart · Backspace delete last · Space pause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Cost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one human demo takes 15–30 s, so 200 demos take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1.5–2 hours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→ we also need an automatic demonstrator.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Collecting Human Demonstrations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370832"/>
            <a:ext cx="38100" cy="81394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l_expert_rollo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23" y="3685580"/>
            <a:ext cx="6609755" cy="1952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"virtual human" that chooses where to push with the lecture's impulse equations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428750"/>
                <a:ext cx="581025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(1) Where to push — unit impulse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n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 at candidate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84896"/>
                <a:ext cx="5810250" cy="5097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×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7675" y="2475607"/>
                <a:ext cx="5581650" cy="60439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arg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max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⋅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num>
                        <m:den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d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353175" y="1428750"/>
                <a:ext cx="56197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Candidates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8 edges × 3 points;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d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= desired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y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L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θ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= its effect.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9" name="TextBox 8"/>
          <p:cNvSpPr txBox="1"/>
          <p:nvPr/>
        </p:nvSpPr>
        <p:spPr>
          <a:xfrm>
            <a:off x="6353175" y="2174677"/>
            <a:ext cx="56197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(2) Approach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go to a standoff point; orbit around the T if the straight path is blocked.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353175" y="2920603"/>
                <a:ext cx="56197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(3) Push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along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slowing in proportion to the remaining error (the T slides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≈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after release).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3055441" y="5695355"/>
            <a:ext cx="6080968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Expert rollouts (orange: pusher path, colour: time) — success ≈ 88–91 % on random tasks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Scripted Expert: Impulse–Momentum as a Policy</a:t>
            </a:r>
          </a:p>
        </p:txBody>
      </p:sp>
      <p:pic>
        <p:nvPicPr>
          <p:cNvPr id="14" name="Picture 13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3943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62425" y="1790254"/>
            <a:ext cx="4229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91525" y="1790254"/>
            <a:ext cx="35814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2204145"/>
            <a:ext cx="3943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62425" y="2204145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91525" y="2204145"/>
            <a:ext cx="3581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2603748"/>
            <a:ext cx="3943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2425" y="2603748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91525" y="2603748"/>
            <a:ext cx="3581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925788"/>
            <a:ext cx="2514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33675" y="3925788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5775" y="3925788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7875" y="3925788"/>
            <a:ext cx="61150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075" y="4339679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33675" y="4339679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5775" y="4339679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7875" y="4339679"/>
            <a:ext cx="61150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9075" y="4739283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33675" y="4739283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5775" y="4739283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7875" y="4739283"/>
            <a:ext cx="61150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Published PushT and manipulation work uses 50–200 demonstrations per task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075" y="1495425"/>
            <a:ext cx="3810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Source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62425" y="1495425"/>
            <a:ext cx="4095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Task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91525" y="1495425"/>
            <a:ext cx="34480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Demonstrations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1885504"/>
            <a:ext cx="3810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 Policy (Chi et al., 2023)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62425" y="1885504"/>
            <a:ext cx="4095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PushT,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fixed goal</a:t>
            </a: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random start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91525" y="1885504"/>
            <a:ext cx="34480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200 human (≈ 25k steps)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9075" y="2289870"/>
            <a:ext cx="3810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LeRobot pusht dataset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62425" y="2289870"/>
            <a:ext cx="4095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same task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91525" y="2289870"/>
            <a:ext cx="34480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206 episodes, 25,650 frames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9075" y="2689473"/>
            <a:ext cx="3810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ACT / ALOHA (Zhao et al., 2023)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62425" y="2689473"/>
            <a:ext cx="4095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real bimanual robot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91525" y="2689473"/>
            <a:ext cx="34480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50 per task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075" y="3236714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Suggested plan for human demonstrations (15–30 s each)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9075" y="3630960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Stage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733675" y="3630960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Demos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95775" y="3630960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Time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57875" y="3630960"/>
            <a:ext cx="59817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Purpose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19075" y="4021038"/>
            <a:ext cx="2381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Pipeline check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33675" y="4021038"/>
            <a:ext cx="1428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10–20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95775" y="4021038"/>
            <a:ext cx="1428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 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857875" y="4021038"/>
            <a:ext cx="59817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save / load / train runs, loss goes down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9075" y="4425404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First results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33675" y="4425404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50–100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295775" y="4425404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30–60 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857875" y="4425404"/>
            <a:ext cx="59817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successes start; study the failures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19075" y="4825008"/>
            <a:ext cx="2381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Usable policy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733675" y="4825008"/>
            <a:ext cx="1428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≥ 200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295775" y="4825008"/>
            <a:ext cx="1428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1.5–2 h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857875" y="4825008"/>
            <a:ext cx="59817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 Policy paper scale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More important than the count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spread-out initial conditions,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a consistent strategy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and discarded failures. Our goal is random too — harder than the original PushT.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How Many Demonstrations? Reference Points</a:t>
            </a:r>
          </a:p>
        </p:txBody>
      </p:sp>
      <p:pic>
        <p:nvPicPr>
          <p:cNvPr id="56" name="Picture 55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53206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075" y="3305770"/>
            <a:ext cx="3943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2425" y="3305770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24525" y="3305770"/>
            <a:ext cx="15430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3719661"/>
            <a:ext cx="3943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2425" y="3719661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24525" y="3719661"/>
            <a:ext cx="15430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l_goal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779" y="1428750"/>
            <a:ext cx="3950791" cy="3333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Ride along with the goal — the same idea as relative motion in rigid-body kinematics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47675" y="1533525"/>
                <a:ext cx="68199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acc>
                        <m:accPr>
                          <m:chr m:val="̃"/>
                        </m:acc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acc>
                        <m:accPr>
                          <m:chr m:val="̃"/>
                        </m:accPr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19075" y="2113211"/>
                <a:ext cx="70485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y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y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cos</m:t>
                          </m:r>
                          <m:acc>
                            <m:accPr>
                              <m:chr m:val="̃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sin</m:t>
                          </m:r>
                          <m:acc>
                            <m:accPr>
                              <m:chr m:val="̃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19075" y="2528739"/>
                <a:ext cx="70485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4" name="TextBox 13"/>
          <p:cNvSpPr txBox="1"/>
          <p:nvPr/>
        </p:nvSpPr>
        <p:spPr>
          <a:xfrm>
            <a:off x="219075" y="3010942"/>
            <a:ext cx="3810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Action representation (goal frame)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62425" y="3010942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MLP-BC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24525" y="3010942"/>
            <a:ext cx="14097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Diffusion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9075" y="3401020"/>
            <a:ext cx="3810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absolute target position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62425" y="3401020"/>
            <a:ext cx="1428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26 %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24525" y="3401020"/>
            <a:ext cx="14097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20 %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9075" y="3805386"/>
            <a:ext cx="3810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offset from the current pusher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62425" y="3805386"/>
            <a:ext cx="1428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36 %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24525" y="3805386"/>
            <a:ext cx="14097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46 %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79172" y="4819650"/>
            <a:ext cx="2805857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One training sample: goal at the origin, 0°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Without the goal frame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0 % success for both models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a good representation saves data.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Goal Frame: Relative Motion Removes the Random Goal</a:t>
            </a:r>
          </a:p>
        </p:txBody>
      </p:sp>
      <p:pic>
        <p:nvPicPr>
          <p:cNvPr id="27" name="Picture 26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3875" y="152400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7575" y="152400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91275" y="152400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4975" y="152400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EADCF5"/>
          </a:solidFill>
          <a:ln w="38100">
            <a:solidFill>
              <a:srgbClr val="6D2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6075" y="205740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9775" y="205740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53475" y="205740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257550" y="197167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191250" y="197167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124950" y="197167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See two frames, plan eight actions, execute four, then re-plan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7202" y="1799481"/>
            <a:ext cx="101634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Observe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962025" y="2123331"/>
                <a:ext cx="1466850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o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,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 </m:t>
                    </m:r>
                    <m:sSub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o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o</m:t>
                        </m:r>
                      </m:sub>
                    </m:sSub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=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2</m:t>
                    </m:r>
                  </m:oMath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5" name="TextBox 14"/>
          <p:cNvSpPr txBox="1"/>
          <p:nvPr/>
        </p:nvSpPr>
        <p:spPr>
          <a:xfrm>
            <a:off x="4198739" y="1799481"/>
            <a:ext cx="8608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Predict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775918" y="2123331"/>
                <a:ext cx="1706314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H</m:t>
                    </m:r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=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8</m:t>
                    </m:r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 (0.8 s)</a:t>
                </a:r>
                <a:endParaRPr lang="en-US" sz="1600" dirty="0">
                  <a:solidFill>
                    <a:srgbClr val="111111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7" name="TextBox 16"/>
          <p:cNvSpPr txBox="1"/>
          <p:nvPr/>
        </p:nvSpPr>
        <p:spPr>
          <a:xfrm>
            <a:off x="7075884" y="1799481"/>
            <a:ext cx="97393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Execute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6732984" y="2123331"/>
                <a:ext cx="1659582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first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a</m:t>
                        </m:r>
                      </m:sub>
                    </m:sSub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=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4</m:t>
                    </m:r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 actions</a:t>
                </a:r>
                <a:endParaRPr lang="en-US" sz="1600" dirty="0">
                  <a:solidFill>
                    <a:srgbClr val="111111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9" name="TextBox 18"/>
          <p:cNvSpPr txBox="1"/>
          <p:nvPr/>
        </p:nvSpPr>
        <p:spPr>
          <a:xfrm>
            <a:off x="10031016" y="1816745"/>
            <a:ext cx="93106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Re-plan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45414" y="2140595"/>
            <a:ext cx="1502122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receding horizon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075" y="2971800"/>
            <a:ext cx="5734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Two frames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the difference gives velocity — is the T still sliding?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9075" y="3717727"/>
            <a:ext cx="5734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Chunks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one-step predictions change every 0.1 s and jitter; a chunk commits to a motion for a moment.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257925" y="2971800"/>
                <a:ext cx="571500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Normalize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z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σ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statistics from the training set only.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4" name="TextBox 23"/>
          <p:cNvSpPr txBox="1"/>
          <p:nvPr/>
        </p:nvSpPr>
        <p:spPr>
          <a:xfrm>
            <a:off x="6257925" y="3717727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Split by episode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neighbouring steps are nearly identical — a step-wise split leaks data into validation.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Trade-off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4 steps run open-loop, so an unexpected slide is corrected only at the next re-plan.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Observation History and Action Chunks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71824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l_t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299395"/>
            <a:ext cx="10287000" cy="31079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MSE learns the average action — the average of two good actions can be bad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47675" y="1533525"/>
                <a:ext cx="11525250" cy="50869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min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∼</m:t>
                          </m:r>
                          <m:r>
                            <m:rPr>
                              <m:scr m:val="script"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∥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∥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[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∣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431578" y="5464522"/>
                <a:ext cx="9328696" cy="20106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2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Toy problem: demonstrations avoid an obstacle up or down (50/50). MLP-BC learns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280" dirty="0">
                        <a:solidFill>
                          <a:srgbClr val="40404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280" dirty="0">
                        <a:solidFill>
                          <a:srgbClr val="404040"/>
                        </a:solidFill>
                        <a:latin typeface="Cambria Math"/>
                      </a:rPr>
                      <m:t>≈</m:t>
                    </m:r>
                    <m:r>
                      <a:rPr lang="en-US" sz="1280" dirty="0">
                        <a:solidFill>
                          <a:srgbClr val="40404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2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 — straight into it; Diffusion samples both modes.</a:t>
                </a:r>
                <a:endParaRPr lang="en-US" sz="1200" dirty="0">
                  <a:solidFill>
                    <a:srgbClr val="40404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In PushT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"go around the left or the right side of the T?" —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MLP-BC hesitates in between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; human demos are even more multimodal.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Which Model? The Multimodality Problem</a:t>
            </a:r>
          </a:p>
        </p:txBody>
      </p:sp>
      <p:pic>
        <p:nvPicPr>
          <p:cNvPr id="10" name="Picture 9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3181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425" y="1790254"/>
            <a:ext cx="2800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00775" y="1790254"/>
            <a:ext cx="1752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3375" y="1790254"/>
            <a:ext cx="40195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2204145"/>
            <a:ext cx="3181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0425" y="2204145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2204145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3375" y="2204145"/>
            <a:ext cx="4019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075" y="2611189"/>
            <a:ext cx="3181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0425" y="2611189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0775" y="2611189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3375" y="2611189"/>
            <a:ext cx="4019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018234"/>
            <a:ext cx="3181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0425" y="3018234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0775" y="3018234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3375" y="3018234"/>
            <a:ext cx="4019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075" y="3417838"/>
            <a:ext cx="3181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0425" y="3417838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0775" y="3417838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3375" y="3417838"/>
            <a:ext cx="4019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075" y="3817441"/>
            <a:ext cx="3181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00425" y="3817441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0775" y="3817441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3375" y="3817441"/>
            <a:ext cx="4019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Learn a distribution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p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∣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o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instead of a single average action</a:t>
                </a:r>
                <a:endParaRPr lang="en-US" sz="2000" b="1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7" name="TextBox 26"/>
          <p:cNvSpPr txBox="1"/>
          <p:nvPr/>
        </p:nvSpPr>
        <p:spPr>
          <a:xfrm>
            <a:off x="219075" y="1495425"/>
            <a:ext cx="3048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Model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00425" y="1495425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Output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00775" y="1495425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Multimodal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953375" y="1495425"/>
            <a:ext cx="38862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Notes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9075" y="1885504"/>
            <a:ext cx="3048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 (MSE)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00425" y="1885504"/>
            <a:ext cx="2667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one point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00775" y="1885504"/>
            <a:ext cx="1619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 (mean)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53375" y="1885504"/>
            <a:ext cx="38862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fastest, simplest — baseline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9075" y="2289870"/>
            <a:ext cx="30480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 + action chunk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400425" y="2289870"/>
                <a:ext cx="2667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H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points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7" name="TextBox 36"/>
          <p:cNvSpPr txBox="1"/>
          <p:nvPr/>
        </p:nvSpPr>
        <p:spPr>
          <a:xfrm>
            <a:off x="6200775" y="2289870"/>
            <a:ext cx="1619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953375" y="2289870"/>
            <a:ext cx="38862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temporally consistent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075" y="2696914"/>
            <a:ext cx="30480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GMM / MDN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3400425" y="2696914"/>
                <a:ext cx="2667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K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Gaussians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1" name="TextBox 40"/>
          <p:cNvSpPr txBox="1"/>
          <p:nvPr/>
        </p:nvSpPr>
        <p:spPr>
          <a:xfrm>
            <a:off x="6200775" y="2696914"/>
            <a:ext cx="1619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partly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7953375" y="2696914"/>
                <a:ext cx="38862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number of modes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K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fixed in advance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3" name="TextBox 42"/>
          <p:cNvSpPr txBox="1"/>
          <p:nvPr/>
        </p:nvSpPr>
        <p:spPr>
          <a:xfrm>
            <a:off x="219075" y="3103959"/>
            <a:ext cx="3048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VQ-BeT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400425" y="3103959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discrete code + offset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00775" y="3103959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yes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53375" y="3103959"/>
            <a:ext cx="38862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Transformer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19075" y="3503563"/>
            <a:ext cx="3048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ACT (CVAE + Transformer)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400425" y="3503563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chunk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00775" y="3503563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yes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953375" y="3503563"/>
            <a:ext cx="38862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real robot, 50 demos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19075" y="3903166"/>
            <a:ext cx="3048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 Policy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400425" y="3903166"/>
            <a:ext cx="2667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chunk, sampled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200775" y="3903166"/>
            <a:ext cx="1619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yes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953375" y="3903166"/>
            <a:ext cx="38862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standard PushT baseline, stable training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19075" y="5405735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Our choice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MLP-BC as the baseline, Diffusion Policy as the main model —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same MLP trunk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(3 layers, width 512, Mish).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So the only difference is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learning the mean vs. learning the distribution.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Policy Model Candidates</a:t>
            </a:r>
          </a:p>
        </p:txBody>
      </p:sp>
      <p:pic>
        <p:nvPicPr>
          <p:cNvPr id="59" name="Picture 58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502991"/>
            <a:ext cx="38100" cy="57730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Learn to remove noise from action chunks; at run time, denoise noise into actions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19075" y="1428750"/>
                <a:ext cx="1175385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1. Forward process: mix noise into a clean chunk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m:rPr>
                            <m:sty m:val="bi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a</m:t>
                        </m:r>
                      </m:e>
                      <m:sup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784896"/>
                <a:ext cx="1175385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rad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rad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ϵ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ϵ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∼</m:t>
                      </m:r>
                      <m:r>
                        <m:rPr>
                          <m:scr m:val="script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K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219075" y="2175421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2. Training: predict the noise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7675" y="2607766"/>
                <a:ext cx="11525250" cy="367754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cr m:val="script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ϵ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∥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ϵ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ϵ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∥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3232696"/>
                <a:ext cx="1175385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3. Sampling: start from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m:rPr>
                            <m:sty m:val="bi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a</m:t>
                        </m:r>
                      </m:e>
                      <m:sup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K</m:t>
                        </m:r>
                      </m:sup>
                    </m:sSup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∼</m:t>
                    </m:r>
                    <m:r>
                      <m:rPr>
                        <m:scr m:val="script"/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N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b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I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, step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…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1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588841"/>
                <a:ext cx="11753850" cy="64383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ϵ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ϕ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sSub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ad>
                            <m:radPr>
                              <m:degHide m:val="on"/>
                            </m:radPr>
                            <m:deg/>
                            <m:e>
                              <m:sSub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den>
                      </m:f>
                      <m:s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ad>
                            <m:radPr>
                              <m:degHide m:val="on"/>
                            </m:radPr>
                            <m:deg/>
                            <m:e>
                              <m:sSub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den>
                      </m:f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σ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z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Why it is multimodal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each run starts from different noise → a different sample →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different modes of the demonstrations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 Cosine schedule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β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50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Diffusion Policy (DDPM) in Three Steps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6229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48425" y="1790254"/>
            <a:ext cx="2228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77275" y="1790254"/>
            <a:ext cx="32956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2211586"/>
            <a:ext cx="6229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48425" y="2211586"/>
            <a:ext cx="2228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77275" y="2211586"/>
            <a:ext cx="3295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2618631"/>
            <a:ext cx="6229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8425" y="2618631"/>
            <a:ext cx="2228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77275" y="2618631"/>
            <a:ext cx="3295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025676"/>
            <a:ext cx="6229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8425" y="3025676"/>
            <a:ext cx="2228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77275" y="3025676"/>
            <a:ext cx="3295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432721"/>
            <a:ext cx="6229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8425" y="3432721"/>
            <a:ext cx="2228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77275" y="3432721"/>
            <a:ext cx="3295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075" y="3996928"/>
            <a:ext cx="38100" cy="52387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 needs more capacity or more steps than MLP-BC before it pays off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075" y="1495425"/>
            <a:ext cx="6096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Setting (180 expert demos, unseen tasks)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8425" y="1495425"/>
            <a:ext cx="20955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MLP-BC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77275" y="1495425"/>
            <a:ext cx="31623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Diffusion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19075" y="1885504"/>
                <a:ext cx="609600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width 256,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no EMA, 30k steps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3" name="TextBox 22"/>
          <p:cNvSpPr txBox="1"/>
          <p:nvPr/>
        </p:nvSpPr>
        <p:spPr>
          <a:xfrm>
            <a:off x="6448425" y="1885504"/>
            <a:ext cx="209550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32 %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77275" y="1885504"/>
            <a:ext cx="316230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19075" y="2297311"/>
                <a:ext cx="6096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width 256,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+ EMA, 30k steps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TextBox 25"/>
          <p:cNvSpPr txBox="1"/>
          <p:nvPr/>
        </p:nvSpPr>
        <p:spPr>
          <a:xfrm>
            <a:off x="6448425" y="2297311"/>
            <a:ext cx="2095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36–46 %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77275" y="2297311"/>
            <a:ext cx="31623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18–42 %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219075" y="2704356"/>
                <a:ext cx="6096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width 256,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+ EMA, 80k steps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9" name="TextBox 28"/>
          <p:cNvSpPr txBox="1"/>
          <p:nvPr/>
        </p:nvSpPr>
        <p:spPr>
          <a:xfrm>
            <a:off x="6448425" y="2704356"/>
            <a:ext cx="2095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—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677275" y="2704356"/>
            <a:ext cx="31623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64 %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219075" y="3111401"/>
                <a:ext cx="6096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width 512</a:t>
                </a: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+ EMA, 30k steps (</a:t>
                </a:r>
                <a:r>
                  <a:rPr lang="en-US" sz="1462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default</a:t>
                </a: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6448425" y="3111401"/>
            <a:ext cx="2095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38–59 %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77275" y="3111401"/>
            <a:ext cx="31623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54–63 %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219075" y="3518446"/>
                <a:ext cx="6096000" cy="24988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width 512,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+ EMA, 50k steps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5" name="TextBox 34"/>
          <p:cNvSpPr txBox="1"/>
          <p:nvPr/>
        </p:nvSpPr>
        <p:spPr>
          <a:xfrm>
            <a:off x="6448425" y="3518446"/>
            <a:ext cx="209550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—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77275" y="3518446"/>
            <a:ext cx="316230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69 %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447675" y="4101703"/>
                <a:ext cx="5486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EMA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←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0.999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EMA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0.001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ϕ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8" name="TextBox 37"/>
          <p:cNvSpPr txBox="1"/>
          <p:nvPr/>
        </p:nvSpPr>
        <p:spPr>
          <a:xfrm>
            <a:off x="6257925" y="3996928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Batch 256, AdamW, cosine lr decay; about 1 min per model on GPU, 4 min on CPU.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Caution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re-running the same setting moves success by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±10 %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; validation loss does not predict success (0.116 → 0.132 while 62 % → 69 %).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Training Settings Found by Experiment</a:t>
            </a:r>
          </a:p>
        </p:txBody>
      </p:sp>
      <p:pic>
        <p:nvPicPr>
          <p:cNvPr id="42" name="Picture 41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l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87" y="1428750"/>
            <a:ext cx="5565428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 reaches most of its performance at about 100 demonstrations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5792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Experiment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257925" y="1756321"/>
                <a:ext cx="571500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400 expert demos → train on the first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N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→ width 512, 30k steps → </a:t>
                </a: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100 unseen tasks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closed loop.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6257925" y="2502247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Reading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257925" y="2829818"/>
                <a:ext cx="571500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Diffusion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is ahead at every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N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most clearly with little data.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6257925" y="3575745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needs about 3× more demos for the same success.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57925" y="4321671"/>
            <a:ext cx="571500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Human demos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aim for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at least 100, ideally 200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Reproduce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tools/imitation_experiments/full/run_scale512.sh (10 jobs, about 15 min)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How Many Demonstrations? Measured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l_rollouts_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7620000" cy="1743075"/>
          </a:xfrm>
          <a:prstGeom prst="rect">
            <a:avLst/>
          </a:prstGeom>
        </p:spPr>
      </p:pic>
      <p:pic>
        <p:nvPicPr>
          <p:cNvPr id="3" name="Picture 2" descr="il_rollouts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3526036"/>
            <a:ext cx="7620000" cy="1743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Both learned policies stay below the expert that taught them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72680" y="3228975"/>
            <a:ext cx="231264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MLP-BC rollouts on unseen seeds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77703" y="5326261"/>
            <a:ext cx="2902744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Diffusion Policy rollouts on the same seeds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62925" y="1428750"/>
            <a:ext cx="3810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stalls or jitters beside the T — it averages between strategies.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62925" y="2174677"/>
            <a:ext cx="38100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commits to one strategy; fails at the final 0.15 m / 10° alignment or after one big mistake.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62925" y="3226891"/>
            <a:ext cx="38100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Both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covariate shift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their own errors lead to states never seen in the demos.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Default run (180 demos)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expert 88 % · MLP-BC 38–59 % · Diffusion 54–63 %. Remedy: DAgger — record human corrections.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Closed-Loop Rollouts and Failure Modes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8382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075" y="2780854"/>
            <a:ext cx="2895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14675" y="2780854"/>
            <a:ext cx="2990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05525" y="2780854"/>
            <a:ext cx="58674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3194745"/>
            <a:ext cx="2895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14675" y="3194745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05525" y="3194745"/>
            <a:ext cx="5867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" y="3594348"/>
            <a:ext cx="2895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14675" y="3594348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05525" y="3594348"/>
            <a:ext cx="5867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RL needs no demonstrations — only a reward and a great deal of trial and error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47675" y="1533525"/>
                <a:ext cx="11525250" cy="6286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limUp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→</m:t>
                          </m:r>
                        </m:e>
                        <m:li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ϕ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∣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</m:lim>
                      </m:limUpp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limUp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→</m:t>
                          </m:r>
                        </m:e>
                        <m:li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physics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</m:lim>
                      </m:limUpp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max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p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γ</m:t>
                                  </m:r>
                                </m:e>
                                <m:sup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t</m:t>
                                  </m:r>
                                </m:sup>
                              </m:sSup>
                            </m:e>
                          </m:nary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4" name="TextBox 13"/>
          <p:cNvSpPr txBox="1"/>
          <p:nvPr/>
        </p:nvSpPr>
        <p:spPr>
          <a:xfrm>
            <a:off x="219075" y="2486025"/>
            <a:ext cx="2762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Experiment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14675" y="2486025"/>
            <a:ext cx="28575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Starting point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05525" y="2486025"/>
            <a:ext cx="57340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Result (50 unseen tasks, no exploration noise)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9075" y="2876104"/>
            <a:ext cx="2762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A. RL from scratch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14675" y="2876104"/>
            <a:ext cx="28575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random network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05525" y="2876104"/>
            <a:ext cx="57340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16.4M steps (2.5 h): </a:t>
            </a:r>
            <a:r>
              <a:rPr lang="en-US" sz="1462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0 % success</a:t>
            </a:r>
            <a:endParaRPr lang="en-US" sz="1462" dirty="0">
              <a:solidFill>
                <a:srgbClr val="FF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9075" y="3280470"/>
            <a:ext cx="2762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B. BC → RL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14675" y="3280470"/>
            <a:ext cx="28575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 policy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05525" y="3280470"/>
            <a:ext cx="57340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42 % → 74 % (3M) →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80 %</a:t>
            </a: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(6M, 80 min)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075" y="3680073"/>
            <a:ext cx="2762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Scripted expert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14675" y="3680073"/>
            <a:ext cx="28575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hand-written rules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05525" y="3680073"/>
            <a:ext cx="57340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88 %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9075" y="5405735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Why A fails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success needs a long sequence — choose a contact, go around, push, align. Random motion almost never completes it, so the success bonus is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never observed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(the exploration problem).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Why B works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imitation already succeeds about half the time; RL only has to polish behaviour that works.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From Imitation to Reinforcement Learning</a:t>
            </a:r>
          </a:p>
        </p:txBody>
      </p:sp>
      <p:pic>
        <p:nvPicPr>
          <p:cNvPr id="30" name="Picture 29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501652"/>
            <a:ext cx="38100" cy="885527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Turn "how far is the task from done" into one number, and reward every step of progress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075" y="1428750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Remaining cost (1 rad ≈ 0.3 m)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756321"/>
                <a:ext cx="1175385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0.3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219075" y="2174081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Reward per step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7675" y="2606427"/>
                <a:ext cx="11525250" cy="6759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limLow>
                        <m:e>
                          <m:limLow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10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t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+</m:t>
                                      </m:r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progress</m:t>
                          </m:r>
                        </m:lim>
                      </m:limLow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limLow>
                        <m:e>
                          <m:limLow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0.02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max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d>
                                <m:dPr>
                                  <m:begChr m:val="‖"/>
                                  <m:sepChr m:val=""/>
                                  <m:endChr m:val="‖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P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far from T</m:t>
                          </m:r>
                        </m:lim>
                      </m:limLow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limLow>
                        <m:e>
                          <m:limLow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0.01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time</m:t>
                          </m:r>
                        </m:lim>
                      </m:limLow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limLow>
                        <m:e>
                          <m:limLow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10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⋅</m:t>
                              </m:r>
                              <m:r>
                                <m:rPr>
                                  <m:scr m:val="double-struck"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[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success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]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bonus</m:t>
                          </m:r>
                        </m:lim>
                      </m:limLow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3539579"/>
                <a:ext cx="5734050" cy="9188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Potential-based shaping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the progress term sums to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10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a signal every step, without changing the optimal policy.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6257925" y="3539579"/>
                <a:ext cx="571500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Episode end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success is terminal; at 300 steps it is truncated and bootstrapped with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0" name="TextBox 9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Side effect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the time penalty makes RL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finish faster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than the expert, which has no such pressure.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Reward Design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863304"/>
            <a:ext cx="38100" cy="549176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38925" y="1790254"/>
            <a:ext cx="1276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15275" y="1790254"/>
            <a:ext cx="1943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58375" y="1790254"/>
            <a:ext cx="21145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38925" y="2204145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15275" y="2204145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58375" y="2204145"/>
            <a:ext cx="2114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38925" y="2611189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15275" y="2611189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58375" y="2611189"/>
            <a:ext cx="2114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38925" y="3018234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15275" y="3018234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58375" y="3018234"/>
            <a:ext cx="2114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Collect 8,192 steps, estimate advantages, update for 10 epochs — repeat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19075" y="1428750"/>
                <a:ext cx="6096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Advantage (GAE),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γ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0.99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 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λ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0.95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19075" y="1784896"/>
                <a:ext cx="6096000" cy="64100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≥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</m:e>
                      </m:nary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λ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sup>
                      </m:sSup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19075" y="2502098"/>
                <a:ext cx="6096000" cy="28500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Clipped objective,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ρ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sSub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π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ϕ</m:t>
                        </m:r>
                      </m:sub>
                    </m:sSub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/</m:t>
                    </m:r>
                    <m:sSub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π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old</m:t>
                        </m:r>
                      </m:sub>
                    </m:sSub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47675" y="2968079"/>
                <a:ext cx="5867400" cy="33962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min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ρ</m:t>
                              </m:r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 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ρ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0.8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1.2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219075" y="3564880"/>
                <a:ext cx="6115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Gaussian policy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cr m:val="script"/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N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μ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ϕ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s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: sample while training, use the mean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μ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ϕ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for evaluation.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1" name="TextBox 20"/>
          <p:cNvSpPr txBox="1"/>
          <p:nvPr/>
        </p:nvSpPr>
        <p:spPr>
          <a:xfrm>
            <a:off x="7915275" y="1495425"/>
            <a:ext cx="1809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A. scratch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58375" y="1495425"/>
            <a:ext cx="19812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B. BC → RL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38925" y="1885504"/>
            <a:ext cx="1143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Actor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15275" y="1885504"/>
            <a:ext cx="1809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 × 256 tanh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858375" y="1885504"/>
            <a:ext cx="19812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MLP-BC net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6638925" y="2289870"/>
                <a:ext cx="1143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Initial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σ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7" name="TextBox 26"/>
          <p:cNvSpPr txBox="1"/>
          <p:nvPr/>
        </p:nvSpPr>
        <p:spPr>
          <a:xfrm>
            <a:off x="7915275" y="2289870"/>
            <a:ext cx="18097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0.6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58375" y="2289870"/>
            <a:ext cx="19812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0.03 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38925" y="2696914"/>
            <a:ext cx="11430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Actor lr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7915275" y="2696914"/>
                <a:ext cx="1809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s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9858375" y="2696914"/>
                <a:ext cx="19812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s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6638925" y="3103959"/>
            <a:ext cx="1143000" cy="48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Critic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15275" y="3103959"/>
            <a:ext cx="1809750" cy="48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new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858375" y="3103959"/>
            <a:ext cx="2000250" cy="48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new, 10 warm-up updates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For B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clipping, a small learning rate and small noise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protect the working BC policy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from being destroyed early on.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PPO: Small, Clipped Policy Updates</a:t>
            </a:r>
          </a:p>
        </p:txBody>
      </p:sp>
      <p:pic>
        <p:nvPicPr>
          <p:cNvPr id="38" name="Picture 3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43125" y="1485900"/>
            <a:ext cx="3581400" cy="1028700"/>
          </a:xfrm>
          <a:prstGeom prst="roundRect">
            <a:avLst>
              <a:gd name="adj" fmla="val 12962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67475" y="1485900"/>
            <a:ext cx="3581400" cy="1028700"/>
          </a:xfrm>
          <a:prstGeom prst="roundRect">
            <a:avLst>
              <a:gd name="adj" fmla="val 12962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43575" y="1962150"/>
            <a:ext cx="5334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3494187"/>
            <a:ext cx="278799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07072" y="3494187"/>
            <a:ext cx="2927003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075" y="3893790"/>
            <a:ext cx="278799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07072" y="3893790"/>
            <a:ext cx="2927003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" y="4293394"/>
            <a:ext cx="278799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07072" y="4293394"/>
            <a:ext cx="2927003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7925" y="3470374"/>
            <a:ext cx="2324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82025" y="3470374"/>
            <a:ext cx="1181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63125" y="3470374"/>
            <a:ext cx="22098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7925" y="3884265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82025" y="3884265"/>
            <a:ext cx="1181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63125" y="3884265"/>
            <a:ext cx="2209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7925" y="4283869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82025" y="4283869"/>
            <a:ext cx="1181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63125" y="4283869"/>
            <a:ext cx="2209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267450" y="18764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Pure-Python physics is slow, so 64 environments run at once on 16 CPU processes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22414" y="1721495"/>
            <a:ext cx="16228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Main process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0541" y="2045345"/>
            <a:ext cx="3026569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policy for 64 observations at once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54751" y="1721495"/>
            <a:ext cx="24067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16 workers × 4 envs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10251" y="2045345"/>
            <a:ext cx="2495848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physics, auto-reset on done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9075" y="278130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Benchmark (idle CPU, 20 cores)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3185071"/>
            <a:ext cx="2654647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Steps per PPO iteration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07072" y="3185071"/>
            <a:ext cx="2793653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64 × 128 = 8,192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9075" y="3579912"/>
            <a:ext cx="2654647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Rollout (physics 3.09 s)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07072" y="3579912"/>
            <a:ext cx="2793653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3.79 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9075" y="3979515"/>
            <a:ext cx="2654647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PPO update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07072" y="3979515"/>
            <a:ext cx="2793653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1.91 s (33 %)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9075" y="4379119"/>
            <a:ext cx="2654647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Env steps / 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07072" y="4379119"/>
            <a:ext cx="2793653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2,159 rollout ·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1,437</a:t>
            </a: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total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57925" y="278130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Training wall-clock (from logs)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57925" y="3175546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Run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82025" y="3175546"/>
            <a:ext cx="1047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763125" y="3175546"/>
            <a:ext cx="20764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Time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57925" y="3565624"/>
            <a:ext cx="2190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RL from scratch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82025" y="3565624"/>
            <a:ext cx="1047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16.4M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763125" y="3565624"/>
            <a:ext cx="20764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147 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57925" y="3969990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BC+PPO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82025" y="3969990"/>
            <a:ext cx="1047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 → 6M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763125" y="3969990"/>
            <a:ext cx="20764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80 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57925" y="4369594"/>
            <a:ext cx="2190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BC+PPO resumed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582025" y="4369594"/>
            <a:ext cx="1047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 → 12M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763125" y="4369594"/>
            <a:ext cx="20764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70 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Backend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CPU multiprocessing (fork + Pipe); the network also runs on the CPU. One environment alone would be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≈ 64× slower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Parallel Simulation</a:t>
            </a:r>
          </a:p>
        </p:txBody>
      </p:sp>
      <p:pic>
        <p:nvPicPr>
          <p:cNvPr id="51" name="Picture 50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l_r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6667500" cy="40759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Starting from imitation turns an unsolvable exploration problem into fine-tuning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6696" y="5561856"/>
            <a:ext cx="5212259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Training success with exploration noise (tutorial/checkpoints/rl/*/train_log*.txt)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10425" y="1428750"/>
            <a:ext cx="47625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From scratch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return improved −14 → −2.4, the T moves toward the goal, but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0 % success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; exploration noise collapsed 0.6 → 0.03.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10425" y="2480965"/>
            <a:ext cx="47625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BC → RL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0.44 → 0.88 in 6M steps, then a plateau at 0.87–0.90.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Lesson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demonstrations solve exploration; RL then optimizes what imitation cannot — the reward itself.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RL from Scratch vs BC → RL</a:t>
            </a:r>
          </a:p>
        </p:txBody>
      </p:sp>
      <p:pic>
        <p:nvPicPr>
          <p:cNvPr id="10" name="Picture 9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15175" y="1790254"/>
            <a:ext cx="2324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39275" y="1790254"/>
            <a:ext cx="942975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82250" y="1790254"/>
            <a:ext cx="1590675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15175" y="2204145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39275" y="2204145"/>
            <a:ext cx="9429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82250" y="2204145"/>
            <a:ext cx="15906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15175" y="2603748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39275" y="2603748"/>
            <a:ext cx="9429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82250" y="2603748"/>
            <a:ext cx="15906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15175" y="3003352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39275" y="3003352"/>
            <a:ext cx="9429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2250" y="3003352"/>
            <a:ext cx="15906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15175" y="3402955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39275" y="3402955"/>
            <a:ext cx="9429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82250" y="3402955"/>
            <a:ext cx="15906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15175" y="3810000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39275" y="3810000"/>
            <a:ext cx="9429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82250" y="3810000"/>
            <a:ext cx="15906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l_pa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6572250" cy="26375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Same 100 unseen tasks, same start, 300 steps, deterministic actions for every policy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10308" y="4123432"/>
            <a:ext cx="3989784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pusht_rl_eval.py → tutorial/eval_results/paired_*.csv / .json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15175" y="1495425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Scripted vs BC+PPO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39275" y="1495425"/>
            <a:ext cx="809625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6M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382250" y="1495425"/>
            <a:ext cx="1457325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12M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15175" y="1885504"/>
            <a:ext cx="2190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both succeed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39275" y="1885504"/>
            <a:ext cx="809625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74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382250" y="1885504"/>
            <a:ext cx="1457325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15175" y="2289870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only scripted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39275" y="2289870"/>
            <a:ext cx="8096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13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382250" y="2289870"/>
            <a:ext cx="14573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17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115175" y="2689473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only BC+PPO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439275" y="2689473"/>
            <a:ext cx="8096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382250" y="2689473"/>
            <a:ext cx="14573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15175" y="3089077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both fail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439275" y="3089077"/>
            <a:ext cx="8096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382250" y="3089077"/>
            <a:ext cx="14573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7115175" y="3488680"/>
                <a:ext cx="2190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McNemar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p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9" name="TextBox 38"/>
          <p:cNvSpPr txBox="1"/>
          <p:nvPr/>
        </p:nvSpPr>
        <p:spPr>
          <a:xfrm>
            <a:off x="9439275" y="3488680"/>
            <a:ext cx="809625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0.38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382250" y="3488680"/>
            <a:ext cx="1457325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0.064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15175" y="3895725"/>
            <a:ext cx="2190750" cy="48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median steps*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439275" y="3895725"/>
            <a:ext cx="828675" cy="48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136 →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107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382250" y="3895725"/>
            <a:ext cx="1457325" cy="48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139 →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104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115175" y="4528245"/>
            <a:ext cx="4857750" cy="22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81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* on seeds both solved: scripted → BC+PPO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Result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success is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statistically tied with the expert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and BC+PPO is about 3–4 s faster on the same tasks.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Paired Evaluation on Seeds 0–99</a:t>
            </a:r>
          </a:p>
        </p:txBody>
      </p:sp>
      <p:pic>
        <p:nvPicPr>
          <p:cNvPr id="48" name="Picture 47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More training made the policy faster, not more successful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907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Measured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075" y="1756321"/>
            <a:ext cx="5734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Within noise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at 82 %, one standard error is about ±4 points with 100 tasks.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2502247"/>
            <a:ext cx="5734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6M → 12M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success 82 % → 77 %, mean time 12.0 s → 11.1 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3248174"/>
                <a:ext cx="5734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Plateau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training success stayed at 0.87–0.90 with noise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σ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0.005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219075" y="3994100"/>
            <a:ext cx="571500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Best checkpoint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6M, not the newest 12M.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5792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Likely structural limits (not yet tested)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57925" y="1756321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Less information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12 inputs vs. the expert's full state and memory.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257925" y="2502247"/>
                <a:ext cx="571500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Conservative updates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clipping, small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σ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6257925" y="2941886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Reward ≠ success test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angle weighted 0.3; success needs 0.15 m </a:t>
            </a:r>
            <a:r>
              <a:rPr lang="en-US" sz="1800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and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10°.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57925" y="3687812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One step at a time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BC drops 54 % → 34 % without chunks.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Not a ceiling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RL optimizes the reward, not imitation —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align the reward with the success test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to push further.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Why BC+PPO Stops Near the Expert</a:t>
            </a:r>
          </a:p>
        </p:txBody>
      </p:sp>
      <p:pic>
        <p:nvPicPr>
          <p:cNvPr id="16" name="Picture 15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81925" y="1756321"/>
            <a:ext cx="38100" cy="27324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81925" y="2086719"/>
            <a:ext cx="38100" cy="27324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81925" y="2417118"/>
            <a:ext cx="38100" cy="27324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81925" y="2747516"/>
            <a:ext cx="38100" cy="27324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81925" y="3077914"/>
            <a:ext cx="38100" cy="27324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l_real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7239000" cy="42192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python pusht_rl_realtime.py — every panel replays the same random task live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62211" y="5705177"/>
            <a:ext cx="5152579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Seed 30: script 8.7 s · BC→RL 6.4 / 6.2 s · BC and RL-from-scratch time out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81925" y="1428750"/>
            <a:ext cx="4191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Run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96225" y="1775371"/>
            <a:ext cx="4076700" cy="2351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852"/>
              </a:lnSpc>
              <a:buNone/>
            </a:pPr>
            <a:r>
              <a:rPr lang="en-US" sz="1425" dirty="0">
                <a:solidFill>
                  <a:srgbClr val="203864"/>
                </a:solidFill>
                <a:latin typeface="Consolas"/>
                <a:ea typeface="Malgun Gothic"/>
                <a:cs typeface="Consolas"/>
              </a:rPr>
              <a:t>cd tutorial</a:t>
            </a:r>
            <a:endParaRPr lang="en-US" sz="1425" dirty="0">
              <a:solidFill>
                <a:srgbClr val="20386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96225" y="2105769"/>
            <a:ext cx="4076700" cy="2351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852"/>
              </a:lnSpc>
              <a:buNone/>
            </a:pPr>
            <a:r>
              <a:rPr lang="en-US" sz="1425" dirty="0">
                <a:solidFill>
                  <a:srgbClr val="203864"/>
                </a:solidFill>
                <a:latin typeface="Consolas"/>
                <a:ea typeface="Malgun Gothic"/>
                <a:cs typeface="Consolas"/>
              </a:rPr>
              <a:t>python pusht_rl_realtime.py</a:t>
            </a:r>
            <a:endParaRPr lang="en-US" sz="1425" dirty="0">
              <a:solidFill>
                <a:srgbClr val="20386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96225" y="2436168"/>
            <a:ext cx="4076700" cy="2351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852"/>
              </a:lnSpc>
              <a:buNone/>
            </a:pPr>
            <a:r>
              <a:rPr lang="en-US" sz="1425" dirty="0">
                <a:solidFill>
                  <a:srgbClr val="203864"/>
                </a:solidFill>
                <a:latin typeface="Consolas"/>
                <a:ea typeface="Malgun Gothic"/>
                <a:cs typeface="Consolas"/>
              </a:rPr>
              <a:t>python pusht_rl_realtime.py script</a:t>
            </a:r>
            <a:endParaRPr lang="en-US" sz="1425" dirty="0">
              <a:solidFill>
                <a:srgbClr val="20386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96225" y="2766566"/>
            <a:ext cx="4076700" cy="2351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852"/>
              </a:lnSpc>
              <a:buNone/>
            </a:pPr>
            <a:r>
              <a:rPr lang="en-US" sz="1425" dirty="0">
                <a:solidFill>
                  <a:srgbClr val="203864"/>
                </a:solidFill>
                <a:latin typeface="Consolas"/>
                <a:ea typeface="Malgun Gothic"/>
                <a:cs typeface="Consolas"/>
              </a:rPr>
              <a:t>python pusht_rl.py eval</a:t>
            </a:r>
            <a:endParaRPr lang="en-US" sz="1425" dirty="0">
              <a:solidFill>
                <a:srgbClr val="20386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96225" y="3096964"/>
            <a:ext cx="4076700" cy="2351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852"/>
              </a:lnSpc>
              <a:buNone/>
            </a:pPr>
            <a:r>
              <a:rPr lang="en-US" sz="1425" dirty="0">
                <a:solidFill>
                  <a:srgbClr val="203864"/>
                </a:solidFill>
                <a:latin typeface="Consolas"/>
                <a:ea typeface="Malgun Gothic"/>
                <a:cs typeface="Consolas"/>
              </a:rPr>
              <a:t>python pusht_rl_eval.py</a:t>
            </a:r>
            <a:endParaRPr lang="en-US" sz="1425" dirty="0">
              <a:solidFill>
                <a:srgbClr val="20386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81925" y="3484513"/>
            <a:ext cx="4191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Keys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81925" y="3812084"/>
            <a:ext cx="4191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Space pause · N next task · + / − speed · Q quit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Real-Time Demo: Five Policies, One Task</a:t>
            </a:r>
          </a:p>
        </p:txBody>
      </p:sp>
      <p:pic>
        <p:nvPicPr>
          <p:cNvPr id="20" name="Picture 19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8125" y="143827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47675" y="1438275"/>
                <a:ext cx="11525250" cy="35927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Imitation learning = supervised learning on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o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from successful demonstrations 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/>
                </a:r>
                <a:endParaRPr lang="en-US" sz="20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" name="TextBox 3"/>
          <p:cNvSpPr txBox="1"/>
          <p:nvPr/>
        </p:nvSpPr>
        <p:spPr>
          <a:xfrm>
            <a:off x="466725" y="1831925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75" y="1831925"/>
            <a:ext cx="112585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Goal frame (relative motion) and action offsets matter as much as the model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8125" y="225102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7675" y="2251025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Data: about 100 demos for Diffusion Policy; collect 100–200 human demos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8125" y="270182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47675" y="2701826"/>
                <a:ext cx="1152525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Model: MSE learns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cr m:val="double-struck"/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[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∣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o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; </a:t>
                </a:r>
                <a:r>
                  <a:rPr lang="en-US" sz="20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Diffusion learns the distribution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and handles multimodality 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/>
                </a:r>
                <a:endParaRPr lang="en-US" sz="20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0" name="TextBox 9"/>
          <p:cNvSpPr txBox="1"/>
          <p:nvPr/>
        </p:nvSpPr>
        <p:spPr>
          <a:xfrm>
            <a:off x="466725" y="3095476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4375" y="3095476"/>
            <a:ext cx="112585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Measured: Diffusion 20–68 % vs MLP-BC 9–59 % (25–360 demos)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351457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7675" y="3514576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RL from scratch: 0 % after 16M steps — the exploration problem 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/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725" y="3889177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4375" y="3889177"/>
            <a:ext cx="112585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BC → PPO: 54 % → 82 % on seeds 0–99, tied with the expert (87 %) and 3–4 s faster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Physics gives the data, imitation gives the start, RL gives the polish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Summary</a:t>
            </a:r>
          </a:p>
        </p:txBody>
      </p:sp>
      <p:pic>
        <p:nvPicPr>
          <p:cNvPr id="19" name="Picture 18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8125" y="143827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675" y="1438275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Human data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collect 50, then 100 demos — does the Diffusion vs MLP-BC gap grow?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8125" y="188907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7675" y="1889075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 goal frame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train in world coordinates — how much success is lost?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8125" y="233987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7675" y="2339876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Chunks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vary the prediction / execution horizons (1, 4, 8, 16)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8125" y="279067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7675" y="2790676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History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one observation frame — which mistakes appear without velocity?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8125" y="3241477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7675" y="3241477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DAgger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record your corrections in the viewer and retrain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3692277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7675" y="3692277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Robustness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evaluate with friction 0.2 instead of 0.4 — think domain randomization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8125" y="4143077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7675" y="4143077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RL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put the 0.15 m / 10° test into the reward — does BC+PPO pass the expert?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Exercises with the tutorial code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Try It Yourself</a:t>
            </a:r>
          </a:p>
        </p:txBody>
      </p:sp>
      <p:pic>
        <p:nvPicPr>
          <p:cNvPr id="19" name="Picture 18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2026-09-06T07:57:28Z</dcterms:created>
  <dcterms:modified xsi:type="dcterms:W3CDTF">2026-09-06T07:57:28Z</dcterms:modified>
</cp:coreProperties>
</file>